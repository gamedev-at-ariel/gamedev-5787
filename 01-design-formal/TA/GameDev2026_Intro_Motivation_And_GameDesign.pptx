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redesign_notesSlide1.xml" ContentType="application/vnd.openxmlformats-officedocument.presentationml.notesSlide+xml"/>
  <Override PartName="/ppt/notesSlides/redesign_notesSlide2.xml" ContentType="application/vnd.openxmlformats-officedocument.presentationml.notesSlide+xml"/>
  <Override PartName="/ppt/notesSlides/redesign_notesSlide3.xml" ContentType="application/vnd.openxmlformats-officedocument.presentationml.notesSlide+xml"/>
  <Override PartName="/ppt/notesSlides/redesign_notesSlide4.xml" ContentType="application/vnd.openxmlformats-officedocument.presentationml.notesSlide+xml"/>
  <Override PartName="/ppt/slides/book_slide1.xml" ContentType="application/vnd.openxmlformats-officedocument.presentationml.slide+xml"/>
  <Override PartName="/ppt/slides/book_slide2.xml" ContentType="application/vnd.openxmlformats-officedocument.presentationml.slide+xml"/>
  <Override PartName="/ppt/slides/book_slide3.xml" ContentType="application/vnd.openxmlformats-officedocument.presentationml.slide+xml"/>
  <Override PartName="/ppt/slides/book_slide4.xml" ContentType="application/vnd.openxmlformats-officedocument.presentationml.slide+xml"/>
  <Override PartName="/ppt/slides/book_slide5.xml" ContentType="application/vnd.openxmlformats-officedocument.presentationml.slide+xml"/>
  <Override PartName="/ppt/slides/book_slide6.xml" ContentType="application/vnd.openxmlformats-officedocument.presentationml.slide+xml"/>
  <Override PartName="/ppt/slides/book_slide7.xml" ContentType="application/vnd.openxmlformats-officedocument.presentationml.slide+xml"/>
  <Override PartName="/ppt/slides/book_slide8.xml" ContentType="application/vnd.openxmlformats-officedocument.presentationml.slide+xml"/>
  <Override PartName="/ppt/slides/book_slide9.xml" ContentType="application/vnd.openxmlformats-officedocument.presentationml.slide+xml"/>
  <Override PartName="/ppt/slides/book_slide10.xml" ContentType="application/vnd.openxmlformats-officedocument.presentationml.slide+xml"/>
  <Override PartName="/ppt/slides/book_slide11.xml" ContentType="application/vnd.openxmlformats-officedocument.presentationml.slide+xml"/>
  <Override PartName="/ppt/slides/book_slide12.xml" ContentType="application/vnd.openxmlformats-officedocument.presentationml.slide+xml"/>
  <Override PartName="/ppt/slides/book_slide13.xml" ContentType="application/vnd.openxmlformats-officedocument.presentationml.slide+xml"/>
  <Override PartName="/ppt/slides/book_slide14.xml" ContentType="application/vnd.openxmlformats-officedocument.presentationml.slide+xml"/>
  <Override PartName="/ppt/slides/book_slide15.xml" ContentType="application/vnd.openxmlformats-officedocument.presentationml.slide+xml"/>
  <Override PartName="/ppt/slides/book_slide16.xml" ContentType="application/vnd.openxmlformats-officedocument.presentationml.slide+xml"/>
  <Override PartName="/ppt/slides/book_slide17.xml" ContentType="application/vnd.openxmlformats-officedocument.presentationml.slide+xml"/>
  <Override PartName="/ppt/slides/book_slide18.xml" ContentType="application/vnd.openxmlformats-officedocument.presentationml.slide+xml"/>
  <Override PartName="/ppt/slides/book_slide19.xml" ContentType="application/vnd.openxmlformats-officedocument.presentationml.slide+xml"/>
  <Override PartName="/ppt/notesSlides/book_notesSlide1.xml" ContentType="application/vnd.openxmlformats-officedocument.presentationml.notesSlide+xml"/>
  <Override PartName="/ppt/notesSlides/book_notesSlide2.xml" ContentType="application/vnd.openxmlformats-officedocument.presentationml.notesSlide+xml"/>
  <Override PartName="/ppt/notesSlides/book_notesSlide3.xml" ContentType="application/vnd.openxmlformats-officedocument.presentationml.notesSlide+xml"/>
  <Override PartName="/ppt/notesSlides/book_notesSlide4.xml" ContentType="application/vnd.openxmlformats-officedocument.presentationml.notesSlide+xml"/>
  <Override PartName="/ppt/notesSlides/book_notesSlide5.xml" ContentType="application/vnd.openxmlformats-officedocument.presentationml.notesSlide+xml"/>
  <Override PartName="/ppt/notesSlides/book_notesSlide6.xml" ContentType="application/vnd.openxmlformats-officedocument.presentationml.notesSlide+xml"/>
  <Override PartName="/ppt/notesSlides/book_notesSlide7.xml" ContentType="application/vnd.openxmlformats-officedocument.presentationml.notesSlide+xml"/>
  <Override PartName="/ppt/notesSlides/book_notesSlide8.xml" ContentType="application/vnd.openxmlformats-officedocument.presentationml.notesSlide+xml"/>
  <Override PartName="/ppt/notesSlides/book_notesSlide9.xml" ContentType="application/vnd.openxmlformats-officedocument.presentationml.notesSlide+xml"/>
  <Override PartName="/ppt/notesSlides/book_notesSlide10.xml" ContentType="application/vnd.openxmlformats-officedocument.presentationml.notesSlide+xml"/>
  <Override PartName="/ppt/notesSlides/book_notesSlide11.xml" ContentType="application/vnd.openxmlformats-officedocument.presentationml.notesSlide+xml"/>
  <Override PartName="/ppt/notesSlides/book_notesSlide12.xml" ContentType="application/vnd.openxmlformats-officedocument.presentationml.notesSlide+xml"/>
  <Override PartName="/ppt/notesSlides/book_notesSlide13.xml" ContentType="application/vnd.openxmlformats-officedocument.presentationml.notesSlide+xml"/>
  <Override PartName="/ppt/notesSlides/book_notesSlide14.xml" ContentType="application/vnd.openxmlformats-officedocument.presentationml.notesSlide+xml"/>
  <Override PartName="/ppt/notesSlides/book_notesSlide15.xml" ContentType="application/vnd.openxmlformats-officedocument.presentationml.notesSlide+xml"/>
  <Override PartName="/ppt/notesSlides/book_notesSlide16.xml" ContentType="application/vnd.openxmlformats-officedocument.presentationml.notesSlide+xml"/>
  <Override PartName="/ppt/notesSlides/book_notesSlide17.xml" ContentType="application/vnd.openxmlformats-officedocument.presentationml.notesSlide+xml"/>
  <Override PartName="/ppt/notesSlides/book_notesSlide18.xml" ContentType="application/vnd.openxmlformats-officedocument.presentationml.notesSlide+xml"/>
  <Override PartName="/ppt/notesSlides/book_notesSlide19.xml" ContentType="application/vnd.openxmlformats-officedocument.presentationml.notesSlide+xml"/>
  <Override PartName="/ppt/notesSlides/hebrew_notesSlide1.xml" ContentType="application/vnd.openxmlformats-officedocument.presentationml.notesSlide+xml"/>
  <Override PartName="/ppt/notesSlides/hebrew_notesSlide2.xml" ContentType="application/vnd.openxmlformats-officedocument.presentationml.notesSlide+xml"/>
  <Override PartName="/ppt/notesSlides/hebrew_notesSlide3.xml" ContentType="application/vnd.openxmlformats-officedocument.presentationml.notesSlide+xml"/>
  <Override PartName="/ppt/notesSlides/hebrew_notesSlide4.xml" ContentType="application/vnd.openxmlformats-officedocument.presentationml.notesSlide+xml"/>
  <Override PartName="/ppt/notesSlides/hebrew_notesSlide5.xml" ContentType="application/vnd.openxmlformats-officedocument.presentationml.notesSlide+xml"/>
  <Override PartName="/ppt/notesSlides/hebrew_notesSlide6.xml" ContentType="application/vnd.openxmlformats-officedocument.presentationml.notesSlide+xml"/>
  <Override PartName="/ppt/notesSlides/hebrew_notesSlide7.xml" ContentType="application/vnd.openxmlformats-officedocument.presentationml.notesSlide+xml"/>
  <Override PartName="/ppt/notesSlides/hebrew_notesSlide8.xml" ContentType="application/vnd.openxmlformats-officedocument.presentationml.notesSlide+xml"/>
  <Override PartName="/ppt/notesSlides/hebrew_notesSlide9.xml" ContentType="application/vnd.openxmlformats-officedocument.presentationml.notesSlide+xml"/>
  <Override PartName="/ppt/notesSlides/hebrew_notesSlide34.xml" ContentType="application/vnd.openxmlformats-officedocument.presentationml.notesSlide+xml"/>
  <Override PartName="/ppt/notesSlides/hebrew_notesSlide35.xml" ContentType="application/vnd.openxmlformats-officedocument.presentationml.notesSlide+xml"/>
  <Override PartName="/ppt/notesSlides/hebrew_notesSlide3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8" r:id="rId11"/>
    <p:sldId id="269" r:id="rId12"/>
    <p:sldId id="270" r:id="rId13"/>
    <p:sldId id="271" r:id="rId14"/>
    <p:sldId id="272" r:id="rId15"/>
    <p:sldId id="273" r:id="bookSlide1"/>
    <p:sldId id="274" r:id="bookSlide2"/>
    <p:sldId id="275" r:id="bookSlide3"/>
    <p:sldId id="276" r:id="bookSlide4"/>
    <p:sldId id="277" r:id="bookSlide5"/>
    <p:sldId id="278" r:id="bookSlide6"/>
    <p:sldId id="279" r:id="bookSlide7"/>
    <p:sldId id="280" r:id="bookSlide8"/>
    <p:sldId id="281" r:id="bookSlide9"/>
    <p:sldId id="282" r:id="bookSlide10"/>
    <p:sldId id="283" r:id="bookSlide11"/>
    <p:sldId id="284" r:id="bookSlide12"/>
    <p:sldId id="285" r:id="bookSlide13"/>
    <p:sldId id="286" r:id="bookSlide14"/>
    <p:sldId id="287" r:id="bookSlide15"/>
    <p:sldId id="288" r:id="bookSlide16"/>
    <p:sldId id="289" r:id="bookSlide17"/>
    <p:sldId id="290" r:id="bookSlide18"/>
    <p:sldId id="291" r:id="bookSlide19"/>
    <p:sldId id="265" r:id="rId16"/>
    <p:sldId id="266" r:id="rId17"/>
    <p:sldId id="267" r:id="rId18"/>
  </p:sldIdLst>
  <p:sldSz cx="18288000" cy="10287000"/>
  <p:notesSz cx="6858000" cy="9144000"/>
  <p:embeddedFontLst>
    <p:embeddedFont>
      <p:font typeface="Open Sans" panose="020B0606030504020204" pitchFamily="34" charset="0"/>
      <p:regular r:id="rId20"/>
    </p:embeddedFont>
    <p:embeddedFont>
      <p:font typeface="Open Sans Bold" panose="020B0604020202020204" charset="0"/>
      <p:regular r:id="rId21"/>
    </p:embeddedFont>
    <p:embeddedFont>
      <p:font typeface="Press Start 2P"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53987" autoAdjust="0"/>
  </p:normalViewPr>
  <p:slideViewPr>
    <p:cSldViewPr>
      <p:cViewPr varScale="1">
        <p:scale>
          <a:sx n="30" d="100"/>
          <a:sy n="30" d="100"/>
        </p:scale>
        <p:origin x="2098" y="1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bookSlide1" Type="http://schemas.openxmlformats.org/officeDocument/2006/relationships/slide" Target="slides/book_slide1.xml"/><Relationship Id="bookSlide2" Type="http://schemas.openxmlformats.org/officeDocument/2006/relationships/slide" Target="slides/book_slide2.xml"/><Relationship Id="bookSlide3" Type="http://schemas.openxmlformats.org/officeDocument/2006/relationships/slide" Target="slides/book_slide3.xml"/><Relationship Id="bookSlide4" Type="http://schemas.openxmlformats.org/officeDocument/2006/relationships/slide" Target="slides/book_slide4.xml"/><Relationship Id="bookSlide5" Type="http://schemas.openxmlformats.org/officeDocument/2006/relationships/slide" Target="slides/book_slide5.xml"/><Relationship Id="bookSlide6" Type="http://schemas.openxmlformats.org/officeDocument/2006/relationships/slide" Target="slides/book_slide6.xml"/><Relationship Id="bookSlide7" Type="http://schemas.openxmlformats.org/officeDocument/2006/relationships/slide" Target="slides/book_slide7.xml"/><Relationship Id="bookSlide8" Type="http://schemas.openxmlformats.org/officeDocument/2006/relationships/slide" Target="slides/book_slide8.xml"/><Relationship Id="bookSlide9" Type="http://schemas.openxmlformats.org/officeDocument/2006/relationships/slide" Target="slides/book_slide9.xml"/><Relationship Id="bookSlide10" Type="http://schemas.openxmlformats.org/officeDocument/2006/relationships/slide" Target="slides/book_slide10.xml"/><Relationship Id="bookSlide11" Type="http://schemas.openxmlformats.org/officeDocument/2006/relationships/slide" Target="slides/book_slide11.xml"/><Relationship Id="bookSlide12" Type="http://schemas.openxmlformats.org/officeDocument/2006/relationships/slide" Target="slides/book_slide12.xml"/><Relationship Id="bookSlide13" Type="http://schemas.openxmlformats.org/officeDocument/2006/relationships/slide" Target="slides/book_slide13.xml"/><Relationship Id="bookSlide14" Type="http://schemas.openxmlformats.org/officeDocument/2006/relationships/slide" Target="slides/book_slide14.xml"/><Relationship Id="bookSlide15" Type="http://schemas.openxmlformats.org/officeDocument/2006/relationships/slide" Target="slides/book_slide15.xml"/><Relationship Id="bookSlide16" Type="http://schemas.openxmlformats.org/officeDocument/2006/relationships/slide" Target="slides/book_slide16.xml"/><Relationship Id="bookSlide17" Type="http://schemas.openxmlformats.org/officeDocument/2006/relationships/slide" Target="slides/book_slide17.xml"/><Relationship Id="bookSlide18" Type="http://schemas.openxmlformats.org/officeDocument/2006/relationships/slide" Target="slides/book_slide18.xml"/><Relationship Id="bookSlide19" Type="http://schemas.openxmlformats.org/officeDocument/2006/relationships/slide" Target="slides/book_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book_notesSlide1.xml.rels><?xml version='1.0' encoding='UTF-8' standalone='yes'?>
<Relationships xmlns="http://schemas.openxmlformats.org/package/2006/relationships"><Relationship Id="rId2" Type="http://schemas.openxmlformats.org/officeDocument/2006/relationships/slide" Target="../slides/book_slide1.xml"/><Relationship Id="rId1" Type="http://schemas.openxmlformats.org/officeDocument/2006/relationships/notesMaster" Target="../notesMasters/notesMaster1.xml"/><Relationship Id="hebrewSource1" Type="http://schemas.openxmlformats.org/officeDocument/2006/relationships/hyperlink" Target="file:///F:/kushn/Desktop/don%27t-make-me-think--revisited.pdf" TargetMode="External"/></Relationships>
</file>

<file path=ppt/notesSlides/_rels/book_notesSlide2.xml.rels><?xml version='1.0' encoding='UTF-8' standalone='yes'?>
<Relationships xmlns="http://schemas.openxmlformats.org/package/2006/relationships"><Relationship Id="rId2" Type="http://schemas.openxmlformats.org/officeDocument/2006/relationships/slide" Target="../slides/book_slide2.xml"/><Relationship Id="rId1" Type="http://schemas.openxmlformats.org/officeDocument/2006/relationships/notesMaster" Target="../notesMasters/notesMaster1.xml"/><Relationship Id="hebrewSource1" Type="http://schemas.openxmlformats.org/officeDocument/2006/relationships/hyperlink" Target="file:///F:/kushn/Desktop/don%27t-make-me-think--revisited.pdf" TargetMode="External"/></Relationships>
</file>

<file path=ppt/notesSlides/_rels/book_notesSlide3.xml.rels><?xml version='1.0' encoding='UTF-8' standalone='yes'?>
<Relationships xmlns="http://schemas.openxmlformats.org/package/2006/relationships"><Relationship Id="rId2" Type="http://schemas.openxmlformats.org/officeDocument/2006/relationships/slide" Target="../slides/book_slide3.xml"/><Relationship Id="rId1" Type="http://schemas.openxmlformats.org/officeDocument/2006/relationships/notesMaster" Target="../notesMasters/notesMaster1.xml"/><Relationship Id="hebrewSource1" Type="http://schemas.openxmlformats.org/officeDocument/2006/relationships/hyperlink" Target="file:///F:/kushn/Desktop/don%27t-make-me-think--revisited.pdf" TargetMode="External"/><Relationship Id="hebrewSource2" Type="http://schemas.openxmlformats.org/officeDocument/2006/relationships/hyperlink" Target="https://sensible.com/downloads/test-script-web.pdf" TargetMode="External"/></Relationships>
</file>

<file path=ppt/notesSlides/_rels/book_notesSlide4.xml.rels><?xml version='1.0' encoding='UTF-8' standalone='yes'?>
<Relationships xmlns="http://schemas.openxmlformats.org/package/2006/relationships"><Relationship Id="rId2" Type="http://schemas.openxmlformats.org/officeDocument/2006/relationships/slide" Target="../slides/book_slide4.xml"/><Relationship Id="rId1" Type="http://schemas.openxmlformats.org/officeDocument/2006/relationships/notesMaster" Target="../notesMasters/notesMaster1.xml"/><Relationship Id="hebrewSource1" Type="http://schemas.openxmlformats.org/officeDocument/2006/relationships/hyperlink" Target="file:///F:/kushn/Desktop/9780136746911_Sample.pdf" TargetMode="External"/></Relationships>
</file>

<file path=ppt/notesSlides/_rels/book_notesSlide5.xml.rels><?xml version='1.0' encoding='UTF-8' standalone='yes'?>
<Relationships xmlns="http://schemas.openxmlformats.org/package/2006/relationships"><Relationship Id="rId2" Type="http://schemas.openxmlformats.org/officeDocument/2006/relationships/slide" Target="../slides/book_slide5.xml"/><Relationship Id="rId1" Type="http://schemas.openxmlformats.org/officeDocument/2006/relationships/notesMaster" Target="../notesMasters/notesMaster1.xml"/><Relationship Id="hebrewSource1" Type="http://schemas.openxmlformats.org/officeDocument/2006/relationships/hyperlink" Target="file:///F:/kushn/Desktop/9780136746911_Sample.pdf" TargetMode="External"/></Relationships>
</file>

<file path=ppt/notesSlides/_rels/book_notesSlide6.xml.rels><?xml version='1.0' encoding='UTF-8' standalone='yes'?>
<Relationships xmlns="http://schemas.openxmlformats.org/package/2006/relationships"><Relationship Id="rId2" Type="http://schemas.openxmlformats.org/officeDocument/2006/relationships/slide" Target="../slides/book_slide6.xml"/><Relationship Id="rId1" Type="http://schemas.openxmlformats.org/officeDocument/2006/relationships/notesMaster" Target="../notesMasters/notesMaster1.xml"/><Relationship Id="hebrewSource1" Type="http://schemas.openxmlformats.org/officeDocument/2006/relationships/hyperlink" Target="file:///F:/kushn/Desktop/9780136746911_Sample.pdf" TargetMode="External"/></Relationships>
</file>

<file path=ppt/notesSlides/_rels/book_notesSlide7.xml.rels><?xml version='1.0' encoding='UTF-8' standalone='yes'?>
<Relationships xmlns="http://schemas.openxmlformats.org/package/2006/relationships"><Relationship Id="rId2" Type="http://schemas.openxmlformats.org/officeDocument/2006/relationships/slide" Target="../slides/book_slide7.xml"/><Relationship Id="rId1" Type="http://schemas.openxmlformats.org/officeDocument/2006/relationships/notesMaster" Target="../notesMasters/notesMaster1.xml"/><Relationship Id="hebrewSource1" Type="http://schemas.openxmlformats.org/officeDocument/2006/relationships/hyperlink" Target="file:///F:/kushn/Desktop/Hooked-How-to-Build-Habit-Forming-Products-_Nir-Eyal_.pdf" TargetMode="External"/></Relationships>
</file>

<file path=ppt/notesSlides/_rels/book_notesSlide8.xml.rels><?xml version='1.0' encoding='UTF-8' standalone='yes'?>
<Relationships xmlns="http://schemas.openxmlformats.org/package/2006/relationships"><Relationship Id="rId2" Type="http://schemas.openxmlformats.org/officeDocument/2006/relationships/slide" Target="../slides/book_slide8.xml"/><Relationship Id="rId1" Type="http://schemas.openxmlformats.org/officeDocument/2006/relationships/notesMaster" Target="../notesMasters/notesMaster1.xml"/><Relationship Id="hebrewSource1" Type="http://schemas.openxmlformats.org/officeDocument/2006/relationships/hyperlink" Target="file:///F:/kushn/Desktop/Hooked-How-to-Build-Habit-Forming-Products-_Nir-Eyal_.pdf" TargetMode="External"/><Relationship Id="hebrewSource2" Type="http://schemas.openxmlformats.org/officeDocument/2006/relationships/hyperlink" Target="https://www.ea.com/games/it-takes-two/it-takes-two" TargetMode="External"/><Relationship Id="hebrewSource3" Type="http://schemas.openxmlformats.org/officeDocument/2006/relationships/hyperlink" Target="https://finji.co/games/tunic/" TargetMode="External"/><Relationship Id="hebrewSource4" Type="http://schemas.openxmlformats.org/officeDocument/2006/relationships/hyperlink" Target="https://www.celestegame.com/" TargetMode="External"/></Relationships>
</file>

<file path=ppt/notesSlides/_rels/book_notesSlide9.xml.rels><?xml version='1.0' encoding='UTF-8' standalone='yes'?>
<Relationships xmlns="http://schemas.openxmlformats.org/package/2006/relationships"><Relationship Id="rId2" Type="http://schemas.openxmlformats.org/officeDocument/2006/relationships/slide" Target="../slides/book_slide9.xml"/><Relationship Id="rId1" Type="http://schemas.openxmlformats.org/officeDocument/2006/relationships/notesMaster" Target="../notesMasters/notesMaster1.xml"/><Relationship Id="hebrewSource1" Type="http://schemas.openxmlformats.org/officeDocument/2006/relationships/hyperlink" Target="file:///F:/kushn/Desktop/Hooked-How-to-Build-Habit-Forming-Products-_Nir-Eyal_.pdf" TargetMode="External"/></Relationships>
</file>

<file path=ppt/notesSlides/_rels/book_notesSlide10.xml.rels><?xml version='1.0' encoding='UTF-8' standalone='yes'?>
<Relationships xmlns="http://schemas.openxmlformats.org/package/2006/relationships"><Relationship Id="rId2" Type="http://schemas.openxmlformats.org/officeDocument/2006/relationships/slide" Target="../slides/book_slide10.xml"/><Relationship Id="rId1" Type="http://schemas.openxmlformats.org/officeDocument/2006/relationships/notesMaster" Target="../notesMasters/notesMaster1.xml"/><Relationship Id="hebrewSource1" Type="http://schemas.openxmlformats.org/officeDocument/2006/relationships/hyperlink" Target="https://www.youtube.com/watch?v=OdVkEOzdCPw" TargetMode="External"/><Relationship Id="hebrewSource2" Type="http://schemas.openxmlformats.org/officeDocument/2006/relationships/hyperlink" Target="https://www.youtube.com/watch?v=UjW_TTNtXEM" TargetMode="External"/><Relationship Id="hebrewSource3" Type="http://schemas.openxmlformats.org/officeDocument/2006/relationships/hyperlink" Target="https://www.youtube.com/watch?v=noKsDZ-UPq8" TargetMode="External"/></Relationships>
</file>

<file path=ppt/notesSlides/_rels/book_notesSlide11.xml.rels><?xml version='1.0' encoding='UTF-8' standalone='yes'?>
<Relationships xmlns="http://schemas.openxmlformats.org/package/2006/relationships"><Relationship Id="rId2" Type="http://schemas.openxmlformats.org/officeDocument/2006/relationships/slide" Target="../slides/book_slide11.xml"/><Relationship Id="rId1" Type="http://schemas.openxmlformats.org/officeDocument/2006/relationships/notesMaster" Target="../notesMasters/notesMaster1.xml"/><Relationship Id="hebrewSource1" Type="http://schemas.openxmlformats.org/officeDocument/2006/relationships/hyperlink" Target="https://www.celestegame.com/" TargetMode="External"/><Relationship Id="hebrewSource2" Type="http://schemas.openxmlformats.org/officeDocument/2006/relationships/hyperlink" Target="file:///F:/kushn/Desktop/9780136746911_Sample.pdf" TargetMode="External"/></Relationships>
</file>

<file path=ppt/notesSlides/_rels/book_notesSlide12.xml.rels><?xml version='1.0' encoding='UTF-8' standalone='yes'?>
<Relationships xmlns="http://schemas.openxmlformats.org/package/2006/relationships"><Relationship Id="rId2" Type="http://schemas.openxmlformats.org/officeDocument/2006/relationships/slide" Target="../slides/book_slide12.xml"/><Relationship Id="rId1" Type="http://schemas.openxmlformats.org/officeDocument/2006/relationships/notesMaster" Target="../notesMasters/notesMaster1.xml"/><Relationship Id="hebrewSource1" Type="http://schemas.openxmlformats.org/officeDocument/2006/relationships/hyperlink" Target="https://finji.co/games/tunic/" TargetMode="External"/><Relationship Id="hebrewSource2" Type="http://schemas.openxmlformats.org/officeDocument/2006/relationships/hyperlink" Target="file:///F:/kushn/Desktop/9780136746911_Sample.pdf" TargetMode="External"/></Relationships>
</file>

<file path=ppt/notesSlides/_rels/book_notesSlide13.xml.rels><?xml version='1.0' encoding='UTF-8' standalone='yes'?>
<Relationships xmlns="http://schemas.openxmlformats.org/package/2006/relationships"><Relationship Id="rId2" Type="http://schemas.openxmlformats.org/officeDocument/2006/relationships/slide" Target="../slides/book_slide13.xml"/><Relationship Id="rId1" Type="http://schemas.openxmlformats.org/officeDocument/2006/relationships/notesMaster" Target="../notesMasters/notesMaster1.xml"/><Relationship Id="hebrewSource1" Type="http://schemas.openxmlformats.org/officeDocument/2006/relationships/hyperlink" Target="file:///F:/kushn/Desktop/don%27t-make-me-think--revisited.pdf" TargetMode="External"/></Relationships>
</file>

<file path=ppt/notesSlides/_rels/book_notesSlide14.xml.rels><?xml version='1.0' encoding='UTF-8' standalone='yes'?>
<Relationships xmlns="http://schemas.openxmlformats.org/package/2006/relationships"><Relationship Id="rId2" Type="http://schemas.openxmlformats.org/officeDocument/2006/relationships/slide" Target="../slides/book_slide14.xml"/><Relationship Id="rId1" Type="http://schemas.openxmlformats.org/officeDocument/2006/relationships/notesMaster" Target="../notesMasters/notesMaster1.xml"/><Relationship Id="hebrewSource1" Type="http://schemas.openxmlformats.org/officeDocument/2006/relationships/hyperlink" Target="https://store.steampowered.com/app/367520/Hollow_Knight/" TargetMode="External"/><Relationship Id="hebrewSource2" Type="http://schemas.openxmlformats.org/officeDocument/2006/relationships/hyperlink" Target="file:///F:/kushn/Desktop/9780136746911_Sample.pdf" TargetMode="External"/></Relationships>
</file>

<file path=ppt/notesSlides/_rels/book_notesSlide15.xml.rels><?xml version='1.0' encoding='UTF-8' standalone='yes'?>
<Relationships xmlns="http://schemas.openxmlformats.org/package/2006/relationships"><Relationship Id="rId2" Type="http://schemas.openxmlformats.org/officeDocument/2006/relationships/slide" Target="../slides/book_slide15.xml"/><Relationship Id="rId1" Type="http://schemas.openxmlformats.org/officeDocument/2006/relationships/notesMaster" Target="../notesMasters/notesMaster1.xml"/><Relationship Id="hebrewSource1" Type="http://schemas.openxmlformats.org/officeDocument/2006/relationships/hyperlink" Target="https://www.ea.com/games/it-takes-two/it-takes-two" TargetMode="External"/><Relationship Id="hebrewSource2" Type="http://schemas.openxmlformats.org/officeDocument/2006/relationships/hyperlink" Target="file:///F:/kushn/Desktop/Hooked-How-to-Build-Habit-Forming-Products-_Nir-Eyal_.pdf" TargetMode="External"/></Relationships>
</file>

<file path=ppt/notesSlides/_rels/book_notesSlide16.xml.rels><?xml version='1.0' encoding='UTF-8' standalone='yes'?>
<Relationships xmlns="http://schemas.openxmlformats.org/package/2006/relationships"><Relationship Id="rId2" Type="http://schemas.openxmlformats.org/officeDocument/2006/relationships/slide" Target="../slides/book_slide16.xml"/><Relationship Id="rId1" Type="http://schemas.openxmlformats.org/officeDocument/2006/relationships/notesMaster" Target="../notesMasters/notesMaster1.xml"/><Relationship Id="hebrewSource1" Type="http://schemas.openxmlformats.org/officeDocument/2006/relationships/hyperlink" Target="https://finji.co/games/tunic/" TargetMode="External"/><Relationship Id="hebrewSource2" Type="http://schemas.openxmlformats.org/officeDocument/2006/relationships/hyperlink" Target="file:///F:/kushn/Desktop/don%27t-make-me-think--revisited.pdf" TargetMode="External"/><Relationship Id="hebrewSource3" Type="http://schemas.openxmlformats.org/officeDocument/2006/relationships/hyperlink" Target="file:///F:/kushn/Desktop/Hooked-How-to-Build-Habit-Forming-Products-_Nir-Eyal_.pdf" TargetMode="External"/></Relationships>
</file>

<file path=ppt/notesSlides/_rels/book_notesSlide17.xml.rels><?xml version='1.0' encoding='UTF-8' standalone='yes'?>
<Relationships xmlns="http://schemas.openxmlformats.org/package/2006/relationships"><Relationship Id="rId2" Type="http://schemas.openxmlformats.org/officeDocument/2006/relationships/slide" Target="../slides/book_slide17.xml"/><Relationship Id="rId1" Type="http://schemas.openxmlformats.org/officeDocument/2006/relationships/notesMaster" Target="../notesMasters/notesMaster1.xml"/><Relationship Id="hebrewSource1" Type="http://schemas.openxmlformats.org/officeDocument/2006/relationships/hyperlink" Target="https://store.steampowered.com/app/646570/Slay_the_Spire/" TargetMode="External"/></Relationships>
</file>

<file path=ppt/notesSlides/_rels/book_notesSlide18.xml.rels><?xml version='1.0' encoding='UTF-8' standalone='yes'?>
<Relationships xmlns="http://schemas.openxmlformats.org/package/2006/relationships"><Relationship Id="rId2" Type="http://schemas.openxmlformats.org/officeDocument/2006/relationships/slide" Target="../slides/book_slide18.xml"/><Relationship Id="rId1" Type="http://schemas.openxmlformats.org/officeDocument/2006/relationships/notesMaster" Target="../notesMasters/notesMaster1.xml"/><Relationship Id="hebrewSource1" Type="http://schemas.openxmlformats.org/officeDocument/2006/relationships/hyperlink" Target="https://finji.co/games/tunic/" TargetMode="External"/><Relationship Id="hebrewSource2" Type="http://schemas.openxmlformats.org/officeDocument/2006/relationships/hyperlink" Target="file:///F:/kushn/Desktop/don%27t-make-me-think--revisited.pdf" TargetMode="External"/></Relationships>
</file>

<file path=ppt/notesSlides/_rels/book_notesSlide19.xml.rels><?xml version='1.0' encoding='UTF-8' standalone='yes'?>
<Relationships xmlns="http://schemas.openxmlformats.org/package/2006/relationships"><Relationship Id="rId2" Type="http://schemas.openxmlformats.org/officeDocument/2006/relationships/slide" Target="../slides/book_slide19.xml"/><Relationship Id="rId1" Type="http://schemas.openxmlformats.org/officeDocument/2006/relationships/notesMaster" Target="../notesMasters/notesMaster1.xml"/><Relationship Id="hebrewSource1" Type="http://schemas.openxmlformats.org/officeDocument/2006/relationships/hyperlink" Target="file:///F:/kushn/Desktop/Hooked-How-to-Build-Habit-Forming-Products-_Nir-Eyal_.pdf" TargetMode="External"/></Relationships>
</file>

<file path=ppt/notesSlides/_rels/hebrew_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hebrew_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hebrew_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hebrew_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hebrew_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hebrew_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hebrew_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hebrew_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hebrew_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hebrew_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hebrew_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hebrew_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 Id="hebrewSource1" Type="http://schemas.openxmlformats.org/officeDocument/2006/relationships/hyperlink" Target="https://www.linkedin.com/company/tlvsparks/" TargetMode="External"/><Relationship Id="hebrewSource2" Type="http://schemas.openxmlformats.org/officeDocument/2006/relationships/hyperlink" Target="https://gamedevariel2026.netlify.app/projects/"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redesign_notesSlide1.xml.rels><?xml version='1.0' encoding='UTF-8' standalone='yes'?>
<Relationships xmlns="http://schemas.openxmlformats.org/package/2006/relationships"><Relationship Type="http://schemas.openxmlformats.org/officeDocument/2006/relationships/slide" Target="../slides/slide11.xml" Id="Rf9e8896223e34db0"/><Relationship Type="http://schemas.openxmlformats.org/officeDocument/2006/relationships/notesMaster" Target="../notesMasters/notesMaster1.xml" Id="R2edc4e1b878e49cb"/><Relationship Id="hebrewSource1" Type="http://schemas.openxmlformats.org/officeDocument/2006/relationships/hyperlink" Target="https://x.com/dukope/status/1688957789639778304" TargetMode="External"/><Relationship Id="hebrewSource2" Type="http://schemas.openxmlformats.org/officeDocument/2006/relationships/hyperlink" Target="https://www.playstack.com/news/balatro-5-million-copies-sold/" TargetMode="External"/></Relationships>
</file>

<file path=ppt/notesSlides/_rels/redesign_notesSlide2.xml.rels><?xml version='1.0' encoding='UTF-8' standalone='yes'?>
<Relationships xmlns="http://schemas.openxmlformats.org/package/2006/relationships"><Relationship Type="http://schemas.openxmlformats.org/officeDocument/2006/relationships/slide" Target="../slides/slide12.xml" Id="R93e8716ec0024b83"/><Relationship Type="http://schemas.openxmlformats.org/officeDocument/2006/relationships/notesMaster" Target="../notesMasters/notesMaster1.xml" Id="R9949c7136ca64457"/><Relationship Id="hebrewSource1" Type="http://schemas.openxmlformats.org/officeDocument/2006/relationships/hyperlink" Target="https://support.google.com/googleplay/android-developer/answer/112622?hl=en" TargetMode="External"/><Relationship Id="hebrewSource2" Type="http://schemas.openxmlformats.org/officeDocument/2006/relationships/hyperlink" Target="https://partner.steamgames.com/doc/finance/payments_salesreporting" TargetMode="External"/></Relationships>
</file>

<file path=ppt/notesSlides/_rels/redesign_notesSlide3.xml.rels><?xml version='1.0' encoding='UTF-8' standalone='yes'?>
<Relationships xmlns="http://schemas.openxmlformats.org/package/2006/relationships"><Relationship Type="http://schemas.openxmlformats.org/officeDocument/2006/relationships/slide" Target="../slides/slide13.xml" Id="R8ef926a8d70f4145"/><Relationship Type="http://schemas.openxmlformats.org/officeDocument/2006/relationships/notesMaster" Target="../notesMasters/notesMaster1.xml" Id="R6dc4a72518f9488d"/><Relationship Id="hebrewSource1" Type="http://schemas.openxmlformats.org/officeDocument/2006/relationships/hyperlink" Target="https://play.google.com/store/apps/details?id=com.poncle.vampiresurvivors&amp;hl=en" TargetMode="External"/><Relationship Id="hebrewSource2" Type="http://schemas.openxmlformats.org/officeDocument/2006/relationships/hyperlink" Target="https://support.google.com/admob/table/16327896?hl=en-GB" TargetMode="External"/></Relationships>
</file>

<file path=ppt/notesSlides/_rels/redesign_notesSlide4.xml.rels><?xml version='1.0' encoding='UTF-8' standalone='yes'?>
<Relationships xmlns="http://schemas.openxmlformats.org/package/2006/relationships"><Relationship Type="http://schemas.openxmlformats.org/officeDocument/2006/relationships/slide" Target="../slides/slide14.xml" Id="Radb41b7091ec4423"/><Relationship Type="http://schemas.openxmlformats.org/officeDocument/2006/relationships/notesMaster" Target="../notesMasters/notesMaster1.xml" Id="Re7a977181d1e4f6d"/><Relationship Id="hebrewSource1" Type="http://schemas.openxmlformats.org/officeDocument/2006/relationships/hyperlink" Target="https://localthunk.com/blog/balatro-timeline-3aarh" TargetMode="External"/><Relationship Id="hebrewSource2" Type="http://schemas.openxmlformats.org/officeDocument/2006/relationships/hyperlink" Target="https://rawfury.com/developer-resources/" TargetMode="External"/></Relationships>
</file>

<file path=ppt/notesSlides/book_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בספר ״אל תגרום לי לחשוב״, סטיב קרוג מדגיש בהירות בממשק.</a:t>
            </a:r>
          </a:p>
          <a:p>
            <a:pPr algn="r" rtl="1" marL="0" marR="0" indent="0">
              <a:lnSpc>
                <a:spcPct val="110000"/>
              </a:lnSpc>
              <a:spcAft>
                <a:spcPts val="200"/>
              </a:spcAft>
              <a:buNone/>
            </a:pPr>
            <a:r>
              <a:rPr lang="he-IL" sz="1800" b="0">
                <a:solidFill>
                  <a:srgbClr val="000000"/>
                </a:solidFill>
                <a:latin typeface="Arial"/>
                <a:ea typeface="Arial"/>
                <a:cs typeface="Arial"/>
              </a:rPr>
              <a:t>גם כשבינה מלאכותית כותבת קוד, אנחנו אחראים למה שהשחקן מבין.</a:t>
            </a:r>
          </a:p>
          <a:p>
            <a:pPr algn="r" rtl="1" marL="0" marR="0" indent="0">
              <a:lnSpc>
                <a:spcPct val="110000"/>
              </a:lnSpc>
              <a:spcAft>
                <a:spcPts val="200"/>
              </a:spcAft>
              <a:buNone/>
            </a:pPr>
            <a:r>
              <a:rPr lang="he-IL" sz="1800" b="0">
                <a:solidFill>
                  <a:srgbClr val="000000"/>
                </a:solidFill>
                <a:latin typeface="Arial"/>
                <a:ea typeface="Arial"/>
                <a:cs typeface="Arial"/>
              </a:rPr>
              <a:t>כאן כתוב Restart: האם מתאפס החדר, או כל המשחק?</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כעת כתוב Restart room, ולכן ברור שרק החדר מתאפס.</a:t>
            </a:r>
          </a:p>
          <a:p>
            <a:pPr algn="r" rtl="1" marL="0" marR="0" indent="0">
              <a:lnSpc>
                <a:spcPct val="110000"/>
              </a:lnSpc>
              <a:spcAft>
                <a:spcPts val="200"/>
              </a:spcAft>
              <a:buNone/>
            </a:pPr>
            <a:r>
              <a:rPr lang="he-IL" sz="1800" b="0">
                <a:solidFill>
                  <a:srgbClr val="000000"/>
                </a:solidFill>
                <a:latin typeface="Arial"/>
                <a:ea typeface="Arial"/>
                <a:cs typeface="Arial"/>
              </a:rPr>
              <a:t>האתגר יכול להיות קשה.</a:t>
            </a:r>
          </a:p>
          <a:p>
            <a:pPr algn="r" rtl="1" marL="0" marR="0" indent="0">
              <a:lnSpc>
                <a:spcPct val="110000"/>
              </a:lnSpc>
              <a:spcAft>
                <a:spcPts val="200"/>
              </a:spcAft>
              <a:buNone/>
            </a:pPr>
            <a:r>
              <a:rPr lang="he-IL" sz="1800" b="0">
                <a:solidFill>
                  <a:srgbClr val="000000"/>
                </a:solidFill>
                <a:latin typeface="Arial"/>
                <a:ea typeface="Arial"/>
                <a:cs typeface="Arial"/>
              </a:rPr>
              <a:t>הפעולה שהכפתור מפעיל צריכה להיות ברורה.</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קרוג: תקציר Bookey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בשני הצדדים: מקש רווח מפעיל דאש, תנועה מהירה קדימה.</a:t>
            </a:r>
          </a:p>
          <a:p>
            <a:pPr algn="r" rtl="1" marL="0" marR="0" indent="0">
              <a:lnSpc>
                <a:spcPct val="110000"/>
              </a:lnSpc>
              <a:spcAft>
                <a:spcPts val="200"/>
              </a:spcAft>
              <a:buNone/>
            </a:pPr>
            <a:r>
              <a:rPr lang="he-IL" sz="1800" b="0">
                <a:solidFill>
                  <a:srgbClr val="000000"/>
                </a:solidFill>
                <a:latin typeface="Arial"/>
                <a:ea typeface="Arial"/>
                <a:cs typeface="Arial"/>
              </a:rPr>
              <a:t>לפני המשחק צריך לזכור אותה. ליד התהום אפשר מיד להשתמש בה.</a:t>
            </a:r>
          </a:p>
          <a:p>
            <a:pPr algn="r" rtl="1" marL="0" marR="0" indent="0">
              <a:lnSpc>
                <a:spcPct val="110000"/>
              </a:lnSpc>
              <a:spcAft>
                <a:spcPts val="200"/>
              </a:spcAft>
              <a:buNone/>
            </a:pPr>
            <a:r>
              <a:rPr lang="he-IL" sz="1800" b="0">
                <a:solidFill>
                  <a:srgbClr val="000000"/>
                </a:solidFill>
                <a:latin typeface="Arial"/>
                <a:ea typeface="Arial"/>
                <a:cs typeface="Arial"/>
              </a:rPr>
              <a:t>נציג עזרה קצרה ברגע שבו היא רלוונטית לפעולה.</a:t>
            </a:r>
          </a:p>
          <a:p>
            <a:pPr algn="r" rtl="1" marL="0" marR="0" indent="0">
              <a:lnSpc>
                <a:spcPct val="110000"/>
              </a:lnSpc>
              <a:spcAft>
                <a:spcPts val="200"/>
              </a:spcAft>
              <a:buNone/>
            </a:pPr>
            <a:r>
              <a:rPr lang="he-IL" sz="1800" b="0">
                <a:solidFill>
                  <a:srgbClr val="000000"/>
                </a:solidFill>
                <a:latin typeface="Arial"/>
                <a:ea typeface="Arial"/>
                <a:cs typeface="Arial"/>
              </a:rPr>
              <a:t>את רשימת המקשים נשאיר זמינה גם בתפריט העזרה.</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קרוג: תקציר Bookey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השחקן עצר ליד הדלת. זאת תצפית.</a:t>
            </a:r>
          </a:p>
          <a:p>
            <a:pPr algn="r" rtl="1" marL="0" marR="0" indent="0">
              <a:lnSpc>
                <a:spcPct val="110000"/>
              </a:lnSpc>
              <a:spcAft>
                <a:spcPts val="200"/>
              </a:spcAft>
              <a:buNone/>
            </a:pPr>
            <a:r>
              <a:rPr lang="he-IL" sz="1800" b="0">
                <a:solidFill>
                  <a:srgbClr val="000000"/>
                </a:solidFill>
                <a:latin typeface="Arial"/>
                <a:ea typeface="Arial"/>
                <a:cs typeface="Arial"/>
              </a:rPr>
              <a:t>אולי הוא לא הבין שאפשר לפתוח אותה. זאת השערה.</a:t>
            </a:r>
          </a:p>
          <a:p>
            <a:pPr algn="r" rtl="1" marL="0" marR="0" indent="0">
              <a:lnSpc>
                <a:spcPct val="110000"/>
              </a:lnSpc>
              <a:spcAft>
                <a:spcPts val="200"/>
              </a:spcAft>
              <a:buNone/>
            </a:pPr>
            <a:r>
              <a:rPr lang="he-IL" sz="1800" b="0">
                <a:solidFill>
                  <a:srgbClr val="000000"/>
                </a:solidFill>
                <a:latin typeface="Arial"/>
                <a:ea typeface="Arial"/>
                <a:cs typeface="Arial"/>
              </a:rPr>
              <a:t>נשנה רמז אחד ונראה שחקן חדש מנסה, בלי להוביל אותו לתשובה.</a:t>
            </a:r>
          </a:p>
          <a:p>
            <a:pPr algn="r" rtl="1" marL="0" marR="0" indent="0">
              <a:lnSpc>
                <a:spcPct val="110000"/>
              </a:lnSpc>
              <a:spcAft>
                <a:spcPts val="200"/>
              </a:spcAft>
              <a:buNone/>
            </a:pPr>
            <a:r>
              <a:rPr lang="he-IL" sz="1800" b="0">
                <a:solidFill>
                  <a:srgbClr val="000000"/>
                </a:solidFill>
                <a:latin typeface="Arial"/>
                <a:ea typeface="Arial"/>
                <a:cs typeface="Arial"/>
              </a:rPr>
              <a:t>גם תיקון שהציעה בינה מלאכותית צריך לבדוק עם שחקן.</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קרוג: תקציר Bookey</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2"/>
              </a:rPr>
              <a:t>תסריט בדיקה של קרוג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סוזן ויינשנק מסבירה בספרה איך אנשים מבחינים במידע ומפרשים אותו.</a:t>
            </a:r>
          </a:p>
          <a:p>
            <a:pPr algn="r" rtl="1" marL="0" marR="0" indent="0">
              <a:lnSpc>
                <a:spcPct val="110000"/>
              </a:lnSpc>
              <a:spcAft>
                <a:spcPts val="200"/>
              </a:spcAft>
              <a:buNone/>
            </a:pPr>
            <a:r>
              <a:rPr lang="he-IL" sz="1800" b="0">
                <a:solidFill>
                  <a:srgbClr val="000000"/>
                </a:solidFill>
                <a:latin typeface="Arial"/>
                <a:ea typeface="Arial"/>
                <a:cs typeface="Arial"/>
              </a:rPr>
              <a:t>תסתכלו לשנייה על הקרב: איפה הסכנה?</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עמעמנו את הקישוטים, אבל סימון המתקפה נשאר בדיוק אותו סימון.</a:t>
            </a:r>
          </a:p>
          <a:p>
            <a:pPr algn="r" rtl="1" marL="0" marR="0" indent="0">
              <a:lnSpc>
                <a:spcPct val="110000"/>
              </a:lnSpc>
              <a:spcAft>
                <a:spcPts val="200"/>
              </a:spcAft>
              <a:buNone/>
            </a:pPr>
            <a:r>
              <a:rPr lang="he-IL" sz="1800" b="0">
                <a:solidFill>
                  <a:srgbClr val="000000"/>
                </a:solidFill>
                <a:latin typeface="Arial"/>
                <a:ea typeface="Arial"/>
                <a:cs typeface="Arial"/>
              </a:rPr>
              <a:t>כך אנחנו נותנים למידע החשוב עדיפות, בלי לשנות את האתגר עצמו.</a:t>
            </a:r>
          </a:p>
          <a:p>
            <a:pPr algn="r" rtl="1" marL="0" marR="0" indent="0">
              <a:lnSpc>
                <a:spcPct val="110000"/>
              </a:lnSpc>
              <a:spcAft>
                <a:spcPts val="200"/>
              </a:spcAft>
              <a:buNone/>
            </a:pPr>
            <a:r>
              <a:rPr lang="he-IL" sz="1800" b="0">
                <a:solidFill>
                  <a:srgbClr val="000000"/>
                </a:solidFill>
                <a:latin typeface="Arial"/>
                <a:ea typeface="Arial"/>
                <a:cs typeface="Arial"/>
              </a:rPr>
              <a:t>כדי לדעת אם זה עוזר לשחקנים, נצטרך לראות אותם משחקים.</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ויינשנק: דוגמת המו״ל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כאן לימדנו שלוש משמעויות: בן־ברית, אויב וריפוי.</a:t>
            </a:r>
          </a:p>
          <a:p>
            <a:pPr algn="r" rtl="1" marL="0" marR="0" indent="0">
              <a:lnSpc>
                <a:spcPct val="110000"/>
              </a:lnSpc>
              <a:spcAft>
                <a:spcPts val="200"/>
              </a:spcAft>
              <a:buNone/>
            </a:pPr>
            <a:r>
              <a:rPr lang="he-IL" sz="1800" b="0">
                <a:solidFill>
                  <a:srgbClr val="000000"/>
                </a:solidFill>
                <a:latin typeface="Arial"/>
                <a:ea typeface="Arial"/>
                <a:cs typeface="Arial"/>
              </a:rPr>
              <a:t>עכשיו אותם סמלים מופיעים קטנים יותר וגם בלי צבע.</a:t>
            </a:r>
          </a:p>
          <a:p>
            <a:pPr algn="r" rtl="1" marL="0" marR="0" indent="0">
              <a:lnSpc>
                <a:spcPct val="110000"/>
              </a:lnSpc>
              <a:spcAft>
                <a:spcPts val="200"/>
              </a:spcAft>
              <a:buNone/>
            </a:pPr>
            <a:r>
              <a:rPr lang="he-IL" sz="1800" b="0">
                <a:solidFill>
                  <a:srgbClr val="000000"/>
                </a:solidFill>
                <a:latin typeface="Arial"/>
                <a:ea typeface="Arial"/>
                <a:cs typeface="Arial"/>
              </a:rPr>
              <a:t>הצורה העקבית נותנת עוד רמז לזהות, לצד הצבע.</a:t>
            </a:r>
          </a:p>
          <a:p>
            <a:pPr algn="r" rtl="1" marL="0" marR="0" indent="0">
              <a:lnSpc>
                <a:spcPct val="110000"/>
              </a:lnSpc>
              <a:spcAft>
                <a:spcPts val="200"/>
              </a:spcAft>
              <a:buNone/>
            </a:pPr>
            <a:r>
              <a:rPr lang="he-IL" sz="1800" b="0">
                <a:solidFill>
                  <a:srgbClr val="000000"/>
                </a:solidFill>
                <a:latin typeface="Arial"/>
                <a:ea typeface="Arial"/>
                <a:cs typeface="Arial"/>
              </a:rPr>
              <a:t>עדיין צריך לבדוק אם השחקנים שלנו מזהים אותם.</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ויינשנק: דוגמת המו״ל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בגרסה הזאת כל האייקונים כמעט באותו מרחק זה מזה.</a:t>
            </a:r>
          </a:p>
          <a:p>
            <a:pPr algn="r" rtl="1" marL="0" marR="0" indent="0">
              <a:lnSpc>
                <a:spcPct val="110000"/>
              </a:lnSpc>
              <a:spcAft>
                <a:spcPts val="200"/>
              </a:spcAft>
              <a:buNone/>
            </a:pPr>
            <a:r>
              <a:rPr lang="he-IL" sz="1800" b="0">
                <a:solidFill>
                  <a:srgbClr val="000000"/>
                </a:solidFill>
                <a:latin typeface="Arial"/>
                <a:ea typeface="Arial"/>
                <a:cs typeface="Arial"/>
              </a:rPr>
              <a:t>תנסו לראות מה שייך להישרדות, ללחימה ולמטרה.</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האייקונים והמספרים נשארו זהים. שינינו רק מרווחים.</a:t>
            </a:r>
          </a:p>
          <a:p>
            <a:pPr algn="r" rtl="1" marL="0" marR="0" indent="0">
              <a:lnSpc>
                <a:spcPct val="110000"/>
              </a:lnSpc>
              <a:spcAft>
                <a:spcPts val="200"/>
              </a:spcAft>
              <a:buNone/>
            </a:pPr>
            <a:r>
              <a:rPr lang="he-IL" sz="1800" b="0">
                <a:solidFill>
                  <a:srgbClr val="000000"/>
                </a:solidFill>
                <a:latin typeface="Arial"/>
                <a:ea typeface="Arial"/>
                <a:cs typeface="Arial"/>
              </a:rPr>
              <a:t>הקרבה מחברת זוגות, והרווח הגדול מפריד בין הקבוצות.</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ויינשנק: דוגמת המו״ל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הספר Hooked של ניר אייל מציע מעגל של ארבעה שלבים.</a:t>
            </a:r>
          </a:p>
          <a:p>
            <a:pPr algn="r" rtl="1" marL="0" marR="0" indent="0">
              <a:lnSpc>
                <a:spcPct val="110000"/>
              </a:lnSpc>
              <a:spcAft>
                <a:spcPts val="200"/>
              </a:spcAft>
              <a:buNone/>
            </a:pPr>
            <a:r>
              <a:rPr lang="he-IL" sz="1800" b="0">
                <a:solidFill>
                  <a:srgbClr val="000000"/>
                </a:solidFill>
                <a:latin typeface="Arial"/>
                <a:ea typeface="Arial"/>
                <a:cs typeface="Arial"/>
              </a:rPr>
              <a:t>טריגר מוביל לפעולה, אחריה תגמול משתנה, ואז השקעה.</a:t>
            </a:r>
          </a:p>
          <a:p>
            <a:pPr algn="r" rtl="1" marL="0" marR="0" indent="0">
              <a:lnSpc>
                <a:spcPct val="110000"/>
              </a:lnSpc>
              <a:spcAft>
                <a:spcPts val="200"/>
              </a:spcAft>
              <a:buNone/>
            </a:pPr>
            <a:r>
              <a:rPr lang="he-IL" sz="1800" b="0">
                <a:solidFill>
                  <a:srgbClr val="000000"/>
                </a:solidFill>
                <a:latin typeface="Arial"/>
                <a:ea typeface="Arial"/>
                <a:cs typeface="Arial"/>
              </a:rPr>
              <a:t>כאן מתחילים ריצה כדי לנסות שילוב שהכנו.</a:t>
            </a:r>
          </a:p>
          <a:p>
            <a:pPr algn="r" rtl="1" marL="0" marR="0" indent="0">
              <a:lnSpc>
                <a:spcPct val="110000"/>
              </a:lnSpc>
              <a:spcAft>
                <a:spcPts val="200"/>
              </a:spcAft>
              <a:buNone/>
            </a:pPr>
            <a:r>
              <a:rPr lang="he-IL" sz="1800" b="0">
                <a:solidFill>
                  <a:srgbClr val="000000"/>
                </a:solidFill>
                <a:latin typeface="Arial"/>
                <a:ea typeface="Arial"/>
                <a:cs typeface="Arial"/>
              </a:rPr>
              <a:t>התגמול כולל גילוי בעל ערך, שלא ידענו מראש.</a:t>
            </a:r>
          </a:p>
          <a:p>
            <a:pPr algn="r" rtl="1" marL="0" marR="0" indent="0">
              <a:lnSpc>
                <a:spcPct val="110000"/>
              </a:lnSpc>
              <a:spcAft>
                <a:spcPts val="200"/>
              </a:spcAft>
              <a:buNone/>
            </a:pPr>
            <a:r>
              <a:rPr lang="he-IL" sz="1800" b="0">
                <a:solidFill>
                  <a:srgbClr val="000000"/>
                </a:solidFill>
                <a:latin typeface="Arial"/>
                <a:ea typeface="Arial"/>
                <a:cs typeface="Arial"/>
              </a:rPr>
              <a:t>בחירה ושמירה של ערכה מכינות סיבה לחזור במפגש הבא.</a:t>
            </a:r>
          </a:p>
          <a:p>
            <a:pPr algn="r" rtl="1" marL="0" marR="0" indent="0">
              <a:lnSpc>
                <a:spcPct val="110000"/>
              </a:lnSpc>
              <a:spcAft>
                <a:spcPts val="200"/>
              </a:spcAft>
              <a:buNone/>
            </a:pPr>
            <a:r>
              <a:rPr lang="he-IL" sz="1800" b="0">
                <a:solidFill>
                  <a:srgbClr val="000000"/>
                </a:solidFill>
                <a:latin typeface="Arial"/>
                <a:ea typeface="Arial"/>
                <a:cs typeface="Arial"/>
              </a:rPr>
              <a:t>המעגל הוא כלי לתכנון. הוא לא מבטיח שיתפתח הרגל.</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הספר Hooked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הספר מציג תגמולים של קשר, חיפוש וגילוי, והתקדמות אישית.</a:t>
            </a:r>
          </a:p>
          <a:p>
            <a:pPr algn="r" rtl="1" marL="0" marR="0" indent="0">
              <a:lnSpc>
                <a:spcPct val="110000"/>
              </a:lnSpc>
              <a:spcAft>
                <a:spcPts val="200"/>
              </a:spcAft>
              <a:buNone/>
            </a:pPr>
            <a:r>
              <a:rPr lang="he-IL" sz="1800" b="0">
                <a:solidFill>
                  <a:srgbClr val="000000"/>
                </a:solidFill>
                <a:latin typeface="Arial"/>
                <a:ea typeface="Arial"/>
                <a:cs typeface="Arial"/>
              </a:rPr>
              <a:t>ב־It Takes Two, הערך יכול להגיע מהמשחק המשותף.</a:t>
            </a:r>
          </a:p>
          <a:p>
            <a:pPr algn="r" rtl="1" marL="0" marR="0" indent="0">
              <a:lnSpc>
                <a:spcPct val="110000"/>
              </a:lnSpc>
              <a:spcAft>
                <a:spcPts val="200"/>
              </a:spcAft>
              <a:buNone/>
            </a:pPr>
            <a:r>
              <a:rPr lang="he-IL" sz="1800" b="0">
                <a:solidFill>
                  <a:srgbClr val="000000"/>
                </a:solidFill>
                <a:latin typeface="Arial"/>
                <a:ea typeface="Arial"/>
                <a:cs typeface="Arial"/>
              </a:rPr>
              <a:t>ב־TUNIC, מהגילוי הבא. ב־Celeste, משיפור היכולת.</a:t>
            </a:r>
          </a:p>
          <a:p>
            <a:pPr algn="r" rtl="1" marL="0" marR="0" indent="0">
              <a:lnSpc>
                <a:spcPct val="110000"/>
              </a:lnSpc>
              <a:spcAft>
                <a:spcPts val="200"/>
              </a:spcAft>
              <a:buNone/>
            </a:pPr>
            <a:r>
              <a:rPr lang="he-IL" sz="1800" b="0">
                <a:solidFill>
                  <a:srgbClr val="000000"/>
                </a:solidFill>
                <a:latin typeface="Arial"/>
                <a:ea typeface="Arial"/>
                <a:cs typeface="Arial"/>
              </a:rPr>
              <a:t>הפתעה בתוצאה יכולה לסקרן, בעוד שהשליטה נשארת עקבית.</a:t>
            </a:r>
          </a:p>
          <a:p>
            <a:pPr algn="r" rtl="1" marL="0" marR="0" indent="0">
              <a:lnSpc>
                <a:spcPct val="110000"/>
              </a:lnSpc>
              <a:spcAft>
                <a:spcPts val="200"/>
              </a:spcAft>
              <a:buNone/>
            </a:pPr>
            <a:r>
              <a:rPr lang="he-IL" sz="1800" b="0">
                <a:solidFill>
                  <a:srgbClr val="000000"/>
                </a:solidFill>
                <a:latin typeface="Arial"/>
                <a:ea typeface="Arial"/>
                <a:cs typeface="Arial"/>
              </a:rPr>
              <a:t>לא כל משחק צריך לשלב את שלושת הסוגים.</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הספר Hooked</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2"/>
              </a:rPr>
              <a:t>It Takes Two</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3"/>
              </a:rPr>
              <a:t>TUNIC</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4"/>
              </a:rPr>
              <a:t>Celeste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היכולת שקיבלנו עכשיו היא התגמול.</a:t>
            </a:r>
          </a:p>
          <a:p>
            <a:pPr algn="r" rtl="1" marL="0" marR="0" indent="0">
              <a:lnSpc>
                <a:spcPct val="110000"/>
              </a:lnSpc>
              <a:spcAft>
                <a:spcPts val="200"/>
              </a:spcAft>
              <a:buNone/>
            </a:pPr>
            <a:r>
              <a:rPr lang="he-IL" sz="1800" b="0">
                <a:solidFill>
                  <a:srgbClr val="000000"/>
                </a:solidFill>
                <a:latin typeface="Arial"/>
                <a:ea typeface="Arial"/>
                <a:cs typeface="Arial"/>
              </a:rPr>
              <a:t>בחירת Frost או Shield ושמירת הערכה הן השקעה לקראת ההמשך.</a:t>
            </a:r>
          </a:p>
          <a:p>
            <a:pPr algn="r" rtl="1" marL="0" marR="0" indent="0">
              <a:lnSpc>
                <a:spcPct val="110000"/>
              </a:lnSpc>
              <a:spcAft>
                <a:spcPts val="200"/>
              </a:spcAft>
              <a:buNone/>
            </a:pPr>
            <a:r>
              <a:rPr lang="he-IL" sz="1800" b="0">
                <a:solidFill>
                  <a:srgbClr val="000000"/>
                </a:solidFill>
                <a:latin typeface="Arial"/>
                <a:ea typeface="Arial"/>
                <a:cs typeface="Arial"/>
              </a:rPr>
              <a:t>בריצה הבאה, השילוב שנבחר צריך להופיע ולפעול כפי שהובטח.</a:t>
            </a:r>
          </a:p>
          <a:p>
            <a:pPr algn="r" rtl="1" marL="0" marR="0" indent="0">
              <a:lnSpc>
                <a:spcPct val="110000"/>
              </a:lnSpc>
              <a:spcAft>
                <a:spcPts val="200"/>
              </a:spcAft>
              <a:buNone/>
            </a:pPr>
            <a:r>
              <a:rPr lang="he-IL" sz="1800" b="0">
                <a:solidFill>
                  <a:srgbClr val="000000"/>
                </a:solidFill>
                <a:latin typeface="Arial"/>
                <a:ea typeface="Arial"/>
                <a:cs typeface="Arial"/>
              </a:rPr>
              <a:t>נבדוק עם שחקן אם ההכנה עזרה לו ומה ירצה לנסות בהמשך.</a:t>
            </a:r>
          </a:p>
          <a:p>
            <a:pPr algn="r" rtl="1" marL="0" marR="0" indent="0">
              <a:lnSpc>
                <a:spcPct val="110000"/>
              </a:lnSpc>
              <a:spcAft>
                <a:spcPts val="200"/>
              </a:spcAft>
              <a:buNone/>
            </a:pPr>
            <a:r>
              <a:rPr lang="he-IL" sz="1800" b="0">
                <a:solidFill>
                  <a:srgbClr val="000000"/>
                </a:solidFill>
                <a:latin typeface="Arial"/>
                <a:ea typeface="Arial"/>
                <a:cs typeface="Arial"/>
              </a:rPr>
              <a:t>גם ידע ומיומנות יכולים להישמר בין מפגשי משחק, בלי ציוד קבוע.</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הספר Hooked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כל תמונה פותחת סרטון אחר של מסאהירו סקוראי ביוטיוב.</a:t>
            </a:r>
          </a:p>
          <a:p>
            <a:pPr algn="r" rtl="1" marL="0" marR="0" indent="0">
              <a:lnSpc>
                <a:spcPct val="110000"/>
              </a:lnSpc>
              <a:spcAft>
                <a:spcPts val="200"/>
              </a:spcAft>
              <a:buNone/>
            </a:pPr>
            <a:r>
              <a:rPr lang="he-IL" sz="1800" b="0">
                <a:solidFill>
                  <a:srgbClr val="000000"/>
                </a:solidFill>
                <a:latin typeface="Arial"/>
                <a:ea typeface="Arial"/>
                <a:cs typeface="Arial"/>
              </a:rPr>
              <a:t>כל סרטון קצר מחמש דקות. נבחר אחד לפי הזמן שלנו.</a:t>
            </a:r>
          </a:p>
          <a:p>
            <a:pPr algn="r" rtl="1" marL="0" marR="0" indent="0">
              <a:lnSpc>
                <a:spcPct val="110000"/>
              </a:lnSpc>
              <a:spcAft>
                <a:spcPts val="200"/>
              </a:spcAft>
              <a:buNone/>
            </a:pPr>
            <a:r>
              <a:rPr lang="he-IL" sz="1800" b="0">
                <a:solidFill>
                  <a:srgbClr val="000000"/>
                </a:solidFill>
                <a:latin typeface="Arial"/>
                <a:ea typeface="Arial"/>
                <a:cs typeface="Arial"/>
              </a:rPr>
              <a:t>חפשו שינוי קטן שמשפיע על התחושה או על ההבנה.</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הסרטון על תחושת המכה</a:t>
            </a:r>
          </a:p>
          <a:p>
            <a:pPr algn="r" rtl="1" marL="0" marR="0" indent="0">
              <a:lnSpc>
                <a:spcPct val="110000"/>
              </a:lnSpc>
              <a:spcAft>
                <a:spcPts val="200"/>
              </a:spcAft>
              <a:buNone/>
            </a:pPr>
            <a:r>
              <a:rPr lang="he-IL" sz="1800" b="0">
                <a:solidFill>
                  <a:srgbClr val="000000"/>
                </a:solidFill>
                <a:latin typeface="Arial"/>
                <a:ea typeface="Arial"/>
                <a:cs typeface="Arial"/>
              </a:rPr>
              <a:t>מה ההשהיה הקצרה משנה בתחושת המכה?</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הסרטון על עיצוב הממשק</a:t>
            </a:r>
          </a:p>
          <a:p>
            <a:pPr algn="r" rtl="1" marL="0" marR="0" indent="0">
              <a:lnSpc>
                <a:spcPct val="110000"/>
              </a:lnSpc>
              <a:spcAft>
                <a:spcPts val="200"/>
              </a:spcAft>
              <a:buNone/>
            </a:pPr>
            <a:r>
              <a:rPr lang="he-IL" sz="1800" b="0">
                <a:solidFill>
                  <a:srgbClr val="000000"/>
                </a:solidFill>
                <a:latin typeface="Arial"/>
                <a:ea typeface="Arial"/>
                <a:cs typeface="Arial"/>
              </a:rPr>
              <a:t>מה עוזר לנווט בממשק גם כשהוא מעוצב מאוד?</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הסרטון על הקפיצה</a:t>
            </a:r>
          </a:p>
          <a:p>
            <a:pPr algn="r" rtl="1" marL="0" marR="0" indent="0">
              <a:lnSpc>
                <a:spcPct val="110000"/>
              </a:lnSpc>
              <a:spcAft>
                <a:spcPts val="200"/>
              </a:spcAft>
              <a:buNone/>
            </a:pPr>
            <a:r>
              <a:rPr lang="he-IL" sz="1800" b="0">
                <a:solidFill>
                  <a:srgbClr val="000000"/>
                </a:solidFill>
                <a:latin typeface="Arial"/>
                <a:ea typeface="Arial"/>
                <a:cs typeface="Arial"/>
              </a:rPr>
              <a:t>מה הייתם משנים בקפיצה של המשחק שלכם?</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תחושת מכה</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2"/>
              </a:rPr>
              <a:t>עיצוב הממשק</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3"/>
              </a:rPr>
              <a:t>פיזיקת קפיצה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את הדוגמה הראשונה אפתור בקול. מה נראה מסוכן לנחיתה בסלסט?</a:t>
            </a:r>
          </a:p>
          <a:p>
            <a:pPr algn="r" rtl="1" marL="0" marR="0" indent="0">
              <a:lnSpc>
                <a:spcPct val="110000"/>
              </a:lnSpc>
              <a:spcAft>
                <a:spcPts val="200"/>
              </a:spcAft>
              <a:buNone/>
            </a:pPr>
            <a:r>
              <a:rPr lang="he-IL" sz="1800" b="0">
                <a:solidFill>
                  <a:srgbClr val="000000"/>
                </a:solidFill>
                <a:latin typeface="Arial"/>
                <a:ea typeface="Arial"/>
                <a:cs typeface="Arial"/>
              </a:rPr>
              <a:t>אחת: קוצים. שתיים: שלג. שלוש: שניהם.</a:t>
            </a:r>
          </a:p>
          <a:p>
            <a:pPr algn="r" rtl="1" marL="0" marR="0" indent="0">
              <a:lnSpc>
                <a:spcPct val="110000"/>
              </a:lnSpc>
              <a:spcAft>
                <a:spcPts val="200"/>
              </a:spcAft>
              <a:buNone/>
            </a:pPr>
            <a:r>
              <a:rPr lang="he-IL" sz="1800" b="0">
                <a:solidFill>
                  <a:srgbClr val="000000"/>
                </a:solidFill>
                <a:latin typeface="Arial"/>
                <a:ea typeface="Arial"/>
                <a:cs typeface="Arial"/>
              </a:rPr>
              <a:t>מהדוגמה הבאה תצביעו יחד, באצבע אחת, שתיים או שלוש.</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התשובה היא אחת: הקוצים.</a:t>
            </a:r>
          </a:p>
          <a:p>
            <a:pPr algn="r" rtl="1" marL="0" marR="0" indent="0">
              <a:lnSpc>
                <a:spcPct val="110000"/>
              </a:lnSpc>
              <a:spcAft>
                <a:spcPts val="200"/>
              </a:spcAft>
              <a:buNone/>
            </a:pPr>
            <a:r>
              <a:rPr lang="he-IL" sz="1800" b="0">
                <a:solidFill>
                  <a:srgbClr val="000000"/>
                </a:solidFill>
                <a:latin typeface="Arial"/>
                <a:ea typeface="Arial"/>
                <a:cs typeface="Arial"/>
              </a:rPr>
              <a:t>הקצוות המחודדים חוזרים ומבדילים אותם ממשטח רגיל.</a:t>
            </a:r>
          </a:p>
          <a:p>
            <a:pPr algn="r" rtl="1" marL="0" marR="0" indent="0">
              <a:lnSpc>
                <a:spcPct val="110000"/>
              </a:lnSpc>
              <a:spcAft>
                <a:spcPts val="200"/>
              </a:spcAft>
              <a:buNone/>
            </a:pPr>
            <a:r>
              <a:rPr lang="he-IL" sz="1800" b="0">
                <a:solidFill>
                  <a:srgbClr val="000000"/>
                </a:solidFill>
                <a:latin typeface="Arial"/>
                <a:ea typeface="Arial"/>
                <a:cs typeface="Arial"/>
              </a:rPr>
              <a:t>הצורה מחזקת את סימון הסכנה, לצד הצבע.</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Celeste</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2"/>
              </a:rPr>
              <a:t>ויינשנק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בטוניק, האם רק הצבע מסמן סכנה?</a:t>
            </a:r>
          </a:p>
          <a:p>
            <a:pPr algn="r" rtl="1" marL="0" marR="0" indent="0">
              <a:lnSpc>
                <a:spcPct val="110000"/>
              </a:lnSpc>
              <a:spcAft>
                <a:spcPts val="200"/>
              </a:spcAft>
              <a:buNone/>
            </a:pPr>
            <a:r>
              <a:rPr lang="he-IL" sz="1800" b="0">
                <a:solidFill>
                  <a:srgbClr val="000000"/>
                </a:solidFill>
                <a:latin typeface="Arial"/>
                <a:ea typeface="Arial"/>
                <a:cs typeface="Arial"/>
              </a:rPr>
              <a:t>אחת: כן. שתיים: לא. שלוש: לא ברור.</a:t>
            </a:r>
          </a:p>
          <a:p>
            <a:pPr algn="r" rtl="1" marL="0" marR="0" indent="0">
              <a:lnSpc>
                <a:spcPct val="110000"/>
              </a:lnSpc>
              <a:spcAft>
                <a:spcPts val="200"/>
              </a:spcAft>
              <a:buNone/>
            </a:pPr>
            <a:r>
              <a:rPr lang="he-IL" sz="1800" b="0">
                <a:solidFill>
                  <a:srgbClr val="000000"/>
                </a:solidFill>
                <a:latin typeface="Arial"/>
                <a:ea typeface="Arial"/>
                <a:cs typeface="Arial"/>
              </a:rPr>
              <a:t>קחו עשר שניות, הצביעו יחד, ותנו נימוק אחד.</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שתיים: לא. יש גם סימני קריאה ומסלולים נראים של קליעים.</a:t>
            </a:r>
          </a:p>
          <a:p>
            <a:pPr algn="r" rtl="1" marL="0" marR="0" indent="0">
              <a:lnSpc>
                <a:spcPct val="110000"/>
              </a:lnSpc>
              <a:spcAft>
                <a:spcPts val="200"/>
              </a:spcAft>
              <a:buNone/>
            </a:pPr>
            <a:r>
              <a:rPr lang="he-IL" sz="1800" b="0">
                <a:solidFill>
                  <a:srgbClr val="000000"/>
                </a:solidFill>
                <a:latin typeface="Arial"/>
                <a:ea typeface="Arial"/>
                <a:cs typeface="Arial"/>
              </a:rPr>
              <a:t>המידע עובר גם בצורות ובמיקום.</a:t>
            </a:r>
          </a:p>
          <a:p>
            <a:pPr algn="r" rtl="1" marL="0" marR="0" indent="0">
              <a:lnSpc>
                <a:spcPct val="110000"/>
              </a:lnSpc>
              <a:spcAft>
                <a:spcPts val="200"/>
              </a:spcAft>
              <a:buNone/>
            </a:pPr>
            <a:r>
              <a:rPr lang="he-IL" sz="1800" b="0">
                <a:solidFill>
                  <a:srgbClr val="000000"/>
                </a:solidFill>
                <a:latin typeface="Arial"/>
                <a:ea typeface="Arial"/>
                <a:cs typeface="Arial"/>
              </a:rPr>
              <a:t>בבדיקת משחק נבדוק אם שחקנים מבחינים ברמזים בזמן.</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TUNIC</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2"/>
              </a:rPr>
              <a:t>ויינשנק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זו הדגמה שיצרנו. אם נלחץ על E, מה ייפתח?</a:t>
            </a:r>
          </a:p>
          <a:p>
            <a:pPr algn="r" rtl="1" marL="0" marR="0" indent="0">
              <a:lnSpc>
                <a:spcPct val="110000"/>
              </a:lnSpc>
              <a:spcAft>
                <a:spcPts val="200"/>
              </a:spcAft>
              <a:buNone/>
            </a:pPr>
            <a:r>
              <a:rPr lang="he-IL" sz="1800" b="0">
                <a:solidFill>
                  <a:srgbClr val="000000"/>
                </a:solidFill>
                <a:latin typeface="Arial"/>
                <a:ea typeface="Arial"/>
                <a:cs typeface="Arial"/>
              </a:rPr>
              <a:t>אחת: התיבה. שתיים: הדלת. שלוש: לא ברור.</a:t>
            </a:r>
          </a:p>
          <a:p>
            <a:pPr algn="r" rtl="1" marL="0" marR="0" indent="0">
              <a:lnSpc>
                <a:spcPct val="110000"/>
              </a:lnSpc>
              <a:spcAft>
                <a:spcPts val="200"/>
              </a:spcAft>
              <a:buNone/>
            </a:pPr>
            <a:r>
              <a:rPr lang="he-IL" sz="1800" b="0">
                <a:solidFill>
                  <a:srgbClr val="000000"/>
                </a:solidFill>
                <a:latin typeface="Arial"/>
                <a:ea typeface="Arial"/>
                <a:cs typeface="Arial"/>
              </a:rPr>
              <a:t>עשר שניות לחשוב. הצביעו יחד לפי מה שרואים במסך.</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שלוש: הסימון המקורי לא אומר לאיזה חפץ הפעולה שייכת.</a:t>
            </a:r>
          </a:p>
          <a:p>
            <a:pPr algn="r" rtl="1" marL="0" marR="0" indent="0">
              <a:lnSpc>
                <a:spcPct val="110000"/>
              </a:lnSpc>
              <a:spcAft>
                <a:spcPts val="200"/>
              </a:spcAft>
              <a:buNone/>
            </a:pPr>
            <a:r>
              <a:rPr lang="he-IL" sz="1800" b="0">
                <a:solidFill>
                  <a:srgbClr val="000000"/>
                </a:solidFill>
                <a:latin typeface="Arial"/>
                <a:ea typeface="Arial"/>
                <a:cs typeface="Arial"/>
              </a:rPr>
              <a:t>בתיקון כתוב לפתוח את התיבה, וההנחיה מופיעה לידה.</a:t>
            </a:r>
          </a:p>
          <a:p>
            <a:pPr algn="r" rtl="1" marL="0" marR="0" indent="0">
              <a:lnSpc>
                <a:spcPct val="110000"/>
              </a:lnSpc>
              <a:spcAft>
                <a:spcPts val="200"/>
              </a:spcAft>
              <a:buNone/>
            </a:pPr>
            <a:r>
              <a:rPr lang="he-IL" sz="1800" b="0">
                <a:solidFill>
                  <a:srgbClr val="000000"/>
                </a:solidFill>
                <a:latin typeface="Arial"/>
                <a:ea typeface="Arial"/>
                <a:cs typeface="Arial"/>
              </a:rPr>
              <a:t>כשהמטרה ברורה, השחקן יכול לבחור בלי לנחש.</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קרוג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זה ממשק מתוך Hollow Knight. לאיזה סמל שייך המספר 278?</a:t>
            </a:r>
          </a:p>
          <a:p>
            <a:pPr algn="r" rtl="1" marL="0" marR="0" indent="0">
              <a:lnSpc>
                <a:spcPct val="110000"/>
              </a:lnSpc>
              <a:spcAft>
                <a:spcPts val="200"/>
              </a:spcAft>
              <a:buNone/>
            </a:pPr>
            <a:r>
              <a:rPr lang="he-IL" sz="1800" b="0">
                <a:solidFill>
                  <a:srgbClr val="000000"/>
                </a:solidFill>
                <a:latin typeface="Arial"/>
                <a:ea typeface="Arial"/>
                <a:cs typeface="Arial"/>
              </a:rPr>
              <a:t>אחת: העיגול הגדול. שתיים: המסכות. שלוש: האבנים הקטנות.</a:t>
            </a:r>
          </a:p>
          <a:p>
            <a:pPr algn="r" rtl="1" marL="0" marR="0" indent="0">
              <a:lnSpc>
                <a:spcPct val="110000"/>
              </a:lnSpc>
              <a:spcAft>
                <a:spcPts val="200"/>
              </a:spcAft>
              <a:buNone/>
            </a:pPr>
            <a:r>
              <a:rPr lang="he-IL" sz="1800" b="0">
                <a:solidFill>
                  <a:srgbClr val="000000"/>
                </a:solidFill>
                <a:latin typeface="Arial"/>
                <a:ea typeface="Arial"/>
                <a:cs typeface="Arial"/>
              </a:rPr>
              <a:t>לא צריך להכיר את המשחק. התבוננו, הצביעו יחד, ותנו נימוק.</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שלוש: האבנים. המספר קרוב אליהן.</a:t>
            </a:r>
          </a:p>
          <a:p>
            <a:pPr algn="r" rtl="1" marL="0" marR="0" indent="0">
              <a:lnSpc>
                <a:spcPct val="110000"/>
              </a:lnSpc>
              <a:spcAft>
                <a:spcPts val="200"/>
              </a:spcAft>
              <a:buNone/>
            </a:pPr>
            <a:r>
              <a:rPr lang="he-IL" sz="1800" b="0">
                <a:solidFill>
                  <a:srgbClr val="000000"/>
                </a:solidFill>
                <a:latin typeface="Arial"/>
                <a:ea typeface="Arial"/>
                <a:cs typeface="Arial"/>
              </a:rPr>
              <a:t>הקרבה מחברת את הסמל והמספר לקבוצה חזותית.</a:t>
            </a:r>
          </a:p>
          <a:p>
            <a:pPr algn="r" rtl="1" marL="0" marR="0" indent="0">
              <a:lnSpc>
                <a:spcPct val="110000"/>
              </a:lnSpc>
              <a:spcAft>
                <a:spcPts val="200"/>
              </a:spcAft>
              <a:buNone/>
            </a:pPr>
            <a:r>
              <a:rPr lang="he-IL" sz="1800" b="0">
                <a:solidFill>
                  <a:srgbClr val="000000"/>
                </a:solidFill>
                <a:latin typeface="Arial"/>
                <a:ea typeface="Arial"/>
                <a:cs typeface="Arial"/>
              </a:rPr>
              <a:t>מרווחים יכולים להסביר קשר, בלי להוסיף מילים.</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Hollow Knight</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2"/>
              </a:rPr>
              <a:t>ויינשנק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ב־It Takes Two, למה המסך מחולק לשניים?</a:t>
            </a:r>
          </a:p>
          <a:p>
            <a:pPr algn="r" rtl="1" marL="0" marR="0" indent="0">
              <a:lnSpc>
                <a:spcPct val="110000"/>
              </a:lnSpc>
              <a:spcAft>
                <a:spcPts val="200"/>
              </a:spcAft>
              <a:buNone/>
            </a:pPr>
            <a:r>
              <a:rPr lang="he-IL" sz="1800" b="0">
                <a:solidFill>
                  <a:srgbClr val="000000"/>
                </a:solidFill>
                <a:latin typeface="Arial"/>
                <a:ea typeface="Arial"/>
                <a:cs typeface="Arial"/>
              </a:rPr>
              <a:t>אחת: שתי נקודות מבט. שתיים: לפני ואחרי. שלוש: מפה ומשחק.</a:t>
            </a:r>
          </a:p>
          <a:p>
            <a:pPr algn="r" rtl="1" marL="0" marR="0" indent="0">
              <a:lnSpc>
                <a:spcPct val="110000"/>
              </a:lnSpc>
              <a:spcAft>
                <a:spcPts val="200"/>
              </a:spcAft>
              <a:buNone/>
            </a:pPr>
            <a:r>
              <a:rPr lang="he-IL" sz="1800" b="0">
                <a:solidFill>
                  <a:srgbClr val="000000"/>
                </a:solidFill>
                <a:latin typeface="Arial"/>
                <a:ea typeface="Arial"/>
                <a:cs typeface="Arial"/>
              </a:rPr>
              <a:t>עשר שניות להתבונן. הצביעו, ואז ציינו רמז בתמונה.</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אחת: יש שתי נקודות מבט על אותו מפגש.</a:t>
            </a:r>
          </a:p>
          <a:p>
            <a:pPr algn="r" rtl="1" marL="0" marR="0" indent="0">
              <a:lnSpc>
                <a:spcPct val="110000"/>
              </a:lnSpc>
              <a:spcAft>
                <a:spcPts val="200"/>
              </a:spcAft>
              <a:buNone/>
            </a:pPr>
            <a:r>
              <a:rPr lang="he-IL" sz="1800" b="0">
                <a:solidFill>
                  <a:srgbClr val="000000"/>
                </a:solidFill>
                <a:latin typeface="Arial"/>
                <a:ea typeface="Arial"/>
                <a:cs typeface="Arial"/>
              </a:rPr>
              <a:t>כל שחקן יכול לעקוב אחר הדמות שלו.</a:t>
            </a:r>
          </a:p>
          <a:p>
            <a:pPr algn="r" rtl="1" marL="0" marR="0" indent="0">
              <a:lnSpc>
                <a:spcPct val="110000"/>
              </a:lnSpc>
              <a:spcAft>
                <a:spcPts val="200"/>
              </a:spcAft>
              <a:buNone/>
            </a:pPr>
            <a:r>
              <a:rPr lang="he-IL" sz="1800" b="0">
                <a:solidFill>
                  <a:srgbClr val="000000"/>
                </a:solidFill>
                <a:latin typeface="Arial"/>
                <a:ea typeface="Arial"/>
                <a:cs typeface="Arial"/>
              </a:rPr>
              <a:t>משחק משותף יכול לתגמל דרך קשר ושיתוף פעולה.</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It Takes Two</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2"/>
              </a:rPr>
              <a:t>Hooked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מה מסתיר סימן השאלה במפה של טוניק?</a:t>
            </a:r>
          </a:p>
          <a:p>
            <a:pPr algn="r" rtl="1" marL="0" marR="0" indent="0">
              <a:lnSpc>
                <a:spcPct val="110000"/>
              </a:lnSpc>
              <a:spcAft>
                <a:spcPts val="200"/>
              </a:spcAft>
              <a:buNone/>
            </a:pPr>
            <a:r>
              <a:rPr lang="he-IL" sz="1800" b="0">
                <a:solidFill>
                  <a:srgbClr val="000000"/>
                </a:solidFill>
                <a:latin typeface="Arial"/>
                <a:ea typeface="Arial"/>
                <a:cs typeface="Arial"/>
              </a:rPr>
              <a:t>אחת: אופן ההפעלה. שתיים: יעד. שלוש: מחיר.</a:t>
            </a:r>
          </a:p>
          <a:p>
            <a:pPr algn="r" rtl="1" marL="0" marR="0" indent="0">
              <a:lnSpc>
                <a:spcPct val="110000"/>
              </a:lnSpc>
              <a:spcAft>
                <a:spcPts val="200"/>
              </a:spcAft>
              <a:buNone/>
            </a:pPr>
            <a:r>
              <a:rPr lang="he-IL" sz="1800" b="0">
                <a:solidFill>
                  <a:srgbClr val="000000"/>
                </a:solidFill>
                <a:latin typeface="Arial"/>
                <a:ea typeface="Arial"/>
                <a:cs typeface="Arial"/>
              </a:rPr>
              <a:t>חשבו עשר שניות והצביעו יחד.</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שתיים: היעד עדיין לא ידוע, לצד מקומות שכבר מזוהים.</a:t>
            </a:r>
          </a:p>
          <a:p>
            <a:pPr algn="r" rtl="1" marL="0" marR="0" indent="0">
              <a:lnSpc>
                <a:spcPct val="110000"/>
              </a:lnSpc>
              <a:spcAft>
                <a:spcPts val="200"/>
              </a:spcAft>
              <a:buNone/>
            </a:pPr>
            <a:r>
              <a:rPr lang="he-IL" sz="1800" b="0">
                <a:solidFill>
                  <a:srgbClr val="000000"/>
                </a:solidFill>
                <a:latin typeface="Arial"/>
                <a:ea typeface="Arial"/>
                <a:cs typeface="Arial"/>
              </a:rPr>
              <a:t>אי־ודאות בעולם יכולה לעורר סקרנות.</a:t>
            </a:r>
          </a:p>
          <a:p>
            <a:pPr algn="r" rtl="1" marL="0" marR="0" indent="0">
              <a:lnSpc>
                <a:spcPct val="110000"/>
              </a:lnSpc>
              <a:spcAft>
                <a:spcPts val="200"/>
              </a:spcAft>
              <a:buNone/>
            </a:pPr>
            <a:r>
              <a:rPr lang="he-IL" sz="1800" b="0">
                <a:solidFill>
                  <a:srgbClr val="000000"/>
                </a:solidFill>
                <a:latin typeface="Arial"/>
                <a:ea typeface="Arial"/>
                <a:cs typeface="Arial"/>
              </a:rPr>
              <a:t>ההפעלה עצמה צריכה להישאר ברורה.</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TUNIC</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2"/>
              </a:rPr>
              <a:t>קרוג</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3"/>
              </a:rPr>
              <a:t>Hooked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ב־Slay the Spire, איזה סוג בחירה מוצע כאן?</a:t>
            </a:r>
          </a:p>
          <a:p>
            <a:pPr algn="r" rtl="1" marL="0" marR="0" indent="0">
              <a:lnSpc>
                <a:spcPct val="110000"/>
              </a:lnSpc>
              <a:spcAft>
                <a:spcPts val="200"/>
              </a:spcAft>
              <a:buNone/>
            </a:pPr>
            <a:r>
              <a:rPr lang="he-IL" sz="1800" b="0">
                <a:solidFill>
                  <a:srgbClr val="000000"/>
                </a:solidFill>
                <a:latin typeface="Arial"/>
                <a:ea typeface="Arial"/>
                <a:cs typeface="Arial"/>
              </a:rPr>
              <a:t>אחת: פרס בחינם. שתיים: בחירה כפויה. שלוש: יתרון במחיר ויתור.</a:t>
            </a:r>
          </a:p>
          <a:p>
            <a:pPr algn="r" rtl="1" marL="0" marR="0" indent="0">
              <a:lnSpc>
                <a:spcPct val="110000"/>
              </a:lnSpc>
              <a:spcAft>
                <a:spcPts val="200"/>
              </a:spcAft>
              <a:buNone/>
            </a:pPr>
            <a:r>
              <a:rPr lang="he-IL" sz="1800" b="0">
                <a:solidFill>
                  <a:srgbClr val="000000"/>
                </a:solidFill>
                <a:latin typeface="Arial"/>
                <a:ea typeface="Arial"/>
                <a:cs typeface="Arial"/>
              </a:rPr>
              <a:t>קראו את שתי האפשרויות, הצביעו יחד, ותנו סיבה אחת.</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שלוש: מקבלים חמישה קלפי Apparition, ומאבדים מחצית מהחיים המרביים.</a:t>
            </a:r>
          </a:p>
          <a:p>
            <a:pPr algn="r" rtl="1" marL="0" marR="0" indent="0">
              <a:lnSpc>
                <a:spcPct val="110000"/>
              </a:lnSpc>
              <a:spcAft>
                <a:spcPts val="200"/>
              </a:spcAft>
              <a:buNone/>
            </a:pPr>
            <a:r>
              <a:rPr lang="he-IL" sz="1800" b="0">
                <a:solidFill>
                  <a:srgbClr val="000000"/>
                </a:solidFill>
                <a:latin typeface="Arial"/>
                <a:ea typeface="Arial"/>
                <a:cs typeface="Arial"/>
              </a:rPr>
              <a:t>אפשר גם לסרב. היתרון והמחיר גלויים לפני ההחלטה.</a:t>
            </a:r>
          </a:p>
          <a:p>
            <a:pPr algn="r" rtl="1" marL="0" marR="0" indent="0">
              <a:lnSpc>
                <a:spcPct val="110000"/>
              </a:lnSpc>
              <a:spcAft>
                <a:spcPts val="200"/>
              </a:spcAft>
              <a:buNone/>
            </a:pPr>
            <a:r>
              <a:rPr lang="he-IL" sz="1800" b="0">
                <a:solidFill>
                  <a:srgbClr val="000000"/>
                </a:solidFill>
                <a:latin typeface="Arial"/>
                <a:ea typeface="Arial"/>
                <a:cs typeface="Arial"/>
              </a:rPr>
              <a:t>הבחירה תלויה במשמעות הקלפים ובאסטרטגיה של השחקן.</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Slay the Spire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בתמונה הזאת מטוניק, האם ההתחמקות הצליחה?</a:t>
            </a:r>
          </a:p>
          <a:p>
            <a:pPr algn="r" rtl="1" marL="0" marR="0" indent="0">
              <a:lnSpc>
                <a:spcPct val="110000"/>
              </a:lnSpc>
              <a:spcAft>
                <a:spcPts val="200"/>
              </a:spcAft>
              <a:buNone/>
            </a:pPr>
            <a:r>
              <a:rPr lang="he-IL" sz="1800" b="0">
                <a:solidFill>
                  <a:srgbClr val="000000"/>
                </a:solidFill>
                <a:latin typeface="Arial"/>
                <a:ea typeface="Arial"/>
                <a:cs typeface="Arial"/>
              </a:rPr>
              <a:t>אחת: כן. שתיים: אי אפשר לדעת. שלוש: לא.</a:t>
            </a:r>
          </a:p>
          <a:p>
            <a:pPr algn="r" rtl="1" marL="0" marR="0" indent="0">
              <a:lnSpc>
                <a:spcPct val="110000"/>
              </a:lnSpc>
              <a:spcAft>
                <a:spcPts val="200"/>
              </a:spcAft>
              <a:buNone/>
            </a:pPr>
            <a:r>
              <a:rPr lang="he-IL" sz="1800" b="0">
                <a:solidFill>
                  <a:srgbClr val="000000"/>
                </a:solidFill>
                <a:latin typeface="Arial"/>
                <a:ea typeface="Arial"/>
                <a:cs typeface="Arial"/>
              </a:rPr>
              <a:t>חשבו עשר שניות, הצביעו, והסבירו על איזה מידע הסתמכתם.</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שתיים: אי אפשר לדעת מתמונה אחת אם ההתחמקות הצליחה.</a:t>
            </a:r>
          </a:p>
          <a:p>
            <a:pPr algn="r" rtl="1" marL="0" marR="0" indent="0">
              <a:lnSpc>
                <a:spcPct val="110000"/>
              </a:lnSpc>
              <a:spcAft>
                <a:spcPts val="200"/>
              </a:spcAft>
              <a:buNone/>
            </a:pPr>
            <a:r>
              <a:rPr lang="he-IL" sz="1800" b="0">
                <a:solidFill>
                  <a:srgbClr val="000000"/>
                </a:solidFill>
                <a:latin typeface="Arial"/>
                <a:ea typeface="Arial"/>
                <a:cs typeface="Arial"/>
              </a:rPr>
              <a:t>התנוחה והאבק מרמזים על ניסיון, אבל לא רואים את התוצאה.</a:t>
            </a:r>
          </a:p>
          <a:p>
            <a:pPr algn="r" rtl="1" marL="0" marR="0" indent="0">
              <a:lnSpc>
                <a:spcPct val="110000"/>
              </a:lnSpc>
              <a:spcAft>
                <a:spcPts val="200"/>
              </a:spcAft>
              <a:buNone/>
            </a:pPr>
            <a:r>
              <a:rPr lang="he-IL" sz="1800" b="0">
                <a:solidFill>
                  <a:srgbClr val="000000"/>
                </a:solidFill>
                <a:latin typeface="Arial"/>
                <a:ea typeface="Arial"/>
                <a:cs typeface="Arial"/>
              </a:rPr>
              <a:t>נבדוק את תזמון הלחיצה והאם נגרם נזק בזמן משחק.</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TUNIC</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2"/>
              </a:rPr>
              <a:t>קרוג</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book_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משמאל נשמרה בחירה, ומימין מוצגת הריצה הבאה.</a:t>
            </a:r>
          </a:p>
          <a:p>
            <a:pPr algn="r" rtl="1" marL="0" marR="0" indent="0">
              <a:lnSpc>
                <a:spcPct val="110000"/>
              </a:lnSpc>
              <a:spcAft>
                <a:spcPts val="200"/>
              </a:spcAft>
              <a:buNone/>
            </a:pPr>
            <a:r>
              <a:rPr lang="he-IL" sz="1800" b="0">
                <a:solidFill>
                  <a:srgbClr val="000000"/>
                </a:solidFill>
                <a:latin typeface="Arial"/>
                <a:ea typeface="Arial"/>
                <a:cs typeface="Arial"/>
              </a:rPr>
              <a:t>נניח שלא היה שינוי או איפוס בין שני המצבים.</a:t>
            </a:r>
          </a:p>
          <a:p>
            <a:pPr algn="r" rtl="1" marL="0" marR="0" indent="0">
              <a:lnSpc>
                <a:spcPct val="110000"/>
              </a:lnSpc>
              <a:spcAft>
                <a:spcPts val="200"/>
              </a:spcAft>
              <a:buNone/>
            </a:pPr>
            <a:r>
              <a:rPr lang="he-IL" sz="1800" b="0">
                <a:solidFill>
                  <a:srgbClr val="000000"/>
                </a:solidFill>
                <a:latin typeface="Arial"/>
                <a:ea typeface="Arial"/>
                <a:cs typeface="Arial"/>
              </a:rPr>
              <a:t>מה נכשל? אחת: שמירת הבחירה. שתיים: האיור. שלוש: הפרס.</a:t>
            </a:r>
          </a:p>
          <a:p>
            <a:pPr algn="r" rtl="1" marL="0" marR="0" indent="0">
              <a:lnSpc>
                <a:spcPct val="110000"/>
              </a:lnSpc>
              <a:spcAft>
                <a:spcPts val="200"/>
              </a:spcAft>
              <a:buNone/>
            </a:pPr>
            <a:r>
              <a:rPr lang="he-IL" sz="1800" b="0">
                <a:solidFill>
                  <a:srgbClr val="000000"/>
                </a:solidFill>
                <a:latin typeface="Arial"/>
                <a:ea typeface="Arial"/>
                <a:cs typeface="Arial"/>
              </a:rPr>
              <a:t>עשר שניות להתבונן. הצביעו יחד.</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800" b="1">
                <a:solidFill>
                  <a:srgbClr val="000000"/>
                </a:solidFill>
                <a:latin typeface="Arial"/>
                <a:ea typeface="Arial"/>
                <a:cs typeface="Arial"/>
              </a:rPr>
              <a:t>אחרי לחיצה 1</a:t>
            </a:r>
          </a:p>
          <a:p>
            <a:pPr algn="r" rtl="1" marL="0" marR="0" indent="0">
              <a:lnSpc>
                <a:spcPct val="110000"/>
              </a:lnSpc>
              <a:spcAft>
                <a:spcPts val="200"/>
              </a:spcAft>
              <a:buNone/>
            </a:pPr>
            <a:r>
              <a:rPr lang="he-IL" sz="1800" b="0">
                <a:solidFill>
                  <a:srgbClr val="000000"/>
                </a:solidFill>
                <a:latin typeface="Arial"/>
                <a:ea typeface="Arial"/>
                <a:cs typeface="Arial"/>
              </a:rPr>
              <a:t>אחת: נשמר Frost, אבל המשחק התחיל עם Shield.</a:t>
            </a:r>
          </a:p>
          <a:p>
            <a:pPr algn="r" rtl="1" marL="0" marR="0" indent="0">
              <a:lnSpc>
                <a:spcPct val="110000"/>
              </a:lnSpc>
              <a:spcAft>
                <a:spcPts val="200"/>
              </a:spcAft>
              <a:buNone/>
            </a:pPr>
            <a:r>
              <a:rPr lang="he-IL" sz="1800" b="0">
                <a:solidFill>
                  <a:srgbClr val="000000"/>
                </a:solidFill>
                <a:latin typeface="Arial"/>
                <a:ea typeface="Arial"/>
                <a:cs typeface="Arial"/>
              </a:rPr>
              <a:t>בתיקון, Frost מופיע בריצה הבאה. התמונה הקטנה מציגה את המצב הקודם.</a:t>
            </a:r>
          </a:p>
          <a:p>
            <a:pPr algn="r" rtl="1" marL="0" marR="0" indent="0">
              <a:lnSpc>
                <a:spcPct val="110000"/>
              </a:lnSpc>
              <a:spcAft>
                <a:spcPts val="200"/>
              </a:spcAft>
              <a:buNone/>
            </a:pPr>
            <a:r>
              <a:rPr lang="he-IL" sz="1800" b="0">
                <a:solidFill>
                  <a:srgbClr val="000000"/>
                </a:solidFill>
                <a:latin typeface="Arial"/>
                <a:ea typeface="Arial"/>
                <a:cs typeface="Arial"/>
              </a:rPr>
              <a:t>ההשקעה של השחקן צריכה להשפיע בהמשך כפי שהמשחק הבטיח.</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Hooked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hebrew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ברוכים הבאים לתרגול הראשון בקורס פיתוח משחקי מחשב שלנו.</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בסמסטר הזה ניקח רעיון ונבנה ממנו משחק שאנשים יוכלו לשחק.</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היום נכיר את הקורס ונראה איך שופטים החלטות בעיצוב משחקים.</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hebrew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אני ויקטור קושניר, ואהיה המתרגל שלכם בקורס לאורך הסמסטר.</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מרצה הקורס הוא פרופסור אראל סגל הלוי, ופרטי הקשר שלנו מופיעים כאן.</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בתרגולים נעבוד על הכלים ועל היישום שלהם במשחק שאתם מפתחים.</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hebrew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המטרה היא לתכנן ולפתח משחק מקורי משלכם במהלך הסמסטר.</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נשלב החלטות על חוויית המשחק עם תכנות בסי שארפ וביוניטי.</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אפשר להיעזר במשחקי השנים הקודמות כדי להבין את היקף הפרויקט.</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בסיום תציגו את המשחק בפני שופטים מחברות מובילות בתעשיית המשחקים בישראל.</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hebrew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זה קורס שדורש זמן ועבודה רציפה, אבל אפשר לצאת ממנו עם משחק משלכם.</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בכל שבוע תהיה מטלה שמקדמת עוד שלב בפיתוח הפרויקט.</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חלק מהעבודה ידרוש למידה עצמאית ותיאום עם הצוות מחוץ לכיתה.</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כדאי להתחיל מוקדם, לנסות רעיונות קטנים, ולהשאיר זמן לשיפור ולתיקונים.</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hebrew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אין מבחן סופי, והציון מצטבר מהעבודה שלכם במהלך הסמסטר.</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כל מטלה שווה שלוש עד שש נקודות, בהתאם לדרישות שלה.</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מצגת בכיתה שווה שתים־עשרה נקודות ליחיד, והנקודות מתחלקות בין המציגים בקבוצה.</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הדגמה עובדת של חמש דקות ביום המשחקים שווה עשר נקודות.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שלוש הקבוצות שיבחרו שופטי התעשייה יקבלו גם בונוס של עשר נקודות.</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hebrew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מתחילים ברעיון למשחק, עבודה עם GitHub והיכרות עם יוניטי וסי שארפ.</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בהמשך מוסיפים תנועה, פיזיקה וממשק, ומתכננים את הקוד ואת עולם המשחק.</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נעסוק גם ברכיבים דינמיים, בדיקות, שיפור החוויה ומשחקים מרובי משתתפים.</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המטלות השבועיות מקדמות את הפרויקט, ובהמשך מכינים גם סרטון לקראת התחרות.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בסיום מציגים משחק עובד בתחרות, שהתאריך שלה ייקבע בהמשך.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hebrew_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בישראל פועלות חברות שמפתחות משחקים לקהלים שונים ולפלטפורמות שונות.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הדוגמאות כאן הן מובייל, סושיאל קזינו ומשחקים קצרים ופשוטים ללמידה.</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המספרים בתמונה אינם מתוארכים, לכן נתמקד בתחומי הפעילות.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פרויקט הקורס מאפשר לכם להתנסות בפיתוח ולבנות משהו שאפשר להציג.</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hebrew_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ביוניטי נבנה את המשחק ונכתוב התנהגויות בסי שארפ בעזרת רכיבים.</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המנוע תומך בכמה פלטפורמות וכולל כלים לפיזיקה, אנימציה וממשק משתמש.</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העורך מאפשר לנסות רעיון במהירות ולבדוק איך הוא מרגיש במשחק.</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Git שומר את היסטוריית השינויים, ו־GitHub עוזר לנו לעבוד יחד על הפרויקט.</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נשתמש בענפים, במיזוגים ובסקירת שינויים כדי לתאם עבודה ולשמור גרסאות.</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hebrew_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בתחרות הסיום כל צוות מציג משחק מקורי שאפשר לשחק בו בפועל.</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ההדגמה צריכה לפעול לפחות חמש דקות ברצף בלי תקלות משמעותיות.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השופטים מהתעשייה ינסו את המשחק ויחוו בעצמם את מה שבניתם.</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לכן נשקיע ביצירתיות, ביציבות ובפרטים שמשפיעים על החוויה של השחקן.</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hebrew_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כאן נמצאים הקישורים ל־GitHub של הקורס ולאתר הקורס שלנו.</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סרקו את שני הקודים ושמרו את הקישורים להמשך הסמסטר.</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אם אחד הקישורים לא נפתח, אפשר לפנות אליי אחרי התרגול.</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hebrew_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לפני שמסיימים, אילו שאלות נשארו על הקורס או על הפרויקט?</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אפשר לשאול גם על החלטה באחת הדוגמאות שראינו היום.</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אם משהו בהגשות או בציפיות לא ברור, זה הזמן לברר.</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hebrew_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תודה על ההשתתפות ועל המחשבה שהשקעתם בהחלטות הקטנות שראינו היום.</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קחו רעיון קטן, בנו משהו שאפשר לשחק בו, וצפו במישהו מנסה אותו.</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אני מחכה לראות אילו משחקים תבחרו ליצור במהלך הסמסטר הזה.</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65760"/>
            <a:ext cx="5943600" cy="3343275"/>
          </a:xfrm>
        </p:spPr>
      </p:sp>
      <p:sp>
        <p:nvSpPr>
          <p:cNvPr id="3" name="Notes Placeholder 2"/>
          <p:cNvSpPr>
            <a:spLocks noGrp="1"/>
          </p:cNvSpPr>
          <p:nvPr>
            <p:ph type="body" idx="1"/>
          </p:nvPr>
        </p:nvSpPr>
        <p:spPr>
          <a:xfrm>
            <a:off x="457200" y="3931920"/>
            <a:ext cx="5943600" cy="4754880"/>
          </a:xfrm>
        </p:spPr>
        <p:txBody>
          <a:bodyPr wrap="square" anchor="t" lIns="0" rIns="0" tIns="0" bIns="0"/>
          <a:lstStyle/>
          <a:p>
            <a:pPr algn="r" rtl="1" marL="0" marR="0" indent="0">
              <a:lnSpc>
                <a:spcPct val="110000"/>
              </a:lnSpc>
              <a:spcAft>
                <a:spcPts val="200"/>
              </a:spcAft>
              <a:buNone/>
            </a:pPr>
            <a:r>
              <a:rPr lang="he-IL" sz="1800" b="1">
                <a:solidFill>
                  <a:srgbClr val="000000"/>
                </a:solidFill>
                <a:latin typeface="Arial"/>
                <a:ea typeface="Arial"/>
                <a:cs typeface="Arial"/>
              </a:rPr>
              <a:t>בכניסה לשקופית</a:t>
            </a:r>
          </a:p>
          <a:p>
            <a:pPr algn="r" rtl="1" marL="0" marR="0" indent="0">
              <a:lnSpc>
                <a:spcPct val="110000"/>
              </a:lnSpc>
              <a:spcAft>
                <a:spcPts val="200"/>
              </a:spcAft>
              <a:buNone/>
            </a:pPr>
            <a:r>
              <a:rPr lang="he-IL" sz="1800" b="0">
                <a:solidFill>
                  <a:srgbClr val="000000"/>
                </a:solidFill>
                <a:latin typeface="Arial"/>
                <a:ea typeface="Arial"/>
                <a:cs typeface="Arial"/>
              </a:rPr>
              <a:t>אלה הסטודנטים מהמחזור הקודם, שהציגו את המשחקים שלהם בפסטיבל החדשנות תל אביב ספארקס.</a:t>
            </a:r>
          </a:p>
          <a:p>
            <a:pPr algn="r" rtl="1" marL="0" marR="0" indent="0">
              <a:lnSpc>
                <a:spcPct val="110000"/>
              </a:lnSpc>
              <a:spcAft>
                <a:spcPts val="200"/>
              </a:spcAft>
              <a:buNone/>
            </a:pPr>
            <a:r>
              <a:rPr lang="he-IL" sz="1800" b="0">
                <a:solidFill>
                  <a:srgbClr val="000000"/>
                </a:solidFill>
                <a:latin typeface="Arial"/>
                <a:ea typeface="Arial"/>
                <a:cs typeface="Arial"/>
              </a:rPr>
              <a:t>הפרויקטים שלהם הגיעו מהקורס למפגש עם קהל מחוץ לכיתה.</a:t>
            </a:r>
          </a:p>
          <a:p>
            <a:pPr algn="r" rtl="1" marL="0" marR="0" indent="0">
              <a:lnSpc>
                <a:spcPct val="110000"/>
              </a:lnSpc>
              <a:spcAft>
                <a:spcPts val="200"/>
              </a:spcAft>
              <a:buNone/>
            </a:pPr>
            <a:r>
              <a:rPr lang="he-IL" sz="1800" b="0">
                <a:solidFill>
                  <a:srgbClr val="000000"/>
                </a:solidFill>
                <a:latin typeface="Arial"/>
                <a:ea typeface="Arial"/>
                <a:cs typeface="Arial"/>
              </a:rPr>
              <a:t>קוד הסריקה מוביל למשחקים שלהם, וכדאי לשחק בכמה מהם בעצמכם.</a:t>
            </a:r>
          </a:p>
          <a:p>
            <a:pPr algn="r" rtl="1" marL="0" marR="0" indent="0">
              <a:lnSpc>
                <a:spcPct val="110000"/>
              </a:lnSpc>
              <a:spcAft>
                <a:spcPts val="200"/>
              </a:spcAft>
              <a:buNone/>
            </a:pPr>
            <a:r>
              <a:rPr lang="he-IL" sz="1800" b="0">
                <a:solidFill>
                  <a:srgbClr val="000000"/>
                </a:solidFill>
                <a:latin typeface="Arial"/>
                <a:ea typeface="Arial"/>
                <a:cs typeface="Arial"/>
              </a:rPr>
              <a:t>תחשבו איזה רגע מתוך המשחק שלכם הייתם רוצים להראות לקהל כזה.</a:t>
            </a:r>
          </a:p>
          <a:p>
            <a:pPr algn="r" rtl="1" marL="0" marR="0" indent="0">
              <a:lnSpc>
                <a:spcPct val="110000"/>
              </a:lnSpc>
              <a:spcAft>
                <a:spcPts val="200"/>
              </a:spcAft>
              <a:buNone/>
            </a:pPr>
            <a:endParaRPr lang="he-IL" sz="1000"/>
          </a:p>
          <a:p>
            <a:pPr algn="r" rtl="1" marL="0" marR="0" indent="0">
              <a:lnSpc>
                <a:spcPct val="110000"/>
              </a:lnSpc>
              <a:spcAft>
                <a:spcPts val="200"/>
              </a:spcAft>
              <a:buNone/>
            </a:pPr>
            <a:r>
              <a:rPr lang="he-IL" sz="1400" b="0">
                <a:solidFill>
                  <a:srgbClr val="666666"/>
                </a:solidFill>
                <a:latin typeface="Arial"/>
                <a:ea typeface="Arial"/>
                <a:cs typeface="Arial"/>
              </a:rPr>
              <a:t>לעיון: </a:t>
            </a:r>
            <a:r>
              <a:rPr lang="he-IL" sz="1400" b="0">
                <a:solidFill>
                  <a:srgbClr val="365F91"/>
                </a:solidFill>
                <a:latin typeface="Arial"/>
                <a:ea typeface="Arial"/>
                <a:cs typeface="Arial"/>
                <a:hlinkClick r:id="hebrewSource1"/>
              </a:rPr>
              <a:t>תל אביב ספארקס</a:t>
            </a:r>
            <a:r>
              <a:rPr lang="he-IL" sz="1400" b="0">
                <a:solidFill>
                  <a:srgbClr val="666666"/>
                </a:solidFill>
                <a:latin typeface="Arial"/>
                <a:ea typeface="Arial"/>
                <a:cs typeface="Arial"/>
              </a:rPr>
              <a:t> · </a:t>
            </a:r>
            <a:r>
              <a:rPr lang="he-IL" sz="1400" b="0">
                <a:solidFill>
                  <a:srgbClr val="365F91"/>
                </a:solidFill>
                <a:latin typeface="Arial"/>
                <a:ea typeface="Arial"/>
                <a:cs typeface="Arial"/>
                <a:hlinkClick r:id="hebrewSource2"/>
              </a:rPr>
              <a:t>משחקי המחזור הקודם</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Papers, Please was developed by Lucas Pope and published by his company 3909. Official credits: https://store.steampowered.com/app/239030/Papers_Please/ and https://3909.co/ .</a:t>
            </a:r>
          </a:p>
          <a:p>
            <a:r>
              <a:t>Balatro was developed by LocalThunk and published by Playstack. Its publisher announced over 5 million units sold across platforms on 21 January 2025: https://www.playstack.com/news/balatro-5-million-copies-sold/ . These are units sold, not developer earnings, and exceptional successes rather than typical outcomes. Solo development may still involve contributors, contractors and publishing support. Creator account: https://localthunk.com/blog/balatro-timeline-3aarh .</a:t>
            </a:r>
          </a:p>
          <a:p>
            <a:endParaRPr/>
          </a:p>
          <a:p>
            <a:r>
              <a:t>Images:</a:t>
            </a:r>
          </a:p>
          <a:p>
            <a:r>
              <a:t>Papers, Please — Lucas Pope; published by 3909.</a:t>
            </a:r>
          </a:p>
          <a:p>
            <a:r>
              <a:t>Source: https://store.steampowered.com/app/239030/Papers_Please/</a:t>
            </a:r>
          </a:p>
          <a:p>
            <a:r>
              <a:t>Asset: https://shared.akamai.steamstatic.com/store_item_assets/steam/apps/239030/ss_4b50458fbc4afe2917803b59a35afb3e5d61c960.1920x1080.jpg?t=1678266428</a:t>
            </a:r>
          </a:p>
          <a:p>
            <a:endParaRPr/>
          </a:p>
          <a:p>
            <a:r>
              <a:t>Balatro — LocalThunk; published by Playstack.</a:t>
            </a:r>
          </a:p>
          <a:p>
            <a:r>
              <a:t>Source: https://store.steampowered.com/app/2379780/Balatro/</a:t>
            </a:r>
          </a:p>
          <a:p>
            <a:r>
              <a:t>Asset: https://shared.akamai.steamstatic.com/store_item_assets/steam/apps/2379780/ss_4862112e5030f74a5818cd4c31347d699ac5adf3.1920x1080.jpg?t=1790693638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calculations, not forecasts or expected monthly salaries. Steam: 1,000 copies at an assumed realized price of USD 10 = USD 10,000 sales revenue; multiplying by 70% after an assumed 30% store fee gives USD 7,000. Google Play: 1,000 copies at USD 3 = USD 3,000; multiplying by 85% after an assumed eligible 15% total fee gives USD 2,550.</a:t>
            </a:r>
          </a:p>
          <a:p>
            <a:r>
              <a:t>The display is a simplified fee-only calculation: it assumes no sales taxes or refunds in the input, and excludes development costs, launch/account fees, marketing, income taxes, withholding and any publisher share. Do not call these amounts profit or take-home pay.</a:t>
            </a:r>
          </a:p>
          <a:p>
            <a:r>
              <a:t>Google fee eligibility and regional/billing arrangements vary. Current first-USD-1M structures include a 10% service fee plus a 5% billing fee in specified markets and an enrolled 15% tier elsewhere: https://support.google.com/googleplay/android-developer/answer/112622?hl=en .</a:t>
            </a:r>
          </a:p>
          <a:p>
            <a:r>
              <a:t>Steam financial reports distinguish headline revenue from deductions and actual payouts: https://partner.steamgames.com/doc/finance/payments_salesreporting . Steam revenue-sharing announcement: https://steamcommunity.com/groups/steamworks/announcements/detail/1697191267930157838 .</a:t>
            </a:r>
          </a:p>
          <a:p>
            <a:endParaRPr/>
          </a:p>
          <a:p>
            <a:r>
              <a:t>Images: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Vampire Survivors is shown as an example of an Android game whose official Google Play listing includes advertising and in-app purchases: https://play.google.com/store/apps/details?id=com.poncle.vampiresurvivors&amp;hl=en . The image is an official store screenshot and includes its original promotional text.</a:t>
            </a:r>
          </a:p>
          <a:p>
            <a:r>
              <a:t>The income example is hypothetical, not Vampire Survivors revenue or audience data. Assume 1,000 daily active players, an average of 2 ads actually displayed to each active player per day, 30 days, and USD 5 publisher earnings per 1,000 impressions. 1,000 × 2 × 30 = 60,000 impressions; 60,000 / 1,000 × USD 5 = USD 300 monthly advertising revenue before costs and taxes. USD 5 is an illustrative assumption, not a market benchmark. Ad earnings vary with audience, geography, format, demand and retention. Do not apply the paid-app Play fee to this ad-revenue estimate.</a:t>
            </a:r>
          </a:p>
          <a:p>
            <a:r>
              <a:t>AdMob eCPM definition and earnings formula: https://support.google.com/admob/table/16327896?hl=en-GB .</a:t>
            </a:r>
          </a:p>
          <a:p>
            <a:endParaRPr/>
          </a:p>
          <a:p>
            <a:r>
              <a:t>Images:</a:t>
            </a:r>
          </a:p>
          <a:p>
            <a:r>
              <a:t>Vampire Survivors — Poncle. Android listing includes ads and in-app purchases.</a:t>
            </a:r>
          </a:p>
          <a:p>
            <a:r>
              <a:t>Source: https://play.google.com/store/apps/details?id=com.poncle.vampiresurvivors&amp;hl=en</a:t>
            </a:r>
          </a:p>
          <a:p>
            <a:r>
              <a:t>Asset: https://play-lh.googleusercontent.com/C7J79Oh4ftJ3DzxayW04u5ZFrG5jQ_Bi5PE1G7OmrYcRdPKS-U9MPuoTmsZ2Fpz-hP7Ffp-ySp9-QeOx567scwk=w1080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size and publishing route are separate choices: a solo developer can self-publish or work with a publisher. Self-publishing avoids a separate publisher revenue share, but the developer still bears store fees and business costs and must fund or arrange development and launch. Publishers may provide funding, marketing, production, QA, localization and ports, depending on the specific agreement. Revenue splits and recoupment are contractual, not universal. Recoupment means agreed advances/costs may be recovered from sales before royalties are paid, or via another agreed recovery schedule.</a:t>
            </a:r>
          </a:p>
          <a:p>
            <a:r>
              <a:t>LocalThunk describes Playstack development funding that replaced his IT salary, release planning, localization and day-one console ports: https://localthunk.com/blog/balatro-timeline-3aarh .</a:t>
            </a:r>
          </a:p>
          <a:p>
            <a:r>
              <a:t>Raw Fury describes project-specific services, funding, and which external costs enter recoupable budgets: https://rawfury.com/developer-resources/ .</a:t>
            </a:r>
          </a:p>
          <a:p>
            <a:r>
              <a:t>Closing prompt for students: This semester, build something someone wants to play.</a:t>
            </a:r>
          </a:p>
          <a:p>
            <a:endParaRPr/>
          </a:p>
          <a:p>
            <a:r>
              <a:t>Images:</a:t>
            </a:r>
          </a:p>
          <a:p>
            <a:r>
              <a:t>Balatro — LocalThunk + Playstack, developer and publisher.</a:t>
            </a:r>
          </a:p>
          <a:p>
            <a:r>
              <a:t>Source: https://store.steampowered.com/app/2379780/Balatro/</a:t>
            </a:r>
          </a:p>
          <a:p>
            <a:r>
              <a:t>Asset: https://shared.akamai.steamstatic.com/store_item_assets/steam/apps/2379780/ss_3be65a7dd3be072d567e11883d208861a7e959fa.1920x1080.jpg?t=1790693638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redesign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את Papers, Please יצר לוקאס פופ והוציא בהוצאה עצמית.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את Balatro יצר LocalThunk, בשיתוף המפיצה Playstack שמופיעה כאן.</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כל משחק עבר חמישה מיליון עותקים בכלל הפלטפורמות, במועד שמופיע בשקופית.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אלה הצלחות חריגות, לא תוצאות טיפוסיות או הכנסה אישית של המפתח.</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פיתוח שמוביל אדם אחד עדיין יכול לכלול שותפים ושירותים מקצועיים.</ns0:t>
            </ns0:r>
          </ns0:p>
          <ns0:p xmlns:ns0="http://schemas.openxmlformats.org/drawingml/2006/main">
            <ns0:pPr algn="r" rtl="1" marL="0" marR="0" indent="0">
              <ns0:lnSpc>
                <ns0:spcPct val="110000"/>
              </ns0:lnSpc>
              <ns0:spcAft>
                <ns0:spcPts val="200"/>
              </ns0:spcAft>
              <ns0:buNone/>
            </ns0:pPr>
            <ns0:endParaRPr lang="he-IL" sz="1000"/>
          </ns0:p>
          <ns0:p xmlns:ns0="http://schemas.openxmlformats.org/drawingml/2006/main">
            <ns0:pPr algn="r" rtl="1" marL="0" marR="0" indent="0">
              <ns0:lnSpc>
                <ns0:spcPct val="110000"/>
              </ns0:lnSpc>
              <ns0:spcAft>
                <ns0:spcPts val="200"/>
              </ns0:spcAft>
              <ns0:buNone/>
            </ns0:pPr>
            <ns0:r>
              <ns0:rPr lang="he-IL" sz="1400" b="0">
                <ns0:solidFill>
                  <ns0:srgbClr val="666666"/>
                </ns0:solidFill>
                <ns0:latin typeface="Arial"/>
                <ns0:ea typeface="Arial"/>
                <ns0:cs typeface="Arial"/>
              </ns0:rPr>
              <ns0:t>לעיון: </ns0:t>
            </ns0:r>
            <ns0:r>
              <ns0:rPr lang="he-IL" sz="1400" b="0">
                <ns0:solidFill>
                  <ns0:srgbClr val="365F91"/>
                </ns0:solidFill>
                <ns0:latin typeface="Arial"/>
                <ns0:ea typeface="Arial"/>
                <ns0:cs typeface="Arial"/>
                <ns0:hlinkClick xmlns:ns1="http://schemas.openxmlformats.org/officeDocument/2006/relationships" ns1:id="hebrewSource1"/>
              </ns0:rPr>
              <ns0:t>דיווח לוקאס פופ</ns0:t>
            </ns0:r>
            <ns0:r>
              <ns0:rPr lang="he-IL" sz="1400" b="0">
                <ns0:solidFill>
                  <ns0:srgbClr val="666666"/>
                </ns0:solidFill>
                <ns0:latin typeface="Arial"/>
                <ns0:ea typeface="Arial"/>
                <ns0:cs typeface="Arial"/>
              </ns0:rPr>
              <ns0:t> · </ns0:t>
            </ns0:r>
            <ns0:r>
              <ns0:rPr lang="he-IL" sz="1400" b="0">
                <ns0:solidFill>
                  <ns0:srgbClr val="365F91"/>
                </ns0:solidFill>
                <ns0:latin typeface="Arial"/>
                <ns0:ea typeface="Arial"/>
                <ns0:cs typeface="Arial"/>
                <ns0:hlinkClick xmlns:ns1="http://schemas.openxmlformats.org/officeDocument/2006/relationships" ns1:id="hebrewSource2"/>
              </ns0:rPr>
              <ns0:t>דיווח Playstack</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edesign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אלה תרחישי מכירות לדוגמה בדולרים, לפי ההנחות שמופיעות בטבלה.</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בסטים הנחנו מחיר של 10 דולר ועמלת חנות של 30 אחוזים.</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אלף עותקים נותנים כאן 7,000 דולר, ועשרת אלפים נותנים 70,000.</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בגוגל פליי הנחנו מחיר של 3 דולר ועמלה של 15 אחוזים, במסלול זכאי.</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אותם היקפי מכירות נותנים שם 2,550 או 25,500 דולר.</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הסכומים הם אחרי עמלת החנות, ולפני מסים, החזרים, עלויות וחלק למפיץ.</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החישוב ממחיש אפשרות. הוא לא מבטיח שהמשחק ימכור בהיקפים האלה.</ns0:t>
            </ns0:r>
          </ns0:p>
          <ns0:p xmlns:ns0="http://schemas.openxmlformats.org/drawingml/2006/main">
            <ns0:pPr algn="r" rtl="1" marL="0" marR="0" indent="0">
              <ns0:lnSpc>
                <ns0:spcPct val="110000"/>
              </ns0:lnSpc>
              <ns0:spcAft>
                <ns0:spcPts val="200"/>
              </ns0:spcAft>
              <ns0:buNone/>
            </ns0:pPr>
            <ns0:endParaRPr lang="he-IL" sz="1000"/>
          </ns0:p>
          <ns0:p xmlns:ns0="http://schemas.openxmlformats.org/drawingml/2006/main">
            <ns0:pPr algn="r" rtl="1" marL="0" marR="0" indent="0">
              <ns0:lnSpc>
                <ns0:spcPct val="110000"/>
              </ns0:lnSpc>
              <ns0:spcAft>
                <ns0:spcPts val="200"/>
              </ns0:spcAft>
              <ns0:buNone/>
            </ns0:pPr>
            <ns0:r>
              <ns0:rPr lang="he-IL" sz="1400" b="0">
                <ns0:solidFill>
                  <ns0:srgbClr val="666666"/>
                </ns0:solidFill>
                <ns0:latin typeface="Arial"/>
                <ns0:ea typeface="Arial"/>
                <ns0:cs typeface="Arial"/>
              </ns0:rPr>
              <ns0:t>לעיון: </ns0:t>
            </ns0:r>
            <ns0:r>
              <ns0:rPr lang="he-IL" sz="1400" b="0">
                <ns0:solidFill>
                  <ns0:srgbClr val="365F91"/>
                </ns0:solidFill>
                <ns0:latin typeface="Arial"/>
                <ns0:ea typeface="Arial"/>
                <ns0:cs typeface="Arial"/>
                <ns0:hlinkClick xmlns:ns1="http://schemas.openxmlformats.org/officeDocument/2006/relationships" ns1:id="hebrewSource1"/>
              </ns0:rPr>
              <ns0:t>עמלות Google Play</ns0:t>
            </ns0:r>
            <ns0:r>
              <ns0:rPr lang="he-IL" sz="1400" b="0">
                <ns0:solidFill>
                  <ns0:srgbClr val="666666"/>
                </ns0:solidFill>
                <ns0:latin typeface="Arial"/>
                <ns0:ea typeface="Arial"/>
                <ns0:cs typeface="Arial"/>
              </ns0:rPr>
              <ns0:t> · </ns0:t>
            </ns0:r>
            <ns0:r>
              <ns0:rPr lang="he-IL" sz="1400" b="0">
                <ns0:solidFill>
                  <ns0:srgbClr val="365F91"/>
                </ns0:solidFill>
                <ns0:latin typeface="Arial"/>
                <ns0:ea typeface="Arial"/>
                <ns0:cs typeface="Arial"/>
                <ns0:hlinkClick xmlns:ns1="http://schemas.openxmlformats.org/officeDocument/2006/relationships" ns1:id="hebrewSource2"/>
              </ns0:rPr>
              <ns0:t>דיווחי Steam</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edesign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Vampire Survivors מדגים משחק חינמי עם פרסומות, אבל המספרים כאן הם הנחות שלנו.</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נניח אלף שחקנים ביום, שתי פרסומות לכל שחקן, במשך שלושים יום.</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זה נותן שישים אלף חשיפות לפרסומות בחודש, בהנחה שכולן אכן הוצגו.</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דולר, חמישה או עשרה לאלף חשיפות נותנים בהתאמה 60, 300 או 600 דולר בחודש.</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אלה הכנסות מחושבות לפני הוצאות ומסים, ולא נתוני המשחק או הבטחת הכנסה.</ns0:t>
            </ns0:r>
          </ns0:p>
          <ns0:p xmlns:ns0="http://schemas.openxmlformats.org/drawingml/2006/main">
            <ns0:pPr algn="r" rtl="1" marL="0" marR="0" indent="0">
              <ns0:lnSpc>
                <ns0:spcPct val="110000"/>
              </ns0:lnSpc>
              <ns0:spcAft>
                <ns0:spcPts val="200"/>
              </ns0:spcAft>
              <ns0:buNone/>
            </ns0:pPr>
            <ns0:endParaRPr lang="he-IL" sz="1000"/>
          </ns0:p>
          <ns0:p xmlns:ns0="http://schemas.openxmlformats.org/drawingml/2006/main">
            <ns0:pPr algn="r" rtl="1" marL="0" marR="0" indent="0">
              <ns0:lnSpc>
                <ns0:spcPct val="110000"/>
              </ns0:lnSpc>
              <ns0:spcAft>
                <ns0:spcPts val="200"/>
              </ns0:spcAft>
              <ns0:buNone/>
            </ns0:pPr>
            <ns0:r>
              <ns0:rPr lang="he-IL" sz="1400" b="0">
                <ns0:solidFill>
                  <ns0:srgbClr val="666666"/>
                </ns0:solidFill>
                <ns0:latin typeface="Arial"/>
                <ns0:ea typeface="Arial"/>
                <ns0:cs typeface="Arial"/>
              </ns0:rPr>
              <ns0:t>לעיון: </ns0:t>
            </ns0:r>
            <ns0:r>
              <ns0:rPr lang="he-IL" sz="1400" b="0">
                <ns0:solidFill>
                  <ns0:srgbClr val="365F91"/>
                </ns0:solidFill>
                <ns0:latin typeface="Arial"/>
                <ns0:ea typeface="Arial"/>
                <ns0:cs typeface="Arial"/>
                <ns0:hlinkClick xmlns:ns1="http://schemas.openxmlformats.org/officeDocument/2006/relationships" ns1:id="hebrewSource1"/>
              </ns0:rPr>
              <ns0:t>Vampire Survivors</ns0:t>
            </ns0:r>
            <ns0:r>
              <ns0:rPr lang="he-IL" sz="1400" b="0">
                <ns0:solidFill>
                  <ns0:srgbClr val="666666"/>
                </ns0:solidFill>
                <ns0:latin typeface="Arial"/>
                <ns0:ea typeface="Arial"/>
                <ns0:cs typeface="Arial"/>
              </ns0:rPr>
              <ns0:t> · </ns0:t>
            </ns0:r>
            <ns0:r>
              <ns0:rPr lang="he-IL" sz="1400" b="0">
                <ns0:solidFill>
                  <ns0:srgbClr val="365F91"/>
                </ns0:solidFill>
                <ns0:latin typeface="Arial"/>
                <ns0:ea typeface="Arial"/>
                <ns0:cs typeface="Arial"/>
                <ns0:hlinkClick xmlns:ns1="http://schemas.openxmlformats.org/officeDocument/2006/relationships" ns1:id="hebrewSource2"/>
              </ns0:rPr>
              <ns0:t>נתוני AdMob</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edesign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ns0:xfrm xmlns:ns0="http://schemas.openxmlformats.org/drawingml/2006/main">
            <ns0:off x="457200" y="365760"/>
            <ns0:ext cx="5943600" cy="3343275"/>
          </ns0:xfrm>
        </p:spPr>
      </p:sp>
      <p:sp>
        <p:nvSpPr>
          <p:cNvPr id="3" name="Notes Placeholder 2"/>
          <p:cNvSpPr>
            <a:spLocks xmlns:a="http://schemas.openxmlformats.org/drawingml/2006/main" noGrp="1"/>
          </p:cNvSpPr>
          <p:nvPr>
            <p:ph type="body" idx="1"/>
          </p:nvPr>
        </p:nvSpPr>
        <p:spPr>
          <ns0:xfrm xmlns:ns0="http://schemas.openxmlformats.org/drawingml/2006/main">
            <ns0:off x="457200" y="3931920"/>
            <ns0:ext cx="5943600" cy="4754880"/>
          </ns0:xfrm>
        </p:spPr>
        <p:txBody>
          <ns0:bodyPr xmlns:ns0="http://schemas.openxmlformats.org/drawingml/2006/main" wrap="square" anchor="t" lIns="0" rIns="0" tIns="0" bIns="0"/>
          <ns1:lstStyle xmlns:ns1="http://schemas.openxmlformats.org/drawingml/2006/main"/>
          <ns0:p xmlns:ns0="http://schemas.openxmlformats.org/drawingml/2006/main">
            <ns0:pPr algn="r" rtl="1" marL="0" marR="0" indent="0">
              <ns0:lnSpc>
                <ns0:spcPct val="110000"/>
              </ns0:lnSpc>
              <ns0:spcAft>
                <ns0:spcPts val="200"/>
              </ns0:spcAft>
              <ns0:buNone/>
            </ns0:pPr>
            <ns0:r>
              <ns0:rPr lang="he-IL" sz="1800" b="1">
                <ns0:solidFill>
                  <ns0:srgbClr val="000000"/>
                </ns0:solidFill>
                <ns0:latin typeface="Arial"/>
                <ns0:ea typeface="Arial"/>
                <ns0:cs typeface="Arial"/>
              </ns0:rPr>
              <ns0:t>בכניסה לשקופית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בהוצאה עצמית אתם מממנים ומנהלים את ההשקה, בלי חלק נוסף למפיץ.</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עדיין משלמים עמלות לחנויות ונושאים בעלויות הפיתוח והשיווק של המשחק.</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ב־Balatro, המפיצה Playstack סייעה במימון, התאמה לשפות והעברה לקונסולות.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בדוגמה החוזית כאן מחזירים הוצאות מוסכמות, ואז מחלקים את ההכנסות.</ns0:t>
            </ns0:r>
          </ns0:p>
          <ns0:p xmlns:ns0="http://schemas.openxmlformats.org/drawingml/2006/main">
            <ns0:pPr algn="r" rtl="1" marL="0" marR="0" indent="0">
              <ns0:lnSpc>
                <ns0:spcPct val="110000"/>
              </ns0:lnSpc>
              <ns0:spcAft>
                <ns0:spcPts val="200"/>
              </ns0:spcAft>
              <ns0:buNone/>
            </ns0:pPr>
            <ns0:r>
              <ns0:rPr lang="he-IL" sz="1800" b="0">
                <ns0:solidFill>
                  <ns0:srgbClr val="000000"/>
                </ns0:solidFill>
                <ns0:latin typeface="Arial"/>
                <ns0:ea typeface="Arial"/>
                <ns0:cs typeface="Arial"/>
              </ns0:rPr>
              <ns0:t>זה מודל אפשרי בלבד, לא החוזה של Balatro, והתנאים משתנים בין מפיצים.</ns0:t>
            </ns0:r>
          </ns0:p>
          <ns0:p xmlns:ns0="http://schemas.openxmlformats.org/drawingml/2006/main">
            <ns0:pPr algn="r" rtl="1" marL="0" marR="0" indent="0">
              <ns0:lnSpc>
                <ns0:spcPct val="110000"/>
              </ns0:lnSpc>
              <ns0:spcAft>
                <ns0:spcPts val="200"/>
              </ns0:spcAft>
              <ns0:buNone/>
            </ns0:pPr>
            <ns0:endParaRPr lang="he-IL" sz="1000"/>
          </ns0:p>
          <ns0:p xmlns:ns0="http://schemas.openxmlformats.org/drawingml/2006/main">
            <ns0:pPr algn="r" rtl="1" marL="0" marR="0" indent="0">
              <ns0:lnSpc>
                <ns0:spcPct val="110000"/>
              </ns0:lnSpc>
              <ns0:spcAft>
                <ns0:spcPts val="200"/>
              </ns0:spcAft>
              <ns0:buNone/>
            </ns0:pPr>
            <ns0:r>
              <ns0:rPr lang="he-IL" sz="1400" b="0">
                <ns0:solidFill>
                  <ns0:srgbClr val="666666"/>
                </ns0:solidFill>
                <ns0:latin typeface="Arial"/>
                <ns0:ea typeface="Arial"/>
                <ns0:cs typeface="Arial"/>
              </ns0:rPr>
              <ns0:t>לעיון: </ns0:t>
            </ns0:r>
            <ns0:r>
              <ns0:rPr lang="he-IL" sz="1400" b="0">
                <ns0:solidFill>
                  <ns0:srgbClr val="365F91"/>
                </ns0:solidFill>
                <ns0:latin typeface="Arial"/>
                <ns0:ea typeface="Arial"/>
                <ns0:cs typeface="Arial"/>
                <ns0:hlinkClick xmlns:ns1="http://schemas.openxmlformats.org/officeDocument/2006/relationships" ns1:id="hebrewSource1"/>
              </ns0:rPr>
              <ns0:t>LocalThunk</ns0:t>
            </ns0:r>
            <ns0:r>
              <ns0:rPr lang="he-IL" sz="1400" b="0">
                <ns0:solidFill>
                  <ns0:srgbClr val="666666"/>
                </ns0:solidFill>
                <ns0:latin typeface="Arial"/>
                <ns0:ea typeface="Arial"/>
                <ns0:cs typeface="Arial"/>
              </ns0:rPr>
              <ns0:t> · </ns0:t>
            </ns0:r>
            <ns0:r>
              <ns0:rPr lang="he-IL" sz="1400" b="0">
                <ns0:solidFill>
                  <ns0:srgbClr val="365F91"/>
                </ns0:solidFill>
                <ns0:latin typeface="Arial"/>
                <ns0:ea typeface="Arial"/>
                <ns0:cs typeface="Arial"/>
                <ns0:hlinkClick xmlns:ns1="http://schemas.openxmlformats.org/officeDocument/2006/relationships" ns1:id="hebrewSource2"/>
              </ns0:rPr>
              <ns0:t>דוגמת הסכם Raw Fury</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book_slide1.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1.xml"/><Relationship Id="rId1" Type="http://schemas.openxmlformats.org/officeDocument/2006/relationships/slideLayout" Target="../slideLayouts/slideLayout7.xml"/><Relationship Id="rId5" Type="http://schemas.openxmlformats.org/officeDocument/2006/relationships/image" Target="../media/book_image3.png"/><Relationship Id="rId4" Type="http://schemas.openxmlformats.org/officeDocument/2006/relationships/image" Target="../media/book_image2.png"/></Relationships>
</file>

<file path=ppt/slides/_rels/book_slide2.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2.xml"/><Relationship Id="rId1" Type="http://schemas.openxmlformats.org/officeDocument/2006/relationships/slideLayout" Target="../slideLayouts/slideLayout7.xml"/><Relationship Id="rId6" Type="http://schemas.openxmlformats.org/officeDocument/2006/relationships/image" Target="../media/book_image5.png"/><Relationship Id="rId5" Type="http://schemas.openxmlformats.org/officeDocument/2006/relationships/image" Target="../media/book_image4.png"/><Relationship Id="rId4" Type="http://schemas.openxmlformats.org/officeDocument/2006/relationships/image" Target="../media/book_image2.png"/></Relationships>
</file>

<file path=ppt/slides/_rels/book_slide3.xml.rels><?xml version='1.0' encoding='UTF-8' standalone='yes'?>
<Relationships xmlns="http://schemas.openxmlformats.org/package/2006/relationships"><Relationship Id="rId3" Type="http://schemas.openxmlformats.org/officeDocument/2006/relationships/image" Target="../media/book_image1.png"/><Relationship Id="rId7" Type="http://schemas.openxmlformats.org/officeDocument/2006/relationships/image" Target="../media/book_image8.png"/><Relationship Id="rId2" Type="http://schemas.openxmlformats.org/officeDocument/2006/relationships/notesSlide" Target="../notesSlides/book_notesSlide3.xml"/><Relationship Id="rId1" Type="http://schemas.openxmlformats.org/officeDocument/2006/relationships/slideLayout" Target="../slideLayouts/slideLayout7.xml"/><Relationship Id="rId6" Type="http://schemas.openxmlformats.org/officeDocument/2006/relationships/image" Target="../media/book_image7.png"/><Relationship Id="rId5" Type="http://schemas.openxmlformats.org/officeDocument/2006/relationships/image" Target="../media/book_image6.png"/><Relationship Id="rId4" Type="http://schemas.openxmlformats.org/officeDocument/2006/relationships/image" Target="../media/book_image2.png"/></Relationships>
</file>

<file path=ppt/slides/_rels/book_slide4.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4.xml"/><Relationship Id="rId1" Type="http://schemas.openxmlformats.org/officeDocument/2006/relationships/slideLayout" Target="../slideLayouts/slideLayout7.xml"/><Relationship Id="rId6" Type="http://schemas.openxmlformats.org/officeDocument/2006/relationships/image" Target="../media/book_image10.png"/><Relationship Id="rId5" Type="http://schemas.openxmlformats.org/officeDocument/2006/relationships/image" Target="../media/book_image9.png"/><Relationship Id="rId4" Type="http://schemas.openxmlformats.org/officeDocument/2006/relationships/image" Target="../media/book_image2.png"/></Relationships>
</file>

<file path=ppt/slides/_rels/book_slide5.xml.rels><?xml version='1.0' encoding='UTF-8' standalone='yes'?>
<Relationships xmlns="http://schemas.openxmlformats.org/package/2006/relationships"><Relationship Id="rId3" Type="http://schemas.openxmlformats.org/officeDocument/2006/relationships/image" Target="../media/book_image1.png"/><Relationship Id="rId7" Type="http://schemas.openxmlformats.org/officeDocument/2006/relationships/image" Target="../media/book_image13.png"/><Relationship Id="rId2" Type="http://schemas.openxmlformats.org/officeDocument/2006/relationships/notesSlide" Target="../notesSlides/book_notesSlide5.xml"/><Relationship Id="rId1" Type="http://schemas.openxmlformats.org/officeDocument/2006/relationships/slideLayout" Target="../slideLayouts/slideLayout7.xml"/><Relationship Id="rId6" Type="http://schemas.openxmlformats.org/officeDocument/2006/relationships/image" Target="../media/book_image12.png"/><Relationship Id="rId5" Type="http://schemas.openxmlformats.org/officeDocument/2006/relationships/image" Target="../media/book_image11.png"/><Relationship Id="rId4" Type="http://schemas.openxmlformats.org/officeDocument/2006/relationships/image" Target="../media/book_image2.png"/></Relationships>
</file>

<file path=ppt/slides/_rels/book_slide6.xml.rels><?xml version='1.0' encoding='UTF-8' standalone='yes'?>
<Relationships xmlns="http://schemas.openxmlformats.org/package/2006/relationships"><Relationship Id="rId3" Type="http://schemas.openxmlformats.org/officeDocument/2006/relationships/image" Target="../media/book_image1.png"/><Relationship Id="rId7" Type="http://schemas.openxmlformats.org/officeDocument/2006/relationships/image" Target="../media/book_image16.png"/><Relationship Id="rId2" Type="http://schemas.openxmlformats.org/officeDocument/2006/relationships/notesSlide" Target="../notesSlides/book_notesSlide6.xml"/><Relationship Id="rId1" Type="http://schemas.openxmlformats.org/officeDocument/2006/relationships/slideLayout" Target="../slideLayouts/slideLayout7.xml"/><Relationship Id="rId6" Type="http://schemas.openxmlformats.org/officeDocument/2006/relationships/image" Target="../media/book_image15.png"/><Relationship Id="rId5" Type="http://schemas.openxmlformats.org/officeDocument/2006/relationships/image" Target="../media/book_image14.png"/><Relationship Id="rId4" Type="http://schemas.openxmlformats.org/officeDocument/2006/relationships/image" Target="../media/book_image2.png"/></Relationships>
</file>

<file path=ppt/slides/_rels/book_slide7.xml.rels><?xml version='1.0' encoding='UTF-8' standalone='yes'?>
<Relationships xmlns="http://schemas.openxmlformats.org/package/2006/relationships"><Relationship Id="rId8" Type="http://schemas.openxmlformats.org/officeDocument/2006/relationships/image" Target="../media/book_image20.png"/><Relationship Id="rId3" Type="http://schemas.openxmlformats.org/officeDocument/2006/relationships/image" Target="../media/book_image1.png"/><Relationship Id="rId7" Type="http://schemas.openxmlformats.org/officeDocument/2006/relationships/image" Target="../media/book_image19.png"/><Relationship Id="rId2" Type="http://schemas.openxmlformats.org/officeDocument/2006/relationships/notesSlide" Target="../notesSlides/book_notesSlide7.xml"/><Relationship Id="rId1" Type="http://schemas.openxmlformats.org/officeDocument/2006/relationships/slideLayout" Target="../slideLayouts/slideLayout7.xml"/><Relationship Id="rId6" Type="http://schemas.openxmlformats.org/officeDocument/2006/relationships/image" Target="../media/book_image18.png"/><Relationship Id="rId5" Type="http://schemas.openxmlformats.org/officeDocument/2006/relationships/image" Target="../media/book_image17.png"/><Relationship Id="rId10" Type="http://schemas.openxmlformats.org/officeDocument/2006/relationships/image" Target="../media/book_image22.png"/><Relationship Id="rId4" Type="http://schemas.openxmlformats.org/officeDocument/2006/relationships/image" Target="../media/book_image2.png"/><Relationship Id="rId9" Type="http://schemas.openxmlformats.org/officeDocument/2006/relationships/image" Target="../media/book_image21.png"/></Relationships>
</file>

<file path=ppt/slides/_rels/book_slide8.xml.rels><?xml version='1.0' encoding='UTF-8' standalone='yes'?>
<Relationships xmlns="http://schemas.openxmlformats.org/package/2006/relationships"><Relationship Id="rId3" Type="http://schemas.openxmlformats.org/officeDocument/2006/relationships/image" Target="../media/book_image1.png"/><Relationship Id="rId7" Type="http://schemas.openxmlformats.org/officeDocument/2006/relationships/image" Target="../media/book_image25.png"/><Relationship Id="rId2" Type="http://schemas.openxmlformats.org/officeDocument/2006/relationships/notesSlide" Target="../notesSlides/book_notesSlide8.xml"/><Relationship Id="rId1" Type="http://schemas.openxmlformats.org/officeDocument/2006/relationships/slideLayout" Target="../slideLayouts/slideLayout7.xml"/><Relationship Id="rId6" Type="http://schemas.openxmlformats.org/officeDocument/2006/relationships/image" Target="../media/book_image24.jpeg"/><Relationship Id="rId5" Type="http://schemas.openxmlformats.org/officeDocument/2006/relationships/image" Target="../media/book_image23.jpeg"/><Relationship Id="rId4" Type="http://schemas.openxmlformats.org/officeDocument/2006/relationships/image" Target="../media/book_image2.png"/></Relationships>
</file>

<file path=ppt/slides/_rels/book_slide9.xml.rels><?xml version='1.0' encoding='UTF-8' standalone='yes'?>
<Relationships xmlns="http://schemas.openxmlformats.org/package/2006/relationships"><Relationship Id="rId8" Type="http://schemas.openxmlformats.org/officeDocument/2006/relationships/image" Target="../media/book_image18.png"/><Relationship Id="rId3" Type="http://schemas.openxmlformats.org/officeDocument/2006/relationships/image" Target="../media/book_image1.png"/><Relationship Id="rId7" Type="http://schemas.openxmlformats.org/officeDocument/2006/relationships/image" Target="../media/book_image28.png"/><Relationship Id="rId2" Type="http://schemas.openxmlformats.org/officeDocument/2006/relationships/notesSlide" Target="../notesSlides/book_notesSlide9.xml"/><Relationship Id="rId1" Type="http://schemas.openxmlformats.org/officeDocument/2006/relationships/slideLayout" Target="../slideLayouts/slideLayout7.xml"/><Relationship Id="rId6" Type="http://schemas.openxmlformats.org/officeDocument/2006/relationships/image" Target="../media/book_image27.png"/><Relationship Id="rId5" Type="http://schemas.openxmlformats.org/officeDocument/2006/relationships/image" Target="../media/book_image26.png"/><Relationship Id="rId4" Type="http://schemas.openxmlformats.org/officeDocument/2006/relationships/image" Target="../media/book_image2.png"/><Relationship Id="rId9" Type="http://schemas.openxmlformats.org/officeDocument/2006/relationships/image" Target="../media/book_image19.png"/></Relationships>
</file>

<file path=ppt/slides/_rels/book_slide10.xml.rels><?xml version='1.0' encoding='UTF-8' standalone='yes'?>
<Relationships xmlns="http://schemas.openxmlformats.org/package/2006/relationships"><Relationship Id="rId8" Type="http://schemas.openxmlformats.org/officeDocument/2006/relationships/image" Target="../media/book_image30.jpeg"/><Relationship Id="rId3" Type="http://schemas.openxmlformats.org/officeDocument/2006/relationships/image" Target="../media/book_image1.png"/><Relationship Id="rId7" Type="http://schemas.openxmlformats.org/officeDocument/2006/relationships/hyperlink" Target="https://www.youtube.com/watch?v=UjW_TTNtXEM" TargetMode="External"/><Relationship Id="rId2" Type="http://schemas.openxmlformats.org/officeDocument/2006/relationships/notesSlide" Target="../notesSlides/book_notesSlide10.xml"/><Relationship Id="rId1" Type="http://schemas.openxmlformats.org/officeDocument/2006/relationships/slideLayout" Target="../slideLayouts/slideLayout7.xml"/><Relationship Id="rId6" Type="http://schemas.openxmlformats.org/officeDocument/2006/relationships/image" Target="../media/book_image29.jpeg"/><Relationship Id="rId5" Type="http://schemas.openxmlformats.org/officeDocument/2006/relationships/hyperlink" Target="https://www.youtube.com/watch?v=OdVkEOzdCPw" TargetMode="External"/><Relationship Id="rId10" Type="http://schemas.openxmlformats.org/officeDocument/2006/relationships/image" Target="../media/book_image31.jpeg"/><Relationship Id="rId4" Type="http://schemas.openxmlformats.org/officeDocument/2006/relationships/image" Target="../media/book_image2.png"/><Relationship Id="rId9" Type="http://schemas.openxmlformats.org/officeDocument/2006/relationships/hyperlink" Target="https://www.youtube.com/watch?v=noKsDZ-UPq8" TargetMode="External"/></Relationships>
</file>

<file path=ppt/slides/_rels/book_slide11.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11.xml"/><Relationship Id="rId1" Type="http://schemas.openxmlformats.org/officeDocument/2006/relationships/slideLayout" Target="../slideLayouts/slideLayout7.xml"/><Relationship Id="rId5" Type="http://schemas.openxmlformats.org/officeDocument/2006/relationships/image" Target="../media/book_image32.png"/><Relationship Id="rId4" Type="http://schemas.openxmlformats.org/officeDocument/2006/relationships/image" Target="../media/book_image2.png"/></Relationships>
</file>

<file path=ppt/slides/_rels/book_slide12.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12.xml"/><Relationship Id="rId1" Type="http://schemas.openxmlformats.org/officeDocument/2006/relationships/slideLayout" Target="../slideLayouts/slideLayout7.xml"/><Relationship Id="rId5" Type="http://schemas.openxmlformats.org/officeDocument/2006/relationships/image" Target="../media/book_image33.png"/><Relationship Id="rId4" Type="http://schemas.openxmlformats.org/officeDocument/2006/relationships/image" Target="../media/book_image2.png"/></Relationships>
</file>

<file path=ppt/slides/_rels/book_slide13.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13.xml"/><Relationship Id="rId1" Type="http://schemas.openxmlformats.org/officeDocument/2006/relationships/slideLayout" Target="../slideLayouts/slideLayout7.xml"/><Relationship Id="rId6" Type="http://schemas.openxmlformats.org/officeDocument/2006/relationships/image" Target="../media/book_image35.png"/><Relationship Id="rId5" Type="http://schemas.openxmlformats.org/officeDocument/2006/relationships/image" Target="../media/book_image34.png"/><Relationship Id="rId4" Type="http://schemas.openxmlformats.org/officeDocument/2006/relationships/image" Target="../media/book_image2.png"/></Relationships>
</file>

<file path=ppt/slides/_rels/book_slide14.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14.xml"/><Relationship Id="rId1" Type="http://schemas.openxmlformats.org/officeDocument/2006/relationships/slideLayout" Target="../slideLayouts/slideLayout7.xml"/><Relationship Id="rId5" Type="http://schemas.openxmlformats.org/officeDocument/2006/relationships/image" Target="../media/book_image36.png"/><Relationship Id="rId4" Type="http://schemas.openxmlformats.org/officeDocument/2006/relationships/image" Target="../media/book_image2.png"/></Relationships>
</file>

<file path=ppt/slides/_rels/book_slide15.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15.xml"/><Relationship Id="rId1" Type="http://schemas.openxmlformats.org/officeDocument/2006/relationships/slideLayout" Target="../slideLayouts/slideLayout7.xml"/><Relationship Id="rId5" Type="http://schemas.openxmlformats.org/officeDocument/2006/relationships/image" Target="../media/book_image37.png"/><Relationship Id="rId4" Type="http://schemas.openxmlformats.org/officeDocument/2006/relationships/image" Target="../media/book_image2.png"/></Relationships>
</file>

<file path=ppt/slides/_rels/book_slide16.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16.xml"/><Relationship Id="rId1" Type="http://schemas.openxmlformats.org/officeDocument/2006/relationships/slideLayout" Target="../slideLayouts/slideLayout7.xml"/><Relationship Id="rId5" Type="http://schemas.openxmlformats.org/officeDocument/2006/relationships/image" Target="../media/book_image38.png"/><Relationship Id="rId4" Type="http://schemas.openxmlformats.org/officeDocument/2006/relationships/image" Target="../media/book_image2.png"/></Relationships>
</file>

<file path=ppt/slides/_rels/book_slide17.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17.xml"/><Relationship Id="rId1" Type="http://schemas.openxmlformats.org/officeDocument/2006/relationships/slideLayout" Target="../slideLayouts/slideLayout7.xml"/><Relationship Id="rId6" Type="http://schemas.openxmlformats.org/officeDocument/2006/relationships/image" Target="../media/book_image40.png"/><Relationship Id="rId5" Type="http://schemas.openxmlformats.org/officeDocument/2006/relationships/image" Target="../media/book_image39.png"/><Relationship Id="rId4" Type="http://schemas.openxmlformats.org/officeDocument/2006/relationships/image" Target="../media/book_image2.png"/></Relationships>
</file>

<file path=ppt/slides/_rels/book_slide18.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18.xml"/><Relationship Id="rId1" Type="http://schemas.openxmlformats.org/officeDocument/2006/relationships/slideLayout" Target="../slideLayouts/slideLayout7.xml"/><Relationship Id="rId5" Type="http://schemas.openxmlformats.org/officeDocument/2006/relationships/image" Target="../media/book_image41.png"/><Relationship Id="rId4" Type="http://schemas.openxmlformats.org/officeDocument/2006/relationships/image" Target="../media/book_image2.png"/></Relationships>
</file>

<file path=ppt/slides/_rels/book_slide19.xml.rels><?xml version='1.0' encoding='UTF-8' standalone='yes'?>
<Relationships xmlns="http://schemas.openxmlformats.org/package/2006/relationships"><Relationship Id="rId3" Type="http://schemas.openxmlformats.org/officeDocument/2006/relationships/image" Target="../media/book_image1.png"/><Relationship Id="rId2" Type="http://schemas.openxmlformats.org/officeDocument/2006/relationships/notesSlide" Target="../notesSlides/book_notesSlide19.xml"/><Relationship Id="rId1" Type="http://schemas.openxmlformats.org/officeDocument/2006/relationships/slideLayout" Target="../slideLayouts/slideLayout7.xml"/><Relationship Id="rId6" Type="http://schemas.openxmlformats.org/officeDocument/2006/relationships/image" Target="../media/book_image43.png"/><Relationship Id="rId5" Type="http://schemas.openxmlformats.org/officeDocument/2006/relationships/image" Target="../media/book_image42.png"/><Relationship Id="rId4" Type="http://schemas.openxmlformats.org/officeDocument/2006/relationships/image" Target="../media/book_image2.png"/></Relationships>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 Id="hebrewNotes" Type="http://schemas.openxmlformats.org/officeDocument/2006/relationships/notesSlide" Target="../notesSlides/hebrew_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5.svg"/><Relationship Id="rId7"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hyperlink" Target="mailto:erelsegalhalevi@gmail.com" TargetMode="External"/><Relationship Id="rId5"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hyperlink" Target="mailto:victork@ariel.ac.il" TargetMode="External"/><Relationship Id="hebrewNotes" Type="http://schemas.openxmlformats.org/officeDocument/2006/relationships/notesSlide" Target="../notesSlides/hebrew_notes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11.svg"/><Relationship Id="rId1" Type="http://schemas.openxmlformats.org/officeDocument/2006/relationships/slideLayout" Target="../slideLayouts/slideLayout7.xml"/><Relationship Id="rId6" Type="http://schemas.openxmlformats.org/officeDocument/2006/relationships/hyperlink" Target="https://sites.google.com/view/gamedev-at-ariel" TargetMode="External"/><Relationship Id="rId5" Type="http://schemas.openxmlformats.org/officeDocument/2006/relationships/image" Target="../media/image13.svg"/><Relationship Id="rId4" Type="http://schemas.openxmlformats.org/officeDocument/2006/relationships/image" Target="../media/image12.svg"/><Relationship Id="rId9" Type="http://schemas.openxmlformats.org/officeDocument/2006/relationships/image" Target="../media/image14.png"/><Relationship Id="hebrewNotes" Type="http://schemas.openxmlformats.org/officeDocument/2006/relationships/notesSlide" Target="../notesSlides/hebrew_notesSlide3.xml"/></Relationships>
</file>

<file path=ppt/slides/_rels/slide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 Id="hebrewNotes" Type="http://schemas.openxmlformats.org/officeDocument/2006/relationships/notesSlide" Target="../notesSlides/hebrew_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16.svg"/><Relationship Id="hebrewNotes" Type="http://schemas.openxmlformats.org/officeDocument/2006/relationships/notesSlide" Target="../notesSlides/hebrew_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5.sv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6.svg"/><Relationship Id="hebrewNotes" Type="http://schemas.openxmlformats.org/officeDocument/2006/relationships/notesSlide" Target="../notesSlides/hebrew_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5.sv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6.svg"/><Relationship Id="hebrewNotes" Type="http://schemas.openxmlformats.org/officeDocument/2006/relationships/notesSlide" Target="../notesSlides/hebrew_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svg"/><Relationship Id="rId7" Type="http://schemas.openxmlformats.org/officeDocument/2006/relationships/image" Target="../media/image21.png"/><Relationship Id="rId2" Type="http://schemas.openxmlformats.org/officeDocument/2006/relationships/image" Target="../media/image5.sv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6.svg"/><Relationship Id="hebrewNotes" Type="http://schemas.openxmlformats.org/officeDocument/2006/relationships/notesSlide" Target="../notesSlides/hebrew_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svg"/><Relationship Id="rId4" Type="http://schemas.openxmlformats.org/officeDocument/2006/relationships/image" Target="../media/image5.svg"/><Relationship Id="hebrewNotes" Type="http://schemas.openxmlformats.org/officeDocument/2006/relationships/notesSlide" Target="../notesSlides/hebrew_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Type="http://schemas.openxmlformats.org/officeDocument/2006/relationships/slideLayout" Target="../slideLayouts/slideLayout7.xml" Id="R3821ffab56f44fef"/><Relationship Type="http://schemas.openxmlformats.org/officeDocument/2006/relationships/image" Target="../media/redesign_image.png" Id="Rdd112f11f24a4439"/><Relationship Type="http://schemas.openxmlformats.org/officeDocument/2006/relationships/image" Target="../media/redesign_image.jpeg" Id="R7cb04f527b92440e"/><Relationship Type="http://schemas.openxmlformats.org/officeDocument/2006/relationships/notesSlide" Target="../notesSlides/redesign_notesSlide1.xml" Id="R399777881cf5418a"/><Relationship Id="bg_grass" Type="http://schemas.openxmlformats.org/officeDocument/2006/relationships/image" Target="../media/redesign_grass.png"/><Relationship Id="bg_clouds" Type="http://schemas.openxmlformats.org/officeDocument/2006/relationships/image" Target="../media/redesign_clouds.png"/></Relationships>
</file>

<file path=ppt/slides/_rels/slide12.xml.rels><?xml version='1.0' encoding='UTF-8' standalone='yes'?>
<Relationships xmlns="http://schemas.openxmlformats.org/package/2006/relationships"><Relationship Type="http://schemas.openxmlformats.org/officeDocument/2006/relationships/slideLayout" Target="../slideLayouts/slideLayout7.xml" Id="Rd065aca95ab24226"/><Relationship Type="http://schemas.openxmlformats.org/officeDocument/2006/relationships/notesSlide" Target="../notesSlides/redesign_notesSlide2.xml" Id="R73d75f300bb94ac4"/><Relationship Id="bg_grass" Type="http://schemas.openxmlformats.org/officeDocument/2006/relationships/image" Target="../media/redesign_grass.png"/><Relationship Id="bg_clouds" Type="http://schemas.openxmlformats.org/officeDocument/2006/relationships/image" Target="../media/redesign_clouds.png"/></Relationships>
</file>

<file path=ppt/slides/_rels/slide13.xml.rels><?xml version='1.0' encoding='UTF-8' standalone='yes'?>
<Relationships xmlns="http://schemas.openxmlformats.org/package/2006/relationships"><Relationship Type="http://schemas.openxmlformats.org/officeDocument/2006/relationships/slideLayout" Target="../slideLayouts/slideLayout7.xml" Id="Rac6d491a3d704499"/><Relationship Type="http://schemas.openxmlformats.org/officeDocument/2006/relationships/image" Target="../media/redesign_image2.png" Id="R089dba76337e4bf6"/><Relationship Type="http://schemas.openxmlformats.org/officeDocument/2006/relationships/notesSlide" Target="../notesSlides/redesign_notesSlide3.xml" Id="Rb6e37949d2c14d16"/><Relationship Id="bg_grass" Type="http://schemas.openxmlformats.org/officeDocument/2006/relationships/image" Target="../media/redesign_grass.png"/><Relationship Id="bg_clouds" Type="http://schemas.openxmlformats.org/officeDocument/2006/relationships/image" Target="../media/redesign_clouds.png"/></Relationships>
</file>

<file path=ppt/slides/_rels/slide14.xml.rels><?xml version='1.0' encoding='UTF-8' standalone='yes'?>
<Relationships xmlns="http://schemas.openxmlformats.org/package/2006/relationships"><Relationship Type="http://schemas.openxmlformats.org/officeDocument/2006/relationships/slideLayout" Target="../slideLayouts/slideLayout7.xml" Id="R52635d6c99064ae6"/><Relationship Type="http://schemas.openxmlformats.org/officeDocument/2006/relationships/image" Target="../media/redesign_image2.jpeg" Id="R1c78424b679746b1"/><Relationship Type="http://schemas.openxmlformats.org/officeDocument/2006/relationships/notesSlide" Target="../notesSlides/redesign_notesSlide4.xml" Id="R6e3847ac3c0a4cd0"/><Relationship Id="bg_grass" Type="http://schemas.openxmlformats.org/officeDocument/2006/relationships/image" Target="../media/redesign_grass.png"/><Relationship Id="bg_clouds" Type="http://schemas.openxmlformats.org/officeDocument/2006/relationships/image" Target="../media/redesign_clouds.png"/></Relationships>
</file>

<file path=ppt/slides/_rels/slide1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35.png"/><Relationship Id="rId3" Type="http://schemas.openxmlformats.org/officeDocument/2006/relationships/image" Target="../media/image31.svg"/><Relationship Id="rId7" Type="http://schemas.openxmlformats.org/officeDocument/2006/relationships/image" Target="../media/image7.svg"/><Relationship Id="rId12" Type="http://schemas.openxmlformats.org/officeDocument/2006/relationships/hyperlink" Target="https://gamedevcoursearieluniversity.netlify.app" TargetMode="External"/><Relationship Id="rId2" Type="http://schemas.openxmlformats.org/officeDocument/2006/relationships/image" Target="../media/image5.svg"/><Relationship Id="rId1" Type="http://schemas.openxmlformats.org/officeDocument/2006/relationships/slideLayout" Target="../slideLayouts/slideLayout7.xml"/><Relationship Id="rId6" Type="http://schemas.openxmlformats.org/officeDocument/2006/relationships/image" Target="../media/image32.svg"/><Relationship Id="rId11" Type="http://schemas.openxmlformats.org/officeDocument/2006/relationships/image" Target="../media/image34.png"/><Relationship Id="rId5" Type="http://schemas.openxmlformats.org/officeDocument/2006/relationships/image" Target="../media/image13.svg"/><Relationship Id="rId10" Type="http://schemas.openxmlformats.org/officeDocument/2006/relationships/image" Target="../media/image33.png"/><Relationship Id="rId4" Type="http://schemas.openxmlformats.org/officeDocument/2006/relationships/image" Target="../media/image12.svg"/><Relationship Id="rId9" Type="http://schemas.openxmlformats.org/officeDocument/2006/relationships/image" Target="../media/image20.png"/><Relationship Id="hebrewNotes" Type="http://schemas.openxmlformats.org/officeDocument/2006/relationships/notesSlide" Target="../notesSlides/hebrew_notesSlide34.xml"/></Relationships>
</file>

<file path=ppt/slides/_rels/slide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7.svg"/><Relationship Id="rId4" Type="http://schemas.openxmlformats.org/officeDocument/2006/relationships/image" Target="../media/image16.svg"/><Relationship Id="hebrewNotes" Type="http://schemas.openxmlformats.org/officeDocument/2006/relationships/notesSlide" Target="../notesSlides/hebrew_notesSlide35.xml"/></Relationships>
</file>

<file path=ppt/slides/_rels/slide17.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4.svg"/><Relationship Id="rId7" Type="http://schemas.openxmlformats.org/officeDocument/2006/relationships/image" Target="../media/image7.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36.svg"/><Relationship Id="rId9" Type="http://schemas.openxmlformats.org/officeDocument/2006/relationships/image" Target="../media/image37.svg"/><Relationship Id="hebrewNotes" Type="http://schemas.openxmlformats.org/officeDocument/2006/relationships/notesSlide" Target="../notesSlides/hebrew_notesSlide36.xml"/></Relationships>
</file>

<file path=ppt/slides/book_slide1.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18" name="Template clouds 18"/>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17" name="Template clouds 17"/>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6" name="Template grass 16"/>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5" name="Template grass 15"/>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4" name="Template grass 14"/>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3" name="Slide title">
            <a:extLst>
              <a:ext uri="{FF2B5EF4-FFF2-40B4-BE49-F238E27FC236}">
                <a16:creationId xmlns:a16="http://schemas.microsoft.com/office/drawing/2014/main" id="{120A8B4C-E9FC-4DD1-B17D-C7C9B88B21B6}"/>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WHAT WILL THIS DO?</a:t>
            </a:r>
          </a:p>
        </p:txBody>
      </p:sp>
      <p:sp>
        <p:nvSpPr>
          <p:cNvPr id="2" name="Source credit">
            <a:extLst>
              <a:ext uri="{FF2B5EF4-FFF2-40B4-BE49-F238E27FC236}">
                <a16:creationId xmlns:a16="http://schemas.microsoft.com/office/drawing/2014/main" id="{31D9F184-04CA-4C32-8609-73469549CFF4}"/>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1">
                <a:solidFill>
                  <a:srgbClr val="9AFFD2"/>
                </a:solidFill>
                <a:latin typeface="Open Sans"/>
                <a:ea typeface="Open Sans"/>
                <a:cs typeface="Open Sans"/>
              </a:rPr>
              <a:t>Book: </a:t>
            </a:r>
            <a:r>
              <a:rPr sz="2000" b="0">
                <a:solidFill>
                  <a:srgbClr val="FFFFFF"/>
                </a:solidFill>
                <a:latin typeface="Open Sans"/>
                <a:ea typeface="Open Sans"/>
                <a:cs typeface="Open Sans"/>
              </a:rPr>
              <a:t>Don’t Make Me Think / Steve Krug + Bookey summary     ·     Illustrative mockup</a:t>
            </a:r>
          </a:p>
        </p:txBody>
      </p:sp>
      <p:sp>
        <p:nvSpPr>
          <p:cNvPr id="3" name="A label">
            <a:extLst>
              <a:ext uri="{FF2B5EF4-FFF2-40B4-BE49-F238E27FC236}">
                <a16:creationId xmlns:a16="http://schemas.microsoft.com/office/drawing/2014/main" id="{8B271104-69CC-4F82-BFE1-8148ED5D4E92}"/>
              </a:ext>
            </a:extLst>
          </p:cNvPr>
          <p:cNvSpPr>
            <a:spLocks noGrp="1"/>
          </p:cNvSpPr>
          <p:nvPr/>
        </p:nvSpPr>
        <p:spPr>
          <a:xfrm>
            <a:off x="952500" y="2571750"/>
            <a:ext cx="1143000" cy="666750"/>
          </a:xfrm>
          <a:prstGeom prst="rect">
            <a:avLst/>
          </a:prstGeom>
          <a:noFill/>
          <a:ln w="0">
            <a:noFill/>
          </a:ln>
        </p:spPr>
        <p:txBody>
          <a:bodyPr wrap="none" lIns="0" tIns="0" rIns="0" bIns="0" anchor="t">
            <a:noAutofit/>
          </a:bodyPr>
          <a:lstStyle>
            <a:defPPr algn="l">
              <a:defRPr sz="3600" b="1">
                <a:solidFill>
                  <a:srgbClr val="9AFFD2"/>
                </a:solidFill>
                <a:latin typeface="Open Sans"/>
                <a:ea typeface="Open Sans"/>
                <a:cs typeface="Open Sans"/>
              </a:defRPr>
            </a:defPPr>
            <a:lvl1pPr algn="l">
              <a:defRPr sz="3600" b="1">
                <a:solidFill>
                  <a:srgbClr val="9AFFD2"/>
                </a:solidFill>
                <a:latin typeface="Open Sans"/>
                <a:ea typeface="Open Sans"/>
                <a:cs typeface="Open Sans"/>
              </a:defRPr>
            </a:lvl1pPr>
            <a:lvl2pPr algn="l">
              <a:defRPr sz="3600" b="1">
                <a:solidFill>
                  <a:srgbClr val="9AFFD2"/>
                </a:solidFill>
                <a:latin typeface="Open Sans"/>
                <a:ea typeface="Open Sans"/>
                <a:cs typeface="Open Sans"/>
              </a:defRPr>
            </a:lvl2pPr>
            <a:lvl3pPr algn="l">
              <a:defRPr sz="3600" b="1">
                <a:solidFill>
                  <a:srgbClr val="9AFFD2"/>
                </a:solidFill>
                <a:latin typeface="Open Sans"/>
                <a:ea typeface="Open Sans"/>
                <a:cs typeface="Open Sans"/>
              </a:defRPr>
            </a:lvl3pPr>
            <a:lvl4pPr algn="l">
              <a:defRPr sz="3600" b="1">
                <a:solidFill>
                  <a:srgbClr val="9AFFD2"/>
                </a:solidFill>
                <a:latin typeface="Open Sans"/>
                <a:ea typeface="Open Sans"/>
                <a:cs typeface="Open Sans"/>
              </a:defRPr>
            </a:lvl4pPr>
            <a:lvl5pPr algn="l">
              <a:defRPr sz="3600" b="1">
                <a:solidFill>
                  <a:srgbClr val="9AFFD2"/>
                </a:solidFill>
                <a:latin typeface="Open Sans"/>
                <a:ea typeface="Open Sans"/>
                <a:cs typeface="Open Sans"/>
              </a:defRPr>
            </a:lvl5pPr>
            <a:lvl6pPr algn="l">
              <a:defRPr sz="3600" b="1">
                <a:solidFill>
                  <a:srgbClr val="9AFFD2"/>
                </a:solidFill>
                <a:latin typeface="Open Sans"/>
                <a:ea typeface="Open Sans"/>
                <a:cs typeface="Open Sans"/>
              </a:defRPr>
            </a:lvl6pPr>
            <a:lvl7pPr algn="l">
              <a:defRPr sz="3600" b="1">
                <a:solidFill>
                  <a:srgbClr val="9AFFD2"/>
                </a:solidFill>
                <a:latin typeface="Open Sans"/>
                <a:ea typeface="Open Sans"/>
                <a:cs typeface="Open Sans"/>
              </a:defRPr>
            </a:lvl7pPr>
            <a:lvl8pPr algn="l">
              <a:defRPr sz="3600" b="1">
                <a:solidFill>
                  <a:srgbClr val="9AFFD2"/>
                </a:solidFill>
                <a:latin typeface="Open Sans"/>
                <a:ea typeface="Open Sans"/>
                <a:cs typeface="Open Sans"/>
              </a:defRPr>
            </a:lvl8pPr>
            <a:lvl9pPr algn="l">
              <a:defRPr sz="3600" b="1">
                <a:solidFill>
                  <a:srgbClr val="9AFFD2"/>
                </a:solidFill>
                <a:latin typeface="Open Sans"/>
                <a:ea typeface="Open Sans"/>
                <a:cs typeface="Open Sans"/>
              </a:defRPr>
            </a:lvl9pPr>
          </a:lstStyle>
          <a:p>
            <a:pPr algn="l">
              <a:defRPr sz="3600" b="1">
                <a:solidFill>
                  <a:srgbClr val="9AFFD2"/>
                </a:solidFill>
                <a:latin typeface="Open Sans"/>
                <a:ea typeface="Open Sans"/>
                <a:cs typeface="Open Sans"/>
              </a:defRPr>
            </a:pPr>
            <a:r>
              <a:rPr sz="3600" b="1">
                <a:solidFill>
                  <a:srgbClr val="9AFFD2"/>
                </a:solidFill>
                <a:latin typeface="Open Sans"/>
                <a:ea typeface="Open Sans"/>
                <a:cs typeface="Open Sans"/>
              </a:rPr>
              <a:t>A</a:t>
            </a:r>
          </a:p>
        </p:txBody>
      </p:sp>
      <p:sp>
        <p:nvSpPr>
          <p:cNvPr id="4" name="B label">
            <a:extLst>
              <a:ext uri="{FF2B5EF4-FFF2-40B4-BE49-F238E27FC236}">
                <a16:creationId xmlns:a16="http://schemas.microsoft.com/office/drawing/2014/main" id="{F6A49A7D-2C38-4233-924E-89BFBCB24DE5}"/>
              </a:ext>
            </a:extLst>
          </p:cNvPr>
          <p:cNvSpPr>
            <a:spLocks noGrp="1"/>
          </p:cNvSpPr>
          <p:nvPr/>
        </p:nvSpPr>
        <p:spPr>
          <a:xfrm>
            <a:off x="9620250" y="2571750"/>
            <a:ext cx="1143000" cy="666750"/>
          </a:xfrm>
          <a:prstGeom prst="rect">
            <a:avLst/>
          </a:prstGeom>
          <a:noFill/>
          <a:ln w="0">
            <a:noFill/>
          </a:ln>
        </p:spPr>
        <p:txBody>
          <a:bodyPr wrap="none" lIns="0" tIns="0" rIns="0" bIns="0" anchor="t">
            <a:noAutofit/>
          </a:bodyPr>
          <a:lstStyle>
            <a:defPPr algn="l">
              <a:defRPr sz="3600" b="1">
                <a:solidFill>
                  <a:srgbClr val="9AFFD2"/>
                </a:solidFill>
                <a:latin typeface="Open Sans"/>
                <a:ea typeface="Open Sans"/>
                <a:cs typeface="Open Sans"/>
              </a:defRPr>
            </a:defPPr>
            <a:lvl1pPr algn="l">
              <a:defRPr sz="3600" b="1">
                <a:solidFill>
                  <a:srgbClr val="9AFFD2"/>
                </a:solidFill>
                <a:latin typeface="Open Sans"/>
                <a:ea typeface="Open Sans"/>
                <a:cs typeface="Open Sans"/>
              </a:defRPr>
            </a:lvl1pPr>
            <a:lvl2pPr algn="l">
              <a:defRPr sz="3600" b="1">
                <a:solidFill>
                  <a:srgbClr val="9AFFD2"/>
                </a:solidFill>
                <a:latin typeface="Open Sans"/>
                <a:ea typeface="Open Sans"/>
                <a:cs typeface="Open Sans"/>
              </a:defRPr>
            </a:lvl2pPr>
            <a:lvl3pPr algn="l">
              <a:defRPr sz="3600" b="1">
                <a:solidFill>
                  <a:srgbClr val="9AFFD2"/>
                </a:solidFill>
                <a:latin typeface="Open Sans"/>
                <a:ea typeface="Open Sans"/>
                <a:cs typeface="Open Sans"/>
              </a:defRPr>
            </a:lvl3pPr>
            <a:lvl4pPr algn="l">
              <a:defRPr sz="3600" b="1">
                <a:solidFill>
                  <a:srgbClr val="9AFFD2"/>
                </a:solidFill>
                <a:latin typeface="Open Sans"/>
                <a:ea typeface="Open Sans"/>
                <a:cs typeface="Open Sans"/>
              </a:defRPr>
            </a:lvl4pPr>
            <a:lvl5pPr algn="l">
              <a:defRPr sz="3600" b="1">
                <a:solidFill>
                  <a:srgbClr val="9AFFD2"/>
                </a:solidFill>
                <a:latin typeface="Open Sans"/>
                <a:ea typeface="Open Sans"/>
                <a:cs typeface="Open Sans"/>
              </a:defRPr>
            </a:lvl5pPr>
            <a:lvl6pPr algn="l">
              <a:defRPr sz="3600" b="1">
                <a:solidFill>
                  <a:srgbClr val="9AFFD2"/>
                </a:solidFill>
                <a:latin typeface="Open Sans"/>
                <a:ea typeface="Open Sans"/>
                <a:cs typeface="Open Sans"/>
              </a:defRPr>
            </a:lvl6pPr>
            <a:lvl7pPr algn="l">
              <a:defRPr sz="3600" b="1">
                <a:solidFill>
                  <a:srgbClr val="9AFFD2"/>
                </a:solidFill>
                <a:latin typeface="Open Sans"/>
                <a:ea typeface="Open Sans"/>
                <a:cs typeface="Open Sans"/>
              </a:defRPr>
            </a:lvl7pPr>
            <a:lvl8pPr algn="l">
              <a:defRPr sz="3600" b="1">
                <a:solidFill>
                  <a:srgbClr val="9AFFD2"/>
                </a:solidFill>
                <a:latin typeface="Open Sans"/>
                <a:ea typeface="Open Sans"/>
                <a:cs typeface="Open Sans"/>
              </a:defRPr>
            </a:lvl8pPr>
            <a:lvl9pPr algn="l">
              <a:defRPr sz="3600" b="1">
                <a:solidFill>
                  <a:srgbClr val="9AFFD2"/>
                </a:solidFill>
                <a:latin typeface="Open Sans"/>
                <a:ea typeface="Open Sans"/>
                <a:cs typeface="Open Sans"/>
              </a:defRPr>
            </a:lvl9pPr>
          </a:lstStyle>
          <a:p>
            <a:pPr algn="l">
              <a:defRPr sz="3600" b="1">
                <a:solidFill>
                  <a:srgbClr val="9AFFD2"/>
                </a:solidFill>
                <a:latin typeface="Open Sans"/>
                <a:ea typeface="Open Sans"/>
                <a:cs typeface="Open Sans"/>
              </a:defRPr>
            </a:pPr>
            <a:r>
              <a:rPr sz="3600" b="1">
                <a:solidFill>
                  <a:srgbClr val="9AFFD2"/>
                </a:solidFill>
                <a:latin typeface="Open Sans"/>
                <a:ea typeface="Open Sans"/>
                <a:cs typeface="Open Sans"/>
              </a:rPr>
              <a:t>B</a:t>
            </a:r>
          </a:p>
        </p:txBody>
      </p:sp>
      <p:pic>
        <p:nvPicPr>
          <p:cNvPr id="5" name="s15-pause-a image" descr="s15-pause-a image">
            <a:extLst>
              <a:ext uri="{FF2B5EF4-FFF2-40B4-BE49-F238E27FC236}">
                <a16:creationId xmlns:a16="http://schemas.microsoft.com/office/drawing/2014/main" id="{D8EC5FA9-F65D-46C0-9441-B47C541DDD68}"/>
              </a:ext>
            </a:extLst>
          </p:cNvPr>
          <p:cNvPicPr>
            <a:picLocks noChangeAspect="1"/>
          </p:cNvPicPr>
          <p:nvPr/>
        </p:nvPicPr>
        <p:blipFill>
          <a:blip r:embed="rId5"/>
          <a:stretch/>
        </p:blipFill>
        <p:spPr>
          <a:xfrm>
            <a:off x="952500" y="3190875"/>
            <a:ext cx="7143750" cy="5567923"/>
          </a:xfrm>
          <a:prstGeom prst="rect">
            <a:avLst/>
          </a:prstGeom>
        </p:spPr>
      </p:pic>
      <p:sp>
        <p:nvSpPr>
          <p:cNvPr id="6" name="s15-pause-a text 1">
            <a:extLst>
              <a:ext uri="{FF2B5EF4-FFF2-40B4-BE49-F238E27FC236}">
                <a16:creationId xmlns:a16="http://schemas.microsoft.com/office/drawing/2014/main" id="{170A41A7-BBF5-439A-B200-E140FD1088B0}"/>
              </a:ext>
            </a:extLst>
          </p:cNvPr>
          <p:cNvSpPr>
            <a:spLocks noGrp="1"/>
          </p:cNvSpPr>
          <p:nvPr/>
        </p:nvSpPr>
        <p:spPr>
          <a:xfrm>
            <a:off x="3245224" y="4030056"/>
            <a:ext cx="2558303" cy="882463"/>
          </a:xfrm>
          <a:prstGeom prst="rect">
            <a:avLst/>
          </a:prstGeom>
          <a:noFill/>
          <a:ln w="0">
            <a:noFill/>
          </a:ln>
        </p:spPr>
        <p:txBody>
          <a:bodyPr wrap="none" lIns="0" tIns="0" rIns="0" bIns="0" anchor="t">
            <a:noAutofit/>
          </a:bodyPr>
          <a:lstStyle>
            <a:defPPr algn="ctr">
              <a:defRPr sz="4632" b="1">
                <a:solidFill>
                  <a:srgbClr val="FFFFFF"/>
                </a:solidFill>
                <a:latin typeface="Open Sans"/>
                <a:ea typeface="Open Sans"/>
                <a:cs typeface="Open Sans"/>
              </a:defRPr>
            </a:defPPr>
            <a:lvl1pPr algn="ctr">
              <a:defRPr sz="4632" b="1">
                <a:solidFill>
                  <a:srgbClr val="FFFFFF"/>
                </a:solidFill>
                <a:latin typeface="Open Sans"/>
                <a:ea typeface="Open Sans"/>
                <a:cs typeface="Open Sans"/>
              </a:defRPr>
            </a:lvl1pPr>
            <a:lvl2pPr algn="ctr">
              <a:defRPr sz="4632" b="1">
                <a:solidFill>
                  <a:srgbClr val="FFFFFF"/>
                </a:solidFill>
                <a:latin typeface="Open Sans"/>
                <a:ea typeface="Open Sans"/>
                <a:cs typeface="Open Sans"/>
              </a:defRPr>
            </a:lvl2pPr>
            <a:lvl3pPr algn="ctr">
              <a:defRPr sz="4632" b="1">
                <a:solidFill>
                  <a:srgbClr val="FFFFFF"/>
                </a:solidFill>
                <a:latin typeface="Open Sans"/>
                <a:ea typeface="Open Sans"/>
                <a:cs typeface="Open Sans"/>
              </a:defRPr>
            </a:lvl3pPr>
            <a:lvl4pPr algn="ctr">
              <a:defRPr sz="4632" b="1">
                <a:solidFill>
                  <a:srgbClr val="FFFFFF"/>
                </a:solidFill>
                <a:latin typeface="Open Sans"/>
                <a:ea typeface="Open Sans"/>
                <a:cs typeface="Open Sans"/>
              </a:defRPr>
            </a:lvl4pPr>
            <a:lvl5pPr algn="ctr">
              <a:defRPr sz="4632" b="1">
                <a:solidFill>
                  <a:srgbClr val="FFFFFF"/>
                </a:solidFill>
                <a:latin typeface="Open Sans"/>
                <a:ea typeface="Open Sans"/>
                <a:cs typeface="Open Sans"/>
              </a:defRPr>
            </a:lvl5pPr>
            <a:lvl6pPr algn="ctr">
              <a:defRPr sz="4632" b="1">
                <a:solidFill>
                  <a:srgbClr val="FFFFFF"/>
                </a:solidFill>
                <a:latin typeface="Open Sans"/>
                <a:ea typeface="Open Sans"/>
                <a:cs typeface="Open Sans"/>
              </a:defRPr>
            </a:lvl6pPr>
            <a:lvl7pPr algn="ctr">
              <a:defRPr sz="4632" b="1">
                <a:solidFill>
                  <a:srgbClr val="FFFFFF"/>
                </a:solidFill>
                <a:latin typeface="Open Sans"/>
                <a:ea typeface="Open Sans"/>
                <a:cs typeface="Open Sans"/>
              </a:defRPr>
            </a:lvl7pPr>
            <a:lvl8pPr algn="ctr">
              <a:defRPr sz="4632" b="1">
                <a:solidFill>
                  <a:srgbClr val="FFFFFF"/>
                </a:solidFill>
                <a:latin typeface="Open Sans"/>
                <a:ea typeface="Open Sans"/>
                <a:cs typeface="Open Sans"/>
              </a:defRPr>
            </a:lvl8pPr>
            <a:lvl9pPr algn="ctr">
              <a:defRPr sz="4632" b="1">
                <a:solidFill>
                  <a:srgbClr val="FFFFFF"/>
                </a:solidFill>
                <a:latin typeface="Open Sans"/>
                <a:ea typeface="Open Sans"/>
                <a:cs typeface="Open Sans"/>
              </a:defRPr>
            </a:lvl9pPr>
          </a:lstStyle>
          <a:p>
            <a:pPr algn="ctr">
              <a:defRPr sz="4632" b="1">
                <a:solidFill>
                  <a:srgbClr val="FFFFFF"/>
                </a:solidFill>
                <a:latin typeface="Open Sans"/>
                <a:ea typeface="Open Sans"/>
                <a:cs typeface="Open Sans"/>
              </a:defRPr>
            </a:pPr>
            <a:r>
              <a:rPr sz="4632" b="1">
                <a:solidFill>
                  <a:srgbClr val="FFFFFF"/>
                </a:solidFill>
                <a:latin typeface="Open Sans"/>
                <a:ea typeface="Open Sans"/>
                <a:cs typeface="Open Sans"/>
              </a:rPr>
              <a:t>Resume</a:t>
            </a:r>
          </a:p>
        </p:txBody>
      </p:sp>
      <p:sp>
        <p:nvSpPr>
          <p:cNvPr id="7" name="s15-pause-a text 2">
            <a:extLst>
              <a:ext uri="{FF2B5EF4-FFF2-40B4-BE49-F238E27FC236}">
                <a16:creationId xmlns:a16="http://schemas.microsoft.com/office/drawing/2014/main" id="{65ABFD1E-E9A4-4BBF-8512-9DE906D114AA}"/>
              </a:ext>
            </a:extLst>
          </p:cNvPr>
          <p:cNvSpPr>
            <a:spLocks noGrp="1"/>
          </p:cNvSpPr>
          <p:nvPr/>
        </p:nvSpPr>
        <p:spPr>
          <a:xfrm>
            <a:off x="3051082" y="5710938"/>
            <a:ext cx="2946587" cy="882463"/>
          </a:xfrm>
          <a:prstGeom prst="rect">
            <a:avLst/>
          </a:prstGeom>
          <a:noFill/>
          <a:ln w="0">
            <a:noFill/>
          </a:ln>
        </p:spPr>
        <p:txBody>
          <a:bodyPr wrap="none" lIns="0" tIns="0" rIns="0" bIns="0" anchor="t">
            <a:noAutofit/>
          </a:bodyPr>
          <a:lstStyle>
            <a:defPPr algn="ctr">
              <a:defRPr sz="4632" b="1">
                <a:solidFill>
                  <a:srgbClr val="FFFFFF"/>
                </a:solidFill>
                <a:latin typeface="Open Sans"/>
                <a:ea typeface="Open Sans"/>
                <a:cs typeface="Open Sans"/>
              </a:defRPr>
            </a:defPPr>
            <a:lvl1pPr algn="ctr">
              <a:defRPr sz="4632" b="1">
                <a:solidFill>
                  <a:srgbClr val="FFFFFF"/>
                </a:solidFill>
                <a:latin typeface="Open Sans"/>
                <a:ea typeface="Open Sans"/>
                <a:cs typeface="Open Sans"/>
              </a:defRPr>
            </a:lvl1pPr>
            <a:lvl2pPr algn="ctr">
              <a:defRPr sz="4632" b="1">
                <a:solidFill>
                  <a:srgbClr val="FFFFFF"/>
                </a:solidFill>
                <a:latin typeface="Open Sans"/>
                <a:ea typeface="Open Sans"/>
                <a:cs typeface="Open Sans"/>
              </a:defRPr>
            </a:lvl2pPr>
            <a:lvl3pPr algn="ctr">
              <a:defRPr sz="4632" b="1">
                <a:solidFill>
                  <a:srgbClr val="FFFFFF"/>
                </a:solidFill>
                <a:latin typeface="Open Sans"/>
                <a:ea typeface="Open Sans"/>
                <a:cs typeface="Open Sans"/>
              </a:defRPr>
            </a:lvl3pPr>
            <a:lvl4pPr algn="ctr">
              <a:defRPr sz="4632" b="1">
                <a:solidFill>
                  <a:srgbClr val="FFFFFF"/>
                </a:solidFill>
                <a:latin typeface="Open Sans"/>
                <a:ea typeface="Open Sans"/>
                <a:cs typeface="Open Sans"/>
              </a:defRPr>
            </a:lvl4pPr>
            <a:lvl5pPr algn="ctr">
              <a:defRPr sz="4632" b="1">
                <a:solidFill>
                  <a:srgbClr val="FFFFFF"/>
                </a:solidFill>
                <a:latin typeface="Open Sans"/>
                <a:ea typeface="Open Sans"/>
                <a:cs typeface="Open Sans"/>
              </a:defRPr>
            </a:lvl5pPr>
            <a:lvl6pPr algn="ctr">
              <a:defRPr sz="4632" b="1">
                <a:solidFill>
                  <a:srgbClr val="FFFFFF"/>
                </a:solidFill>
                <a:latin typeface="Open Sans"/>
                <a:ea typeface="Open Sans"/>
                <a:cs typeface="Open Sans"/>
              </a:defRPr>
            </a:lvl6pPr>
            <a:lvl7pPr algn="ctr">
              <a:defRPr sz="4632" b="1">
                <a:solidFill>
                  <a:srgbClr val="FFFFFF"/>
                </a:solidFill>
                <a:latin typeface="Open Sans"/>
                <a:ea typeface="Open Sans"/>
                <a:cs typeface="Open Sans"/>
              </a:defRPr>
            </a:lvl7pPr>
            <a:lvl8pPr algn="ctr">
              <a:defRPr sz="4632" b="1">
                <a:solidFill>
                  <a:srgbClr val="FFFFFF"/>
                </a:solidFill>
                <a:latin typeface="Open Sans"/>
                <a:ea typeface="Open Sans"/>
                <a:cs typeface="Open Sans"/>
              </a:defRPr>
            </a:lvl8pPr>
            <a:lvl9pPr algn="ctr">
              <a:defRPr sz="4632" b="1">
                <a:solidFill>
                  <a:srgbClr val="FFFFFF"/>
                </a:solidFill>
                <a:latin typeface="Open Sans"/>
                <a:ea typeface="Open Sans"/>
                <a:cs typeface="Open Sans"/>
              </a:defRPr>
            </a:lvl9pPr>
          </a:lstStyle>
          <a:p>
            <a:pPr algn="ctr">
              <a:defRPr sz="4632" b="1">
                <a:solidFill>
                  <a:srgbClr val="FFFFFF"/>
                </a:solidFill>
                <a:latin typeface="Open Sans"/>
                <a:ea typeface="Open Sans"/>
                <a:cs typeface="Open Sans"/>
              </a:defRPr>
            </a:pPr>
            <a:r>
              <a:rPr sz="4632" b="1">
                <a:solidFill>
                  <a:srgbClr val="FFFFFF"/>
                </a:solidFill>
                <a:latin typeface="Open Sans"/>
                <a:ea typeface="Open Sans"/>
                <a:cs typeface="Open Sans"/>
              </a:rPr>
              <a:t>Restart</a:t>
            </a:r>
          </a:p>
        </p:txBody>
      </p:sp>
      <p:sp>
        <p:nvSpPr>
          <p:cNvPr id="8" name="s15-pause-a text 3">
            <a:extLst>
              <a:ext uri="{FF2B5EF4-FFF2-40B4-BE49-F238E27FC236}">
                <a16:creationId xmlns:a16="http://schemas.microsoft.com/office/drawing/2014/main" id="{82E933E9-8A9E-497B-B891-9386EE96E03C}"/>
              </a:ext>
            </a:extLst>
          </p:cNvPr>
          <p:cNvSpPr>
            <a:spLocks noGrp="1"/>
          </p:cNvSpPr>
          <p:nvPr/>
        </p:nvSpPr>
        <p:spPr>
          <a:xfrm>
            <a:off x="2856940" y="7391820"/>
            <a:ext cx="3334871" cy="882463"/>
          </a:xfrm>
          <a:prstGeom prst="rect">
            <a:avLst/>
          </a:prstGeom>
          <a:noFill/>
          <a:ln w="0">
            <a:noFill/>
          </a:ln>
        </p:spPr>
        <p:txBody>
          <a:bodyPr wrap="none" lIns="0" tIns="0" rIns="0" bIns="0" anchor="t">
            <a:noAutofit/>
          </a:bodyPr>
          <a:lstStyle>
            <a:defPPr algn="ctr">
              <a:defRPr sz="4632" b="1">
                <a:solidFill>
                  <a:srgbClr val="FFFFFF"/>
                </a:solidFill>
                <a:latin typeface="Open Sans"/>
                <a:ea typeface="Open Sans"/>
                <a:cs typeface="Open Sans"/>
              </a:defRPr>
            </a:defPPr>
            <a:lvl1pPr algn="ctr">
              <a:defRPr sz="4632" b="1">
                <a:solidFill>
                  <a:srgbClr val="FFFFFF"/>
                </a:solidFill>
                <a:latin typeface="Open Sans"/>
                <a:ea typeface="Open Sans"/>
                <a:cs typeface="Open Sans"/>
              </a:defRPr>
            </a:lvl1pPr>
            <a:lvl2pPr algn="ctr">
              <a:defRPr sz="4632" b="1">
                <a:solidFill>
                  <a:srgbClr val="FFFFFF"/>
                </a:solidFill>
                <a:latin typeface="Open Sans"/>
                <a:ea typeface="Open Sans"/>
                <a:cs typeface="Open Sans"/>
              </a:defRPr>
            </a:lvl2pPr>
            <a:lvl3pPr algn="ctr">
              <a:defRPr sz="4632" b="1">
                <a:solidFill>
                  <a:srgbClr val="FFFFFF"/>
                </a:solidFill>
                <a:latin typeface="Open Sans"/>
                <a:ea typeface="Open Sans"/>
                <a:cs typeface="Open Sans"/>
              </a:defRPr>
            </a:lvl3pPr>
            <a:lvl4pPr algn="ctr">
              <a:defRPr sz="4632" b="1">
                <a:solidFill>
                  <a:srgbClr val="FFFFFF"/>
                </a:solidFill>
                <a:latin typeface="Open Sans"/>
                <a:ea typeface="Open Sans"/>
                <a:cs typeface="Open Sans"/>
              </a:defRPr>
            </a:lvl4pPr>
            <a:lvl5pPr algn="ctr">
              <a:defRPr sz="4632" b="1">
                <a:solidFill>
                  <a:srgbClr val="FFFFFF"/>
                </a:solidFill>
                <a:latin typeface="Open Sans"/>
                <a:ea typeface="Open Sans"/>
                <a:cs typeface="Open Sans"/>
              </a:defRPr>
            </a:lvl5pPr>
            <a:lvl6pPr algn="ctr">
              <a:defRPr sz="4632" b="1">
                <a:solidFill>
                  <a:srgbClr val="FFFFFF"/>
                </a:solidFill>
                <a:latin typeface="Open Sans"/>
                <a:ea typeface="Open Sans"/>
                <a:cs typeface="Open Sans"/>
              </a:defRPr>
            </a:lvl6pPr>
            <a:lvl7pPr algn="ctr">
              <a:defRPr sz="4632" b="1">
                <a:solidFill>
                  <a:srgbClr val="FFFFFF"/>
                </a:solidFill>
                <a:latin typeface="Open Sans"/>
                <a:ea typeface="Open Sans"/>
                <a:cs typeface="Open Sans"/>
              </a:defRPr>
            </a:lvl7pPr>
            <a:lvl8pPr algn="ctr">
              <a:defRPr sz="4632" b="1">
                <a:solidFill>
                  <a:srgbClr val="FFFFFF"/>
                </a:solidFill>
                <a:latin typeface="Open Sans"/>
                <a:ea typeface="Open Sans"/>
                <a:cs typeface="Open Sans"/>
              </a:defRPr>
            </a:lvl8pPr>
            <a:lvl9pPr algn="ctr">
              <a:defRPr sz="4632" b="1">
                <a:solidFill>
                  <a:srgbClr val="FFFFFF"/>
                </a:solidFill>
                <a:latin typeface="Open Sans"/>
                <a:ea typeface="Open Sans"/>
                <a:cs typeface="Open Sans"/>
              </a:defRPr>
            </a:lvl9pPr>
          </a:lstStyle>
          <a:p>
            <a:pPr algn="ctr">
              <a:defRPr sz="4632" b="1">
                <a:solidFill>
                  <a:srgbClr val="FFFFFF"/>
                </a:solidFill>
                <a:latin typeface="Open Sans"/>
                <a:ea typeface="Open Sans"/>
                <a:cs typeface="Open Sans"/>
              </a:defRPr>
            </a:pPr>
            <a:r>
              <a:rPr sz="4632" b="1">
                <a:solidFill>
                  <a:srgbClr val="FFFFFF"/>
                </a:solidFill>
                <a:latin typeface="Open Sans"/>
                <a:ea typeface="Open Sans"/>
                <a:cs typeface="Open Sans"/>
              </a:rPr>
              <a:t>Settings</a:t>
            </a:r>
          </a:p>
        </p:txBody>
      </p:sp>
      <p:pic>
        <p:nvPicPr>
          <p:cNvPr id="9" name="s15-pause-b image" descr="s15-pause-b image">
            <a:extLst>
              <a:ext uri="{FF2B5EF4-FFF2-40B4-BE49-F238E27FC236}">
                <a16:creationId xmlns:a16="http://schemas.microsoft.com/office/drawing/2014/main" id="{066F5B35-277D-4A22-B55C-98591CFFA471}"/>
              </a:ext>
            </a:extLst>
          </p:cNvPr>
          <p:cNvPicPr>
            <a:picLocks noChangeAspect="1"/>
          </p:cNvPicPr>
          <p:nvPr/>
        </p:nvPicPr>
        <p:blipFill>
          <a:blip r:embed="rId5"/>
          <a:stretch/>
        </p:blipFill>
        <p:spPr>
          <a:xfrm>
            <a:off x="9620250" y="3190875"/>
            <a:ext cx="7143750" cy="5567923"/>
          </a:xfrm>
          <a:prstGeom prst="rect">
            <a:avLst/>
          </a:prstGeom>
        </p:spPr>
      </p:pic>
      <p:sp>
        <p:nvSpPr>
          <p:cNvPr id="10" name="s15-pause-b text 4">
            <a:extLst>
              <a:ext uri="{FF2B5EF4-FFF2-40B4-BE49-F238E27FC236}">
                <a16:creationId xmlns:a16="http://schemas.microsoft.com/office/drawing/2014/main" id="{6D6E8627-EC85-468B-951E-4CE1350ABBB3}"/>
              </a:ext>
            </a:extLst>
          </p:cNvPr>
          <p:cNvSpPr>
            <a:spLocks noGrp="1"/>
          </p:cNvSpPr>
          <p:nvPr/>
        </p:nvSpPr>
        <p:spPr>
          <a:xfrm>
            <a:off x="11912974" y="4030056"/>
            <a:ext cx="2558303" cy="882463"/>
          </a:xfrm>
          <a:prstGeom prst="rect">
            <a:avLst/>
          </a:prstGeom>
          <a:noFill/>
          <a:ln w="0">
            <a:noFill/>
          </a:ln>
        </p:spPr>
        <p:txBody>
          <a:bodyPr wrap="none" lIns="0" tIns="0" rIns="0" bIns="0" anchor="t">
            <a:noAutofit/>
          </a:bodyPr>
          <a:lstStyle>
            <a:defPPr algn="ctr">
              <a:defRPr sz="4632" b="1">
                <a:solidFill>
                  <a:srgbClr val="FFFFFF"/>
                </a:solidFill>
                <a:latin typeface="Open Sans"/>
                <a:ea typeface="Open Sans"/>
                <a:cs typeface="Open Sans"/>
              </a:defRPr>
            </a:defPPr>
            <a:lvl1pPr algn="ctr">
              <a:defRPr sz="4632" b="1">
                <a:solidFill>
                  <a:srgbClr val="FFFFFF"/>
                </a:solidFill>
                <a:latin typeface="Open Sans"/>
                <a:ea typeface="Open Sans"/>
                <a:cs typeface="Open Sans"/>
              </a:defRPr>
            </a:lvl1pPr>
            <a:lvl2pPr algn="ctr">
              <a:defRPr sz="4632" b="1">
                <a:solidFill>
                  <a:srgbClr val="FFFFFF"/>
                </a:solidFill>
                <a:latin typeface="Open Sans"/>
                <a:ea typeface="Open Sans"/>
                <a:cs typeface="Open Sans"/>
              </a:defRPr>
            </a:lvl2pPr>
            <a:lvl3pPr algn="ctr">
              <a:defRPr sz="4632" b="1">
                <a:solidFill>
                  <a:srgbClr val="FFFFFF"/>
                </a:solidFill>
                <a:latin typeface="Open Sans"/>
                <a:ea typeface="Open Sans"/>
                <a:cs typeface="Open Sans"/>
              </a:defRPr>
            </a:lvl3pPr>
            <a:lvl4pPr algn="ctr">
              <a:defRPr sz="4632" b="1">
                <a:solidFill>
                  <a:srgbClr val="FFFFFF"/>
                </a:solidFill>
                <a:latin typeface="Open Sans"/>
                <a:ea typeface="Open Sans"/>
                <a:cs typeface="Open Sans"/>
              </a:defRPr>
            </a:lvl4pPr>
            <a:lvl5pPr algn="ctr">
              <a:defRPr sz="4632" b="1">
                <a:solidFill>
                  <a:srgbClr val="FFFFFF"/>
                </a:solidFill>
                <a:latin typeface="Open Sans"/>
                <a:ea typeface="Open Sans"/>
                <a:cs typeface="Open Sans"/>
              </a:defRPr>
            </a:lvl5pPr>
            <a:lvl6pPr algn="ctr">
              <a:defRPr sz="4632" b="1">
                <a:solidFill>
                  <a:srgbClr val="FFFFFF"/>
                </a:solidFill>
                <a:latin typeface="Open Sans"/>
                <a:ea typeface="Open Sans"/>
                <a:cs typeface="Open Sans"/>
              </a:defRPr>
            </a:lvl6pPr>
            <a:lvl7pPr algn="ctr">
              <a:defRPr sz="4632" b="1">
                <a:solidFill>
                  <a:srgbClr val="FFFFFF"/>
                </a:solidFill>
                <a:latin typeface="Open Sans"/>
                <a:ea typeface="Open Sans"/>
                <a:cs typeface="Open Sans"/>
              </a:defRPr>
            </a:lvl7pPr>
            <a:lvl8pPr algn="ctr">
              <a:defRPr sz="4632" b="1">
                <a:solidFill>
                  <a:srgbClr val="FFFFFF"/>
                </a:solidFill>
                <a:latin typeface="Open Sans"/>
                <a:ea typeface="Open Sans"/>
                <a:cs typeface="Open Sans"/>
              </a:defRPr>
            </a:lvl8pPr>
            <a:lvl9pPr algn="ctr">
              <a:defRPr sz="4632" b="1">
                <a:solidFill>
                  <a:srgbClr val="FFFFFF"/>
                </a:solidFill>
                <a:latin typeface="Open Sans"/>
                <a:ea typeface="Open Sans"/>
                <a:cs typeface="Open Sans"/>
              </a:defRPr>
            </a:lvl9pPr>
          </a:lstStyle>
          <a:p>
            <a:pPr algn="ctr">
              <a:defRPr sz="4632" b="1">
                <a:solidFill>
                  <a:srgbClr val="FFFFFF"/>
                </a:solidFill>
                <a:latin typeface="Open Sans"/>
                <a:ea typeface="Open Sans"/>
                <a:cs typeface="Open Sans"/>
              </a:defRPr>
            </a:pPr>
            <a:r>
              <a:rPr sz="4632" b="1">
                <a:solidFill>
                  <a:srgbClr val="FFFFFF"/>
                </a:solidFill>
                <a:latin typeface="Open Sans"/>
                <a:ea typeface="Open Sans"/>
                <a:cs typeface="Open Sans"/>
              </a:rPr>
              <a:t>Resume</a:t>
            </a:r>
          </a:p>
        </p:txBody>
      </p:sp>
      <p:sp>
        <p:nvSpPr>
          <p:cNvPr id="11" name="s15-pause-b text 5">
            <a:extLst>
              <a:ext uri="{FF2B5EF4-FFF2-40B4-BE49-F238E27FC236}">
                <a16:creationId xmlns:a16="http://schemas.microsoft.com/office/drawing/2014/main" id="{E0217CC0-0205-49EB-B2BA-B2BD348D0D05}"/>
              </a:ext>
            </a:extLst>
          </p:cNvPr>
          <p:cNvSpPr>
            <a:spLocks noGrp="1"/>
          </p:cNvSpPr>
          <p:nvPr/>
        </p:nvSpPr>
        <p:spPr>
          <a:xfrm>
            <a:off x="10748122" y="5710938"/>
            <a:ext cx="4888006" cy="882463"/>
          </a:xfrm>
          <a:prstGeom prst="rect">
            <a:avLst/>
          </a:prstGeom>
          <a:noFill/>
          <a:ln w="0">
            <a:noFill/>
          </a:ln>
        </p:spPr>
        <p:txBody>
          <a:bodyPr wrap="none" lIns="0" tIns="0" rIns="0" bIns="0" anchor="t">
            <a:noAutofit/>
          </a:bodyPr>
          <a:lstStyle>
            <a:defPPr algn="ctr">
              <a:defRPr sz="4632" b="1">
                <a:solidFill>
                  <a:srgbClr val="FFFFFF"/>
                </a:solidFill>
                <a:latin typeface="Open Sans"/>
                <a:ea typeface="Open Sans"/>
                <a:cs typeface="Open Sans"/>
              </a:defRPr>
            </a:defPPr>
            <a:lvl1pPr algn="ctr">
              <a:defRPr sz="4632" b="1">
                <a:solidFill>
                  <a:srgbClr val="FFFFFF"/>
                </a:solidFill>
                <a:latin typeface="Open Sans"/>
                <a:ea typeface="Open Sans"/>
                <a:cs typeface="Open Sans"/>
              </a:defRPr>
            </a:lvl1pPr>
            <a:lvl2pPr algn="ctr">
              <a:defRPr sz="4632" b="1">
                <a:solidFill>
                  <a:srgbClr val="FFFFFF"/>
                </a:solidFill>
                <a:latin typeface="Open Sans"/>
                <a:ea typeface="Open Sans"/>
                <a:cs typeface="Open Sans"/>
              </a:defRPr>
            </a:lvl2pPr>
            <a:lvl3pPr algn="ctr">
              <a:defRPr sz="4632" b="1">
                <a:solidFill>
                  <a:srgbClr val="FFFFFF"/>
                </a:solidFill>
                <a:latin typeface="Open Sans"/>
                <a:ea typeface="Open Sans"/>
                <a:cs typeface="Open Sans"/>
              </a:defRPr>
            </a:lvl3pPr>
            <a:lvl4pPr algn="ctr">
              <a:defRPr sz="4632" b="1">
                <a:solidFill>
                  <a:srgbClr val="FFFFFF"/>
                </a:solidFill>
                <a:latin typeface="Open Sans"/>
                <a:ea typeface="Open Sans"/>
                <a:cs typeface="Open Sans"/>
              </a:defRPr>
            </a:lvl4pPr>
            <a:lvl5pPr algn="ctr">
              <a:defRPr sz="4632" b="1">
                <a:solidFill>
                  <a:srgbClr val="FFFFFF"/>
                </a:solidFill>
                <a:latin typeface="Open Sans"/>
                <a:ea typeface="Open Sans"/>
                <a:cs typeface="Open Sans"/>
              </a:defRPr>
            </a:lvl5pPr>
            <a:lvl6pPr algn="ctr">
              <a:defRPr sz="4632" b="1">
                <a:solidFill>
                  <a:srgbClr val="FFFFFF"/>
                </a:solidFill>
                <a:latin typeface="Open Sans"/>
                <a:ea typeface="Open Sans"/>
                <a:cs typeface="Open Sans"/>
              </a:defRPr>
            </a:lvl6pPr>
            <a:lvl7pPr algn="ctr">
              <a:defRPr sz="4632" b="1">
                <a:solidFill>
                  <a:srgbClr val="FFFFFF"/>
                </a:solidFill>
                <a:latin typeface="Open Sans"/>
                <a:ea typeface="Open Sans"/>
                <a:cs typeface="Open Sans"/>
              </a:defRPr>
            </a:lvl7pPr>
            <a:lvl8pPr algn="ctr">
              <a:defRPr sz="4632" b="1">
                <a:solidFill>
                  <a:srgbClr val="FFFFFF"/>
                </a:solidFill>
                <a:latin typeface="Open Sans"/>
                <a:ea typeface="Open Sans"/>
                <a:cs typeface="Open Sans"/>
              </a:defRPr>
            </a:lvl8pPr>
            <a:lvl9pPr algn="ctr">
              <a:defRPr sz="4632" b="1">
                <a:solidFill>
                  <a:srgbClr val="FFFFFF"/>
                </a:solidFill>
                <a:latin typeface="Open Sans"/>
                <a:ea typeface="Open Sans"/>
                <a:cs typeface="Open Sans"/>
              </a:defRPr>
            </a:lvl9pPr>
          </a:lstStyle>
          <a:p>
            <a:pPr algn="ctr">
              <a:defRPr sz="4632" b="1">
                <a:solidFill>
                  <a:srgbClr val="FFFFFF"/>
                </a:solidFill>
                <a:latin typeface="Open Sans"/>
                <a:ea typeface="Open Sans"/>
                <a:cs typeface="Open Sans"/>
              </a:defRPr>
            </a:pPr>
            <a:r>
              <a:rPr sz="4632" b="1">
                <a:solidFill>
                  <a:srgbClr val="FFFFFF"/>
                </a:solidFill>
                <a:latin typeface="Open Sans"/>
                <a:ea typeface="Open Sans"/>
                <a:cs typeface="Open Sans"/>
              </a:rPr>
              <a:t>Restart room</a:t>
            </a:r>
          </a:p>
        </p:txBody>
      </p:sp>
      <p:sp>
        <p:nvSpPr>
          <p:cNvPr id="12" name="s15-pause-b text 6">
            <a:extLst>
              <a:ext uri="{FF2B5EF4-FFF2-40B4-BE49-F238E27FC236}">
                <a16:creationId xmlns:a16="http://schemas.microsoft.com/office/drawing/2014/main" id="{CEE20BFD-97AF-4A0E-B6D8-3169CD83FD09}"/>
              </a:ext>
            </a:extLst>
          </p:cNvPr>
          <p:cNvSpPr>
            <a:spLocks noGrp="1"/>
          </p:cNvSpPr>
          <p:nvPr/>
        </p:nvSpPr>
        <p:spPr>
          <a:xfrm>
            <a:off x="11524690" y="7391820"/>
            <a:ext cx="3334871" cy="882463"/>
          </a:xfrm>
          <a:prstGeom prst="rect">
            <a:avLst/>
          </a:prstGeom>
          <a:noFill/>
          <a:ln w="0">
            <a:noFill/>
          </a:ln>
        </p:spPr>
        <p:txBody>
          <a:bodyPr wrap="none" lIns="0" tIns="0" rIns="0" bIns="0" anchor="t">
            <a:noAutofit/>
          </a:bodyPr>
          <a:lstStyle>
            <a:defPPr algn="ctr">
              <a:defRPr sz="4632" b="1">
                <a:solidFill>
                  <a:srgbClr val="FFFFFF"/>
                </a:solidFill>
                <a:latin typeface="Open Sans"/>
                <a:ea typeface="Open Sans"/>
                <a:cs typeface="Open Sans"/>
              </a:defRPr>
            </a:defPPr>
            <a:lvl1pPr algn="ctr">
              <a:defRPr sz="4632" b="1">
                <a:solidFill>
                  <a:srgbClr val="FFFFFF"/>
                </a:solidFill>
                <a:latin typeface="Open Sans"/>
                <a:ea typeface="Open Sans"/>
                <a:cs typeface="Open Sans"/>
              </a:defRPr>
            </a:lvl1pPr>
            <a:lvl2pPr algn="ctr">
              <a:defRPr sz="4632" b="1">
                <a:solidFill>
                  <a:srgbClr val="FFFFFF"/>
                </a:solidFill>
                <a:latin typeface="Open Sans"/>
                <a:ea typeface="Open Sans"/>
                <a:cs typeface="Open Sans"/>
              </a:defRPr>
            </a:lvl2pPr>
            <a:lvl3pPr algn="ctr">
              <a:defRPr sz="4632" b="1">
                <a:solidFill>
                  <a:srgbClr val="FFFFFF"/>
                </a:solidFill>
                <a:latin typeface="Open Sans"/>
                <a:ea typeface="Open Sans"/>
                <a:cs typeface="Open Sans"/>
              </a:defRPr>
            </a:lvl3pPr>
            <a:lvl4pPr algn="ctr">
              <a:defRPr sz="4632" b="1">
                <a:solidFill>
                  <a:srgbClr val="FFFFFF"/>
                </a:solidFill>
                <a:latin typeface="Open Sans"/>
                <a:ea typeface="Open Sans"/>
                <a:cs typeface="Open Sans"/>
              </a:defRPr>
            </a:lvl4pPr>
            <a:lvl5pPr algn="ctr">
              <a:defRPr sz="4632" b="1">
                <a:solidFill>
                  <a:srgbClr val="FFFFFF"/>
                </a:solidFill>
                <a:latin typeface="Open Sans"/>
                <a:ea typeface="Open Sans"/>
                <a:cs typeface="Open Sans"/>
              </a:defRPr>
            </a:lvl5pPr>
            <a:lvl6pPr algn="ctr">
              <a:defRPr sz="4632" b="1">
                <a:solidFill>
                  <a:srgbClr val="FFFFFF"/>
                </a:solidFill>
                <a:latin typeface="Open Sans"/>
                <a:ea typeface="Open Sans"/>
                <a:cs typeface="Open Sans"/>
              </a:defRPr>
            </a:lvl6pPr>
            <a:lvl7pPr algn="ctr">
              <a:defRPr sz="4632" b="1">
                <a:solidFill>
                  <a:srgbClr val="FFFFFF"/>
                </a:solidFill>
                <a:latin typeface="Open Sans"/>
                <a:ea typeface="Open Sans"/>
                <a:cs typeface="Open Sans"/>
              </a:defRPr>
            </a:lvl7pPr>
            <a:lvl8pPr algn="ctr">
              <a:defRPr sz="4632" b="1">
                <a:solidFill>
                  <a:srgbClr val="FFFFFF"/>
                </a:solidFill>
                <a:latin typeface="Open Sans"/>
                <a:ea typeface="Open Sans"/>
                <a:cs typeface="Open Sans"/>
              </a:defRPr>
            </a:lvl8pPr>
            <a:lvl9pPr algn="ctr">
              <a:defRPr sz="4632" b="1">
                <a:solidFill>
                  <a:srgbClr val="FFFFFF"/>
                </a:solidFill>
                <a:latin typeface="Open Sans"/>
                <a:ea typeface="Open Sans"/>
                <a:cs typeface="Open Sans"/>
              </a:defRPr>
            </a:lvl9pPr>
          </a:lstStyle>
          <a:p>
            <a:pPr algn="ctr">
              <a:defRPr sz="4632" b="1">
                <a:solidFill>
                  <a:srgbClr val="FFFFFF"/>
                </a:solidFill>
                <a:latin typeface="Open Sans"/>
                <a:ea typeface="Open Sans"/>
                <a:cs typeface="Open Sans"/>
              </a:defRPr>
            </a:pPr>
            <a:r>
              <a:rPr sz="4632" b="1">
                <a:solidFill>
                  <a:srgbClr val="FFFFFF"/>
                </a:solidFill>
                <a:latin typeface="Open Sans"/>
                <a:ea typeface="Open Sans"/>
                <a:cs typeface="Open Sans"/>
              </a:rPr>
              <a:t>Settings</a:t>
            </a:r>
          </a:p>
        </p:txBody>
      </p:sp>
    </p:spTree>
    <p:extLst>
      <p:ext uri="{BB962C8B-B14F-4D97-AF65-F5344CB8AC3E}">
        <p14:creationId xmlns:p14="http://schemas.microsoft.com/office/powerpoint/2010/main" val="157656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5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5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5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p:bldP spid="12" grpId="0"/>
    </p:bldLst>
  </p:timing>
</p:sld>
</file>

<file path=ppt/slides/book_slide2.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14" name="Template clouds 14"/>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13" name="Template clouds 13"/>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2" name="Template grass 12"/>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1" name="Template grass 11"/>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0" name="Template grass 10"/>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9" name="Slide title">
            <a:extLst>
              <a:ext uri="{FF2B5EF4-FFF2-40B4-BE49-F238E27FC236}">
                <a16:creationId xmlns:a16="http://schemas.microsoft.com/office/drawing/2014/main" id="{E93D48F0-E66C-4813-BE1D-7164C730248C}"/>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WHEN DO I NEED THIS?</a:t>
            </a:r>
          </a:p>
        </p:txBody>
      </p:sp>
      <p:sp>
        <p:nvSpPr>
          <p:cNvPr id="2" name="Source credit">
            <a:extLst>
              <a:ext uri="{FF2B5EF4-FFF2-40B4-BE49-F238E27FC236}">
                <a16:creationId xmlns:a16="http://schemas.microsoft.com/office/drawing/2014/main" id="{DE0D52A1-BDE6-4116-A5B0-0D2F68560A01}"/>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1">
                <a:solidFill>
                  <a:srgbClr val="9AFFD2"/>
                </a:solidFill>
                <a:latin typeface="Open Sans"/>
                <a:ea typeface="Open Sans"/>
                <a:cs typeface="Open Sans"/>
              </a:rPr>
              <a:t>Book: </a:t>
            </a:r>
            <a:r>
              <a:rPr sz="2000" b="0">
                <a:solidFill>
                  <a:srgbClr val="FFFFFF"/>
                </a:solidFill>
                <a:latin typeface="Open Sans"/>
                <a:ea typeface="Open Sans"/>
                <a:cs typeface="Open Sans"/>
              </a:rPr>
              <a:t>Don’t Make Me Think / Steve Krug + Bookey summary     ·     Illustrative mockup</a:t>
            </a:r>
          </a:p>
        </p:txBody>
      </p:sp>
      <p:sp>
        <p:nvSpPr>
          <p:cNvPr id="3" name="Before play">
            <a:extLst>
              <a:ext uri="{FF2B5EF4-FFF2-40B4-BE49-F238E27FC236}">
                <a16:creationId xmlns:a16="http://schemas.microsoft.com/office/drawing/2014/main" id="{AC6BCD31-A539-44C1-B9EA-DF6B9F687379}"/>
              </a:ext>
            </a:extLst>
          </p:cNvPr>
          <p:cNvSpPr>
            <a:spLocks noGrp="1"/>
          </p:cNvSpPr>
          <p:nvPr/>
        </p:nvSpPr>
        <p:spPr>
          <a:xfrm>
            <a:off x="762000" y="2714625"/>
            <a:ext cx="5715000" cy="619125"/>
          </a:xfrm>
          <a:prstGeom prst="rect">
            <a:avLst/>
          </a:prstGeom>
          <a:noFill/>
          <a:ln w="0">
            <a:noFill/>
          </a:ln>
        </p:spPr>
        <p:txBody>
          <a:bodyPr wrap="none" lIns="0" tIns="0" rIns="0" bIns="0" anchor="t">
            <a:noAutofit/>
          </a:bodyPr>
          <a:lstStyle>
            <a:defPPr algn="l">
              <a:defRPr sz="3300" b="1">
                <a:solidFill>
                  <a:srgbClr val="9AFFD2"/>
                </a:solidFill>
                <a:latin typeface="Open Sans"/>
                <a:ea typeface="Open Sans"/>
                <a:cs typeface="Open Sans"/>
              </a:defRPr>
            </a:defPPr>
            <a:lvl1pPr algn="l">
              <a:defRPr sz="3300" b="1">
                <a:solidFill>
                  <a:srgbClr val="9AFFD2"/>
                </a:solidFill>
                <a:latin typeface="Open Sans"/>
                <a:ea typeface="Open Sans"/>
                <a:cs typeface="Open Sans"/>
              </a:defRPr>
            </a:lvl1pPr>
            <a:lvl2pPr algn="l">
              <a:defRPr sz="3300" b="1">
                <a:solidFill>
                  <a:srgbClr val="9AFFD2"/>
                </a:solidFill>
                <a:latin typeface="Open Sans"/>
                <a:ea typeface="Open Sans"/>
                <a:cs typeface="Open Sans"/>
              </a:defRPr>
            </a:lvl2pPr>
            <a:lvl3pPr algn="l">
              <a:defRPr sz="3300" b="1">
                <a:solidFill>
                  <a:srgbClr val="9AFFD2"/>
                </a:solidFill>
                <a:latin typeface="Open Sans"/>
                <a:ea typeface="Open Sans"/>
                <a:cs typeface="Open Sans"/>
              </a:defRPr>
            </a:lvl3pPr>
            <a:lvl4pPr algn="l">
              <a:defRPr sz="3300" b="1">
                <a:solidFill>
                  <a:srgbClr val="9AFFD2"/>
                </a:solidFill>
                <a:latin typeface="Open Sans"/>
                <a:ea typeface="Open Sans"/>
                <a:cs typeface="Open Sans"/>
              </a:defRPr>
            </a:lvl4pPr>
            <a:lvl5pPr algn="l">
              <a:defRPr sz="3300" b="1">
                <a:solidFill>
                  <a:srgbClr val="9AFFD2"/>
                </a:solidFill>
                <a:latin typeface="Open Sans"/>
                <a:ea typeface="Open Sans"/>
                <a:cs typeface="Open Sans"/>
              </a:defRPr>
            </a:lvl5pPr>
            <a:lvl6pPr algn="l">
              <a:defRPr sz="3300" b="1">
                <a:solidFill>
                  <a:srgbClr val="9AFFD2"/>
                </a:solidFill>
                <a:latin typeface="Open Sans"/>
                <a:ea typeface="Open Sans"/>
                <a:cs typeface="Open Sans"/>
              </a:defRPr>
            </a:lvl6pPr>
            <a:lvl7pPr algn="l">
              <a:defRPr sz="3300" b="1">
                <a:solidFill>
                  <a:srgbClr val="9AFFD2"/>
                </a:solidFill>
                <a:latin typeface="Open Sans"/>
                <a:ea typeface="Open Sans"/>
                <a:cs typeface="Open Sans"/>
              </a:defRPr>
            </a:lvl7pPr>
            <a:lvl8pPr algn="l">
              <a:defRPr sz="3300" b="1">
                <a:solidFill>
                  <a:srgbClr val="9AFFD2"/>
                </a:solidFill>
                <a:latin typeface="Open Sans"/>
                <a:ea typeface="Open Sans"/>
                <a:cs typeface="Open Sans"/>
              </a:defRPr>
            </a:lvl8pPr>
            <a:lvl9pPr algn="l">
              <a:defRPr sz="3300" b="1">
                <a:solidFill>
                  <a:srgbClr val="9AFFD2"/>
                </a:solidFill>
                <a:latin typeface="Open Sans"/>
                <a:ea typeface="Open Sans"/>
                <a:cs typeface="Open Sans"/>
              </a:defRPr>
            </a:lvl9pPr>
          </a:lstStyle>
          <a:p>
            <a:pPr algn="l">
              <a:defRPr sz="3300" b="1">
                <a:solidFill>
                  <a:srgbClr val="9AFFD2"/>
                </a:solidFill>
                <a:latin typeface="Open Sans"/>
                <a:ea typeface="Open Sans"/>
                <a:cs typeface="Open Sans"/>
              </a:defRPr>
            </a:pPr>
            <a:r>
              <a:rPr sz="3300" b="1">
                <a:solidFill>
                  <a:srgbClr val="9AFFD2"/>
                </a:solidFill>
                <a:latin typeface="Open Sans"/>
                <a:ea typeface="Open Sans"/>
                <a:cs typeface="Open Sans"/>
              </a:rPr>
              <a:t>Before play</a:t>
            </a:r>
          </a:p>
        </p:txBody>
      </p:sp>
      <p:sp>
        <p:nvSpPr>
          <p:cNvPr id="4" name="At the gap">
            <a:extLst>
              <a:ext uri="{FF2B5EF4-FFF2-40B4-BE49-F238E27FC236}">
                <a16:creationId xmlns:a16="http://schemas.microsoft.com/office/drawing/2014/main" id="{4EC9AB78-E859-4077-B4D0-907AE681B1D5}"/>
              </a:ext>
            </a:extLst>
          </p:cNvPr>
          <p:cNvSpPr>
            <a:spLocks noGrp="1"/>
          </p:cNvSpPr>
          <p:nvPr/>
        </p:nvSpPr>
        <p:spPr>
          <a:xfrm>
            <a:off x="7239000" y="2714625"/>
            <a:ext cx="10001250" cy="619125"/>
          </a:xfrm>
          <a:prstGeom prst="rect">
            <a:avLst/>
          </a:prstGeom>
          <a:noFill/>
          <a:ln w="0">
            <a:noFill/>
          </a:ln>
        </p:spPr>
        <p:txBody>
          <a:bodyPr wrap="none" lIns="0" tIns="0" rIns="0" bIns="0" anchor="t">
            <a:noAutofit/>
          </a:bodyPr>
          <a:lstStyle>
            <a:defPPr algn="l">
              <a:defRPr sz="3300" b="1">
                <a:solidFill>
                  <a:srgbClr val="9AFFD2"/>
                </a:solidFill>
                <a:latin typeface="Open Sans"/>
                <a:ea typeface="Open Sans"/>
                <a:cs typeface="Open Sans"/>
              </a:defRPr>
            </a:defPPr>
            <a:lvl1pPr algn="l">
              <a:defRPr sz="3300" b="1">
                <a:solidFill>
                  <a:srgbClr val="9AFFD2"/>
                </a:solidFill>
                <a:latin typeface="Open Sans"/>
                <a:ea typeface="Open Sans"/>
                <a:cs typeface="Open Sans"/>
              </a:defRPr>
            </a:lvl1pPr>
            <a:lvl2pPr algn="l">
              <a:defRPr sz="3300" b="1">
                <a:solidFill>
                  <a:srgbClr val="9AFFD2"/>
                </a:solidFill>
                <a:latin typeface="Open Sans"/>
                <a:ea typeface="Open Sans"/>
                <a:cs typeface="Open Sans"/>
              </a:defRPr>
            </a:lvl2pPr>
            <a:lvl3pPr algn="l">
              <a:defRPr sz="3300" b="1">
                <a:solidFill>
                  <a:srgbClr val="9AFFD2"/>
                </a:solidFill>
                <a:latin typeface="Open Sans"/>
                <a:ea typeface="Open Sans"/>
                <a:cs typeface="Open Sans"/>
              </a:defRPr>
            </a:lvl3pPr>
            <a:lvl4pPr algn="l">
              <a:defRPr sz="3300" b="1">
                <a:solidFill>
                  <a:srgbClr val="9AFFD2"/>
                </a:solidFill>
                <a:latin typeface="Open Sans"/>
                <a:ea typeface="Open Sans"/>
                <a:cs typeface="Open Sans"/>
              </a:defRPr>
            </a:lvl4pPr>
            <a:lvl5pPr algn="l">
              <a:defRPr sz="3300" b="1">
                <a:solidFill>
                  <a:srgbClr val="9AFFD2"/>
                </a:solidFill>
                <a:latin typeface="Open Sans"/>
                <a:ea typeface="Open Sans"/>
                <a:cs typeface="Open Sans"/>
              </a:defRPr>
            </a:lvl5pPr>
            <a:lvl6pPr algn="l">
              <a:defRPr sz="3300" b="1">
                <a:solidFill>
                  <a:srgbClr val="9AFFD2"/>
                </a:solidFill>
                <a:latin typeface="Open Sans"/>
                <a:ea typeface="Open Sans"/>
                <a:cs typeface="Open Sans"/>
              </a:defRPr>
            </a:lvl6pPr>
            <a:lvl7pPr algn="l">
              <a:defRPr sz="3300" b="1">
                <a:solidFill>
                  <a:srgbClr val="9AFFD2"/>
                </a:solidFill>
                <a:latin typeface="Open Sans"/>
                <a:ea typeface="Open Sans"/>
                <a:cs typeface="Open Sans"/>
              </a:defRPr>
            </a:lvl7pPr>
            <a:lvl8pPr algn="l">
              <a:defRPr sz="3300" b="1">
                <a:solidFill>
                  <a:srgbClr val="9AFFD2"/>
                </a:solidFill>
                <a:latin typeface="Open Sans"/>
                <a:ea typeface="Open Sans"/>
                <a:cs typeface="Open Sans"/>
              </a:defRPr>
            </a:lvl8pPr>
            <a:lvl9pPr algn="l">
              <a:defRPr sz="3300" b="1">
                <a:solidFill>
                  <a:srgbClr val="9AFFD2"/>
                </a:solidFill>
                <a:latin typeface="Open Sans"/>
                <a:ea typeface="Open Sans"/>
                <a:cs typeface="Open Sans"/>
              </a:defRPr>
            </a:lvl9pPr>
          </a:lstStyle>
          <a:p>
            <a:pPr algn="l">
              <a:defRPr sz="3300" b="1">
                <a:solidFill>
                  <a:srgbClr val="9AFFD2"/>
                </a:solidFill>
                <a:latin typeface="Open Sans"/>
                <a:ea typeface="Open Sans"/>
                <a:cs typeface="Open Sans"/>
              </a:defRPr>
            </a:pPr>
            <a:r>
              <a:rPr sz="3300" b="1">
                <a:solidFill>
                  <a:srgbClr val="9AFFD2"/>
                </a:solidFill>
                <a:latin typeface="Open Sans"/>
                <a:ea typeface="Open Sans"/>
                <a:cs typeface="Open Sans"/>
              </a:rPr>
              <a:t>At the gap</a:t>
            </a:r>
          </a:p>
        </p:txBody>
      </p:sp>
      <p:pic>
        <p:nvPicPr>
          <p:cNvPr id="5" name="s16-opening-controls image" descr="s16-opening-controls image">
            <a:extLst>
              <a:ext uri="{FF2B5EF4-FFF2-40B4-BE49-F238E27FC236}">
                <a16:creationId xmlns:a16="http://schemas.microsoft.com/office/drawing/2014/main" id="{56E8AE07-FECF-499E-BDDE-7BCAFA5CFFBD}"/>
              </a:ext>
            </a:extLst>
          </p:cNvPr>
          <p:cNvPicPr>
            <a:picLocks noChangeAspect="1"/>
          </p:cNvPicPr>
          <p:nvPr/>
        </p:nvPicPr>
        <p:blipFill>
          <a:blip r:embed="rId5"/>
          <a:stretch/>
        </p:blipFill>
        <p:spPr>
          <a:xfrm>
            <a:off x="762000" y="4381500"/>
            <a:ext cx="5715000" cy="3071813"/>
          </a:xfrm>
          <a:prstGeom prst="rect">
            <a:avLst/>
          </a:prstGeom>
        </p:spPr>
      </p:pic>
      <p:sp>
        <p:nvSpPr>
          <p:cNvPr id="6" name="s16-opening-controls text 7">
            <a:extLst>
              <a:ext uri="{FF2B5EF4-FFF2-40B4-BE49-F238E27FC236}">
                <a16:creationId xmlns:a16="http://schemas.microsoft.com/office/drawing/2014/main" id="{5E1793C0-D5BF-4479-92DF-23D2B1906968}"/>
              </a:ext>
            </a:extLst>
          </p:cNvPr>
          <p:cNvSpPr>
            <a:spLocks noGrp="1"/>
          </p:cNvSpPr>
          <p:nvPr/>
        </p:nvSpPr>
        <p:spPr>
          <a:xfrm>
            <a:off x="2512219" y="5124593"/>
            <a:ext cx="3029236" cy="578644"/>
          </a:xfrm>
          <a:prstGeom prst="rect">
            <a:avLst/>
          </a:prstGeom>
          <a:noFill/>
          <a:ln w="0">
            <a:noFill/>
          </a:ln>
        </p:spPr>
        <p:txBody>
          <a:bodyPr wrap="none" lIns="0" tIns="0" rIns="0" bIns="0" anchor="t">
            <a:noAutofit/>
          </a:bodyPr>
          <a:lstStyle>
            <a:defPPr algn="l">
              <a:defRPr sz="3038" b="1">
                <a:solidFill>
                  <a:srgbClr val="FFFFFF"/>
                </a:solidFill>
                <a:latin typeface="Open Sans"/>
                <a:ea typeface="Open Sans"/>
                <a:cs typeface="Open Sans"/>
              </a:defRPr>
            </a:defPPr>
            <a:lvl1pPr algn="l">
              <a:defRPr sz="3038" b="1">
                <a:solidFill>
                  <a:srgbClr val="FFFFFF"/>
                </a:solidFill>
                <a:latin typeface="Open Sans"/>
                <a:ea typeface="Open Sans"/>
                <a:cs typeface="Open Sans"/>
              </a:defRPr>
            </a:lvl1pPr>
            <a:lvl2pPr algn="l">
              <a:defRPr sz="3038" b="1">
                <a:solidFill>
                  <a:srgbClr val="FFFFFF"/>
                </a:solidFill>
                <a:latin typeface="Open Sans"/>
                <a:ea typeface="Open Sans"/>
                <a:cs typeface="Open Sans"/>
              </a:defRPr>
            </a:lvl2pPr>
            <a:lvl3pPr algn="l">
              <a:defRPr sz="3038" b="1">
                <a:solidFill>
                  <a:srgbClr val="FFFFFF"/>
                </a:solidFill>
                <a:latin typeface="Open Sans"/>
                <a:ea typeface="Open Sans"/>
                <a:cs typeface="Open Sans"/>
              </a:defRPr>
            </a:lvl3pPr>
            <a:lvl4pPr algn="l">
              <a:defRPr sz="3038" b="1">
                <a:solidFill>
                  <a:srgbClr val="FFFFFF"/>
                </a:solidFill>
                <a:latin typeface="Open Sans"/>
                <a:ea typeface="Open Sans"/>
                <a:cs typeface="Open Sans"/>
              </a:defRPr>
            </a:lvl4pPr>
            <a:lvl5pPr algn="l">
              <a:defRPr sz="3038" b="1">
                <a:solidFill>
                  <a:srgbClr val="FFFFFF"/>
                </a:solidFill>
                <a:latin typeface="Open Sans"/>
                <a:ea typeface="Open Sans"/>
                <a:cs typeface="Open Sans"/>
              </a:defRPr>
            </a:lvl5pPr>
            <a:lvl6pPr algn="l">
              <a:defRPr sz="3038" b="1">
                <a:solidFill>
                  <a:srgbClr val="FFFFFF"/>
                </a:solidFill>
                <a:latin typeface="Open Sans"/>
                <a:ea typeface="Open Sans"/>
                <a:cs typeface="Open Sans"/>
              </a:defRPr>
            </a:lvl6pPr>
            <a:lvl7pPr algn="l">
              <a:defRPr sz="3038" b="1">
                <a:solidFill>
                  <a:srgbClr val="FFFFFF"/>
                </a:solidFill>
                <a:latin typeface="Open Sans"/>
                <a:ea typeface="Open Sans"/>
                <a:cs typeface="Open Sans"/>
              </a:defRPr>
            </a:lvl7pPr>
            <a:lvl8pPr algn="l">
              <a:defRPr sz="3038" b="1">
                <a:solidFill>
                  <a:srgbClr val="FFFFFF"/>
                </a:solidFill>
                <a:latin typeface="Open Sans"/>
                <a:ea typeface="Open Sans"/>
                <a:cs typeface="Open Sans"/>
              </a:defRPr>
            </a:lvl8pPr>
            <a:lvl9pPr algn="l">
              <a:defRPr sz="3038" b="1">
                <a:solidFill>
                  <a:srgbClr val="FFFFFF"/>
                </a:solidFill>
                <a:latin typeface="Open Sans"/>
                <a:ea typeface="Open Sans"/>
                <a:cs typeface="Open Sans"/>
              </a:defRPr>
            </a:lvl9pPr>
          </a:lstStyle>
          <a:p>
            <a:pPr algn="l">
              <a:defRPr sz="3038" b="1">
                <a:solidFill>
                  <a:srgbClr val="FFFFFF"/>
                </a:solidFill>
                <a:latin typeface="Open Sans"/>
                <a:ea typeface="Open Sans"/>
                <a:cs typeface="Open Sans"/>
              </a:defRPr>
            </a:pPr>
            <a:r>
              <a:rPr sz="3038" b="1">
                <a:solidFill>
                  <a:srgbClr val="FFFFFF"/>
                </a:solidFill>
                <a:latin typeface="Open Sans"/>
                <a:ea typeface="Open Sans"/>
                <a:cs typeface="Open Sans"/>
              </a:rPr>
              <a:t>Space: Dash</a:t>
            </a:r>
          </a:p>
        </p:txBody>
      </p:sp>
      <p:pic>
        <p:nvPicPr>
          <p:cNvPr id="7" name="s16-contextual-gap image" descr="s16-contextual-gap image">
            <a:extLst>
              <a:ext uri="{FF2B5EF4-FFF2-40B4-BE49-F238E27FC236}">
                <a16:creationId xmlns:a16="http://schemas.microsoft.com/office/drawing/2014/main" id="{6F9D3F6D-9D5B-4615-9F48-93912F34E169}"/>
              </a:ext>
            </a:extLst>
          </p:cNvPr>
          <p:cNvPicPr>
            <a:picLocks noChangeAspect="1"/>
          </p:cNvPicPr>
          <p:nvPr/>
        </p:nvPicPr>
        <p:blipFill>
          <a:blip r:embed="rId6"/>
          <a:stretch/>
        </p:blipFill>
        <p:spPr>
          <a:xfrm>
            <a:off x="7239000" y="3524250"/>
            <a:ext cx="10287000" cy="5143500"/>
          </a:xfrm>
          <a:prstGeom prst="rect">
            <a:avLst/>
          </a:prstGeom>
        </p:spPr>
      </p:pic>
      <p:sp>
        <p:nvSpPr>
          <p:cNvPr id="8" name="s16-contextual-gap text 8">
            <a:extLst>
              <a:ext uri="{FF2B5EF4-FFF2-40B4-BE49-F238E27FC236}">
                <a16:creationId xmlns:a16="http://schemas.microsoft.com/office/drawing/2014/main" id="{01D10C94-BE81-40EF-9568-B66AA914882B}"/>
              </a:ext>
            </a:extLst>
          </p:cNvPr>
          <p:cNvSpPr>
            <a:spLocks noGrp="1"/>
          </p:cNvSpPr>
          <p:nvPr/>
        </p:nvSpPr>
        <p:spPr>
          <a:xfrm>
            <a:off x="11217176" y="4440597"/>
            <a:ext cx="3379315" cy="650974"/>
          </a:xfrm>
          <a:prstGeom prst="rect">
            <a:avLst/>
          </a:prstGeom>
          <a:noFill/>
          <a:ln w="0">
            <a:noFill/>
          </a:ln>
        </p:spPr>
        <p:txBody>
          <a:bodyPr wrap="none" lIns="0" tIns="0" rIns="0" bIns="0" anchor="t">
            <a:noAutofit/>
          </a:bodyPr>
          <a:lstStyle>
            <a:defPPr algn="l">
              <a:defRPr sz="3417" b="1">
                <a:solidFill>
                  <a:srgbClr val="FFFFFF"/>
                </a:solidFill>
                <a:latin typeface="Open Sans"/>
                <a:ea typeface="Open Sans"/>
                <a:cs typeface="Open Sans"/>
              </a:defRPr>
            </a:defPPr>
            <a:lvl1pPr algn="l">
              <a:defRPr sz="3417" b="1">
                <a:solidFill>
                  <a:srgbClr val="FFFFFF"/>
                </a:solidFill>
                <a:latin typeface="Open Sans"/>
                <a:ea typeface="Open Sans"/>
                <a:cs typeface="Open Sans"/>
              </a:defRPr>
            </a:lvl1pPr>
            <a:lvl2pPr algn="l">
              <a:defRPr sz="3417" b="1">
                <a:solidFill>
                  <a:srgbClr val="FFFFFF"/>
                </a:solidFill>
                <a:latin typeface="Open Sans"/>
                <a:ea typeface="Open Sans"/>
                <a:cs typeface="Open Sans"/>
              </a:defRPr>
            </a:lvl2pPr>
            <a:lvl3pPr algn="l">
              <a:defRPr sz="3417" b="1">
                <a:solidFill>
                  <a:srgbClr val="FFFFFF"/>
                </a:solidFill>
                <a:latin typeface="Open Sans"/>
                <a:ea typeface="Open Sans"/>
                <a:cs typeface="Open Sans"/>
              </a:defRPr>
            </a:lvl3pPr>
            <a:lvl4pPr algn="l">
              <a:defRPr sz="3417" b="1">
                <a:solidFill>
                  <a:srgbClr val="FFFFFF"/>
                </a:solidFill>
                <a:latin typeface="Open Sans"/>
                <a:ea typeface="Open Sans"/>
                <a:cs typeface="Open Sans"/>
              </a:defRPr>
            </a:lvl4pPr>
            <a:lvl5pPr algn="l">
              <a:defRPr sz="3417" b="1">
                <a:solidFill>
                  <a:srgbClr val="FFFFFF"/>
                </a:solidFill>
                <a:latin typeface="Open Sans"/>
                <a:ea typeface="Open Sans"/>
                <a:cs typeface="Open Sans"/>
              </a:defRPr>
            </a:lvl5pPr>
            <a:lvl6pPr algn="l">
              <a:defRPr sz="3417" b="1">
                <a:solidFill>
                  <a:srgbClr val="FFFFFF"/>
                </a:solidFill>
                <a:latin typeface="Open Sans"/>
                <a:ea typeface="Open Sans"/>
                <a:cs typeface="Open Sans"/>
              </a:defRPr>
            </a:lvl6pPr>
            <a:lvl7pPr algn="l">
              <a:defRPr sz="3417" b="1">
                <a:solidFill>
                  <a:srgbClr val="FFFFFF"/>
                </a:solidFill>
                <a:latin typeface="Open Sans"/>
                <a:ea typeface="Open Sans"/>
                <a:cs typeface="Open Sans"/>
              </a:defRPr>
            </a:lvl7pPr>
            <a:lvl8pPr algn="l">
              <a:defRPr sz="3417" b="1">
                <a:solidFill>
                  <a:srgbClr val="FFFFFF"/>
                </a:solidFill>
                <a:latin typeface="Open Sans"/>
                <a:ea typeface="Open Sans"/>
                <a:cs typeface="Open Sans"/>
              </a:defRPr>
            </a:lvl8pPr>
            <a:lvl9pPr algn="l">
              <a:defRPr sz="3417" b="1">
                <a:solidFill>
                  <a:srgbClr val="FFFFFF"/>
                </a:solidFill>
                <a:latin typeface="Open Sans"/>
                <a:ea typeface="Open Sans"/>
                <a:cs typeface="Open Sans"/>
              </a:defRPr>
            </a:lvl9pPr>
          </a:lstStyle>
          <a:p>
            <a:pPr algn="l">
              <a:defRPr sz="3417" b="1">
                <a:solidFill>
                  <a:srgbClr val="FFFFFF"/>
                </a:solidFill>
                <a:latin typeface="Open Sans"/>
                <a:ea typeface="Open Sans"/>
                <a:cs typeface="Open Sans"/>
              </a:defRPr>
            </a:pPr>
            <a:r>
              <a:rPr sz="3417" b="1">
                <a:solidFill>
                  <a:srgbClr val="FFFFFF"/>
                </a:solidFill>
                <a:latin typeface="Open Sans"/>
                <a:ea typeface="Open Sans"/>
                <a:cs typeface="Open Sans"/>
              </a:rPr>
              <a:t>Space: Dash</a:t>
            </a:r>
          </a:p>
        </p:txBody>
      </p:sp>
    </p:spTree>
    <p:extLst>
      <p:ext uri="{BB962C8B-B14F-4D97-AF65-F5344CB8AC3E}">
        <p14:creationId xmlns:p14="http://schemas.microsoft.com/office/powerpoint/2010/main" val="1402463049"/>
      </p:ext>
    </p:extLst>
  </p:cSld>
  <p:clrMapOvr>
    <a:masterClrMapping/>
  </p:clrMapOvr>
</p:sld>
</file>

<file path=ppt/slides/book_slide3.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16" name="Template clouds 16"/>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15" name="Template clouds 15"/>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4" name="Template grass 14"/>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3" name="Template grass 13"/>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2" name="Template grass 1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1" name="Slide title">
            <a:extLst>
              <a:ext uri="{FF2B5EF4-FFF2-40B4-BE49-F238E27FC236}">
                <a16:creationId xmlns:a16="http://schemas.microsoft.com/office/drawing/2014/main" id="{4E48B488-5268-45F9-87F0-0EE7AC53B517}"/>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WHERE DID THEY PAUSE?</a:t>
            </a:r>
          </a:p>
        </p:txBody>
      </p:sp>
      <p:sp>
        <p:nvSpPr>
          <p:cNvPr id="2" name="Source credit">
            <a:extLst>
              <a:ext uri="{FF2B5EF4-FFF2-40B4-BE49-F238E27FC236}">
                <a16:creationId xmlns:a16="http://schemas.microsoft.com/office/drawing/2014/main" id="{1BD056B6-8E79-4617-8F3B-0F3B80328015}"/>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1">
                <a:solidFill>
                  <a:srgbClr val="9AFFD2"/>
                </a:solidFill>
                <a:latin typeface="Open Sans"/>
                <a:ea typeface="Open Sans"/>
                <a:cs typeface="Open Sans"/>
              </a:rPr>
              <a:t>Book: </a:t>
            </a:r>
            <a:r>
              <a:rPr sz="2000" b="0">
                <a:solidFill>
                  <a:srgbClr val="FFFFFF"/>
                </a:solidFill>
                <a:latin typeface="Open Sans"/>
                <a:ea typeface="Open Sans"/>
                <a:cs typeface="Open Sans"/>
              </a:rPr>
              <a:t>Don’t Make Me Think / Steve Krug + Bookey summary     ·     Illustrative mockup</a:t>
            </a:r>
          </a:p>
        </p:txBody>
      </p:sp>
      <p:pic>
        <p:nvPicPr>
          <p:cNvPr id="3" name="s17-observe image" descr="s17-observe image">
            <a:extLst>
              <a:ext uri="{FF2B5EF4-FFF2-40B4-BE49-F238E27FC236}">
                <a16:creationId xmlns:a16="http://schemas.microsoft.com/office/drawing/2014/main" id="{E56554BE-525A-42BF-8CD8-7ED1EF948555}"/>
              </a:ext>
            </a:extLst>
          </p:cNvPr>
          <p:cNvPicPr>
            <a:picLocks noChangeAspect="1"/>
          </p:cNvPicPr>
          <p:nvPr/>
        </p:nvPicPr>
        <p:blipFill>
          <a:blip r:embed="rId5"/>
          <a:stretch/>
        </p:blipFill>
        <p:spPr>
          <a:xfrm>
            <a:off x="762000" y="3571875"/>
            <a:ext cx="5429250" cy="2926705"/>
          </a:xfrm>
          <a:prstGeom prst="rect">
            <a:avLst/>
          </a:prstGeom>
        </p:spPr>
      </p:pic>
      <p:sp>
        <p:nvSpPr>
          <p:cNvPr id="4" name="s17-observe caption">
            <a:extLst>
              <a:ext uri="{FF2B5EF4-FFF2-40B4-BE49-F238E27FC236}">
                <a16:creationId xmlns:a16="http://schemas.microsoft.com/office/drawing/2014/main" id="{B31B3BAD-9B7A-439F-B2EE-B0DC8A803193}"/>
              </a:ext>
            </a:extLst>
          </p:cNvPr>
          <p:cNvSpPr>
            <a:spLocks noGrp="1"/>
          </p:cNvSpPr>
          <p:nvPr/>
        </p:nvSpPr>
        <p:spPr>
          <a:xfrm>
            <a:off x="762000" y="7286625"/>
            <a:ext cx="5429250" cy="666750"/>
          </a:xfrm>
          <a:prstGeom prst="rect">
            <a:avLst/>
          </a:prstGeom>
          <a:noFill/>
          <a:ln w="0">
            <a:noFill/>
          </a:ln>
        </p:spPr>
        <p:txBody>
          <a:bodyPr wrap="none" lIns="0" tIns="0" rIns="0" bIns="0" anchor="t">
            <a:noAutofit/>
          </a:bodyPr>
          <a:lstStyle>
            <a:defPPr algn="ctr">
              <a:defRPr sz="3600" b="1">
                <a:solidFill>
                  <a:srgbClr val="9AFFD2"/>
                </a:solidFill>
                <a:latin typeface="Open Sans"/>
                <a:ea typeface="Open Sans"/>
                <a:cs typeface="Open Sans"/>
              </a:defRPr>
            </a:defPPr>
            <a:lvl1pPr algn="ctr">
              <a:defRPr sz="3600" b="1">
                <a:solidFill>
                  <a:srgbClr val="9AFFD2"/>
                </a:solidFill>
                <a:latin typeface="Open Sans"/>
                <a:ea typeface="Open Sans"/>
                <a:cs typeface="Open Sans"/>
              </a:defRPr>
            </a:lvl1pPr>
            <a:lvl2pPr algn="ctr">
              <a:defRPr sz="3600" b="1">
                <a:solidFill>
                  <a:srgbClr val="9AFFD2"/>
                </a:solidFill>
                <a:latin typeface="Open Sans"/>
                <a:ea typeface="Open Sans"/>
                <a:cs typeface="Open Sans"/>
              </a:defRPr>
            </a:lvl2pPr>
            <a:lvl3pPr algn="ctr">
              <a:defRPr sz="3600" b="1">
                <a:solidFill>
                  <a:srgbClr val="9AFFD2"/>
                </a:solidFill>
                <a:latin typeface="Open Sans"/>
                <a:ea typeface="Open Sans"/>
                <a:cs typeface="Open Sans"/>
              </a:defRPr>
            </a:lvl3pPr>
            <a:lvl4pPr algn="ctr">
              <a:defRPr sz="3600" b="1">
                <a:solidFill>
                  <a:srgbClr val="9AFFD2"/>
                </a:solidFill>
                <a:latin typeface="Open Sans"/>
                <a:ea typeface="Open Sans"/>
                <a:cs typeface="Open Sans"/>
              </a:defRPr>
            </a:lvl4pPr>
            <a:lvl5pPr algn="ctr">
              <a:defRPr sz="3600" b="1">
                <a:solidFill>
                  <a:srgbClr val="9AFFD2"/>
                </a:solidFill>
                <a:latin typeface="Open Sans"/>
                <a:ea typeface="Open Sans"/>
                <a:cs typeface="Open Sans"/>
              </a:defRPr>
            </a:lvl5pPr>
            <a:lvl6pPr algn="ctr">
              <a:defRPr sz="3600" b="1">
                <a:solidFill>
                  <a:srgbClr val="9AFFD2"/>
                </a:solidFill>
                <a:latin typeface="Open Sans"/>
                <a:ea typeface="Open Sans"/>
                <a:cs typeface="Open Sans"/>
              </a:defRPr>
            </a:lvl6pPr>
            <a:lvl7pPr algn="ctr">
              <a:defRPr sz="3600" b="1">
                <a:solidFill>
                  <a:srgbClr val="9AFFD2"/>
                </a:solidFill>
                <a:latin typeface="Open Sans"/>
                <a:ea typeface="Open Sans"/>
                <a:cs typeface="Open Sans"/>
              </a:defRPr>
            </a:lvl7pPr>
            <a:lvl8pPr algn="ctr">
              <a:defRPr sz="3600" b="1">
                <a:solidFill>
                  <a:srgbClr val="9AFFD2"/>
                </a:solidFill>
                <a:latin typeface="Open Sans"/>
                <a:ea typeface="Open Sans"/>
                <a:cs typeface="Open Sans"/>
              </a:defRPr>
            </a:lvl8pPr>
            <a:lvl9pPr algn="ctr">
              <a:defRPr sz="3600" b="1">
                <a:solidFill>
                  <a:srgbClr val="9AFFD2"/>
                </a:solidFill>
                <a:latin typeface="Open Sans"/>
                <a:ea typeface="Open Sans"/>
                <a:cs typeface="Open Sans"/>
              </a:defRPr>
            </a:lvl9pPr>
          </a:lstStyle>
          <a:p>
            <a:pPr algn="ctr">
              <a:defRPr sz="3600" b="1">
                <a:solidFill>
                  <a:srgbClr val="9AFFD2"/>
                </a:solidFill>
                <a:latin typeface="Open Sans"/>
                <a:ea typeface="Open Sans"/>
                <a:cs typeface="Open Sans"/>
              </a:defRPr>
            </a:pPr>
            <a:r>
              <a:rPr sz="3600" b="1">
                <a:solidFill>
                  <a:srgbClr val="9AFFD2"/>
                </a:solidFill>
                <a:latin typeface="Open Sans"/>
                <a:ea typeface="Open Sans"/>
                <a:cs typeface="Open Sans"/>
              </a:rPr>
              <a:t>Observe</a:t>
            </a:r>
          </a:p>
        </p:txBody>
      </p:sp>
      <p:pic>
        <p:nvPicPr>
          <p:cNvPr id="5" name="s17-change image" descr="s17-change image">
            <a:extLst>
              <a:ext uri="{FF2B5EF4-FFF2-40B4-BE49-F238E27FC236}">
                <a16:creationId xmlns:a16="http://schemas.microsoft.com/office/drawing/2014/main" id="{7B0B63EC-2F80-457C-B71A-B8310EB82D9A}"/>
              </a:ext>
            </a:extLst>
          </p:cNvPr>
          <p:cNvPicPr>
            <a:picLocks noChangeAspect="1"/>
          </p:cNvPicPr>
          <p:nvPr/>
        </p:nvPicPr>
        <p:blipFill>
          <a:blip r:embed="rId6"/>
          <a:stretch/>
        </p:blipFill>
        <p:spPr>
          <a:xfrm>
            <a:off x="6429375" y="3571875"/>
            <a:ext cx="5429250" cy="2926705"/>
          </a:xfrm>
          <a:prstGeom prst="rect">
            <a:avLst/>
          </a:prstGeom>
        </p:spPr>
      </p:pic>
      <p:sp>
        <p:nvSpPr>
          <p:cNvPr id="6" name="s17-change caption">
            <a:extLst>
              <a:ext uri="{FF2B5EF4-FFF2-40B4-BE49-F238E27FC236}">
                <a16:creationId xmlns:a16="http://schemas.microsoft.com/office/drawing/2014/main" id="{1EC2C6F9-E616-49B1-9257-F0F0A23D8246}"/>
              </a:ext>
            </a:extLst>
          </p:cNvPr>
          <p:cNvSpPr>
            <a:spLocks noGrp="1"/>
          </p:cNvSpPr>
          <p:nvPr/>
        </p:nvSpPr>
        <p:spPr>
          <a:xfrm>
            <a:off x="6429375" y="7286625"/>
            <a:ext cx="5429250" cy="666750"/>
          </a:xfrm>
          <a:prstGeom prst="rect">
            <a:avLst/>
          </a:prstGeom>
          <a:noFill/>
          <a:ln w="0">
            <a:noFill/>
          </a:ln>
        </p:spPr>
        <p:txBody>
          <a:bodyPr wrap="none" lIns="0" tIns="0" rIns="0" bIns="0" anchor="t">
            <a:noAutofit/>
          </a:bodyPr>
          <a:lstStyle>
            <a:defPPr algn="ctr">
              <a:defRPr sz="3600" b="1">
                <a:solidFill>
                  <a:srgbClr val="9AFFD2"/>
                </a:solidFill>
                <a:latin typeface="Open Sans"/>
                <a:ea typeface="Open Sans"/>
                <a:cs typeface="Open Sans"/>
              </a:defRPr>
            </a:defPPr>
            <a:lvl1pPr algn="ctr">
              <a:defRPr sz="3600" b="1">
                <a:solidFill>
                  <a:srgbClr val="9AFFD2"/>
                </a:solidFill>
                <a:latin typeface="Open Sans"/>
                <a:ea typeface="Open Sans"/>
                <a:cs typeface="Open Sans"/>
              </a:defRPr>
            </a:lvl1pPr>
            <a:lvl2pPr algn="ctr">
              <a:defRPr sz="3600" b="1">
                <a:solidFill>
                  <a:srgbClr val="9AFFD2"/>
                </a:solidFill>
                <a:latin typeface="Open Sans"/>
                <a:ea typeface="Open Sans"/>
                <a:cs typeface="Open Sans"/>
              </a:defRPr>
            </a:lvl2pPr>
            <a:lvl3pPr algn="ctr">
              <a:defRPr sz="3600" b="1">
                <a:solidFill>
                  <a:srgbClr val="9AFFD2"/>
                </a:solidFill>
                <a:latin typeface="Open Sans"/>
                <a:ea typeface="Open Sans"/>
                <a:cs typeface="Open Sans"/>
              </a:defRPr>
            </a:lvl3pPr>
            <a:lvl4pPr algn="ctr">
              <a:defRPr sz="3600" b="1">
                <a:solidFill>
                  <a:srgbClr val="9AFFD2"/>
                </a:solidFill>
                <a:latin typeface="Open Sans"/>
                <a:ea typeface="Open Sans"/>
                <a:cs typeface="Open Sans"/>
              </a:defRPr>
            </a:lvl4pPr>
            <a:lvl5pPr algn="ctr">
              <a:defRPr sz="3600" b="1">
                <a:solidFill>
                  <a:srgbClr val="9AFFD2"/>
                </a:solidFill>
                <a:latin typeface="Open Sans"/>
                <a:ea typeface="Open Sans"/>
                <a:cs typeface="Open Sans"/>
              </a:defRPr>
            </a:lvl5pPr>
            <a:lvl6pPr algn="ctr">
              <a:defRPr sz="3600" b="1">
                <a:solidFill>
                  <a:srgbClr val="9AFFD2"/>
                </a:solidFill>
                <a:latin typeface="Open Sans"/>
                <a:ea typeface="Open Sans"/>
                <a:cs typeface="Open Sans"/>
              </a:defRPr>
            </a:lvl6pPr>
            <a:lvl7pPr algn="ctr">
              <a:defRPr sz="3600" b="1">
                <a:solidFill>
                  <a:srgbClr val="9AFFD2"/>
                </a:solidFill>
                <a:latin typeface="Open Sans"/>
                <a:ea typeface="Open Sans"/>
                <a:cs typeface="Open Sans"/>
              </a:defRPr>
            </a:lvl7pPr>
            <a:lvl8pPr algn="ctr">
              <a:defRPr sz="3600" b="1">
                <a:solidFill>
                  <a:srgbClr val="9AFFD2"/>
                </a:solidFill>
                <a:latin typeface="Open Sans"/>
                <a:ea typeface="Open Sans"/>
                <a:cs typeface="Open Sans"/>
              </a:defRPr>
            </a:lvl8pPr>
            <a:lvl9pPr algn="ctr">
              <a:defRPr sz="3600" b="1">
                <a:solidFill>
                  <a:srgbClr val="9AFFD2"/>
                </a:solidFill>
                <a:latin typeface="Open Sans"/>
                <a:ea typeface="Open Sans"/>
                <a:cs typeface="Open Sans"/>
              </a:defRPr>
            </a:lvl9pPr>
          </a:lstStyle>
          <a:p>
            <a:pPr algn="ctr">
              <a:defRPr sz="3600" b="1">
                <a:solidFill>
                  <a:srgbClr val="9AFFD2"/>
                </a:solidFill>
                <a:latin typeface="Open Sans"/>
                <a:ea typeface="Open Sans"/>
                <a:cs typeface="Open Sans"/>
              </a:defRPr>
            </a:pPr>
            <a:r>
              <a:rPr sz="3600" b="1">
                <a:solidFill>
                  <a:srgbClr val="9AFFD2"/>
                </a:solidFill>
                <a:latin typeface="Open Sans"/>
                <a:ea typeface="Open Sans"/>
                <a:cs typeface="Open Sans"/>
              </a:rPr>
              <a:t>Change</a:t>
            </a:r>
          </a:p>
        </p:txBody>
      </p:sp>
      <p:pic>
        <p:nvPicPr>
          <p:cNvPr id="7" name="s17-retest image" descr="s17-retest image">
            <a:extLst>
              <a:ext uri="{FF2B5EF4-FFF2-40B4-BE49-F238E27FC236}">
                <a16:creationId xmlns:a16="http://schemas.microsoft.com/office/drawing/2014/main" id="{509DCEC0-B0FC-4719-9E68-526DA77F9913}"/>
              </a:ext>
            </a:extLst>
          </p:cNvPr>
          <p:cNvPicPr>
            <a:picLocks noChangeAspect="1"/>
          </p:cNvPicPr>
          <p:nvPr/>
        </p:nvPicPr>
        <p:blipFill>
          <a:blip r:embed="rId7"/>
          <a:stretch/>
        </p:blipFill>
        <p:spPr>
          <a:xfrm>
            <a:off x="12096750" y="3571875"/>
            <a:ext cx="5429250" cy="2926705"/>
          </a:xfrm>
          <a:prstGeom prst="rect">
            <a:avLst/>
          </a:prstGeom>
        </p:spPr>
      </p:pic>
      <p:sp>
        <p:nvSpPr>
          <p:cNvPr id="8" name="s17-retest caption">
            <a:extLst>
              <a:ext uri="{FF2B5EF4-FFF2-40B4-BE49-F238E27FC236}">
                <a16:creationId xmlns:a16="http://schemas.microsoft.com/office/drawing/2014/main" id="{C0643D1C-5241-4FA6-B432-DBD4D0AC221E}"/>
              </a:ext>
            </a:extLst>
          </p:cNvPr>
          <p:cNvSpPr>
            <a:spLocks noGrp="1"/>
          </p:cNvSpPr>
          <p:nvPr/>
        </p:nvSpPr>
        <p:spPr>
          <a:xfrm>
            <a:off x="12096750" y="7286625"/>
            <a:ext cx="5429250" cy="666750"/>
          </a:xfrm>
          <a:prstGeom prst="rect">
            <a:avLst/>
          </a:prstGeom>
          <a:noFill/>
          <a:ln w="0">
            <a:noFill/>
          </a:ln>
        </p:spPr>
        <p:txBody>
          <a:bodyPr wrap="none" lIns="0" tIns="0" rIns="0" bIns="0" anchor="t">
            <a:noAutofit/>
          </a:bodyPr>
          <a:lstStyle>
            <a:defPPr algn="ctr">
              <a:defRPr sz="3600" b="1">
                <a:solidFill>
                  <a:srgbClr val="9AFFD2"/>
                </a:solidFill>
                <a:latin typeface="Open Sans"/>
                <a:ea typeface="Open Sans"/>
                <a:cs typeface="Open Sans"/>
              </a:defRPr>
            </a:defPPr>
            <a:lvl1pPr algn="ctr">
              <a:defRPr sz="3600" b="1">
                <a:solidFill>
                  <a:srgbClr val="9AFFD2"/>
                </a:solidFill>
                <a:latin typeface="Open Sans"/>
                <a:ea typeface="Open Sans"/>
                <a:cs typeface="Open Sans"/>
              </a:defRPr>
            </a:lvl1pPr>
            <a:lvl2pPr algn="ctr">
              <a:defRPr sz="3600" b="1">
                <a:solidFill>
                  <a:srgbClr val="9AFFD2"/>
                </a:solidFill>
                <a:latin typeface="Open Sans"/>
                <a:ea typeface="Open Sans"/>
                <a:cs typeface="Open Sans"/>
              </a:defRPr>
            </a:lvl2pPr>
            <a:lvl3pPr algn="ctr">
              <a:defRPr sz="3600" b="1">
                <a:solidFill>
                  <a:srgbClr val="9AFFD2"/>
                </a:solidFill>
                <a:latin typeface="Open Sans"/>
                <a:ea typeface="Open Sans"/>
                <a:cs typeface="Open Sans"/>
              </a:defRPr>
            </a:lvl3pPr>
            <a:lvl4pPr algn="ctr">
              <a:defRPr sz="3600" b="1">
                <a:solidFill>
                  <a:srgbClr val="9AFFD2"/>
                </a:solidFill>
                <a:latin typeface="Open Sans"/>
                <a:ea typeface="Open Sans"/>
                <a:cs typeface="Open Sans"/>
              </a:defRPr>
            </a:lvl4pPr>
            <a:lvl5pPr algn="ctr">
              <a:defRPr sz="3600" b="1">
                <a:solidFill>
                  <a:srgbClr val="9AFFD2"/>
                </a:solidFill>
                <a:latin typeface="Open Sans"/>
                <a:ea typeface="Open Sans"/>
                <a:cs typeface="Open Sans"/>
              </a:defRPr>
            </a:lvl5pPr>
            <a:lvl6pPr algn="ctr">
              <a:defRPr sz="3600" b="1">
                <a:solidFill>
                  <a:srgbClr val="9AFFD2"/>
                </a:solidFill>
                <a:latin typeface="Open Sans"/>
                <a:ea typeface="Open Sans"/>
                <a:cs typeface="Open Sans"/>
              </a:defRPr>
            </a:lvl6pPr>
            <a:lvl7pPr algn="ctr">
              <a:defRPr sz="3600" b="1">
                <a:solidFill>
                  <a:srgbClr val="9AFFD2"/>
                </a:solidFill>
                <a:latin typeface="Open Sans"/>
                <a:ea typeface="Open Sans"/>
                <a:cs typeface="Open Sans"/>
              </a:defRPr>
            </a:lvl7pPr>
            <a:lvl8pPr algn="ctr">
              <a:defRPr sz="3600" b="1">
                <a:solidFill>
                  <a:srgbClr val="9AFFD2"/>
                </a:solidFill>
                <a:latin typeface="Open Sans"/>
                <a:ea typeface="Open Sans"/>
                <a:cs typeface="Open Sans"/>
              </a:defRPr>
            </a:lvl8pPr>
            <a:lvl9pPr algn="ctr">
              <a:defRPr sz="3600" b="1">
                <a:solidFill>
                  <a:srgbClr val="9AFFD2"/>
                </a:solidFill>
                <a:latin typeface="Open Sans"/>
                <a:ea typeface="Open Sans"/>
                <a:cs typeface="Open Sans"/>
              </a:defRPr>
            </a:lvl9pPr>
          </a:lstStyle>
          <a:p>
            <a:pPr algn="ctr">
              <a:defRPr sz="3600" b="1">
                <a:solidFill>
                  <a:srgbClr val="9AFFD2"/>
                </a:solidFill>
                <a:latin typeface="Open Sans"/>
                <a:ea typeface="Open Sans"/>
                <a:cs typeface="Open Sans"/>
              </a:defRPr>
            </a:pPr>
            <a:r>
              <a:rPr sz="3600" b="1">
                <a:solidFill>
                  <a:srgbClr val="9AFFD2"/>
                </a:solidFill>
                <a:latin typeface="Open Sans"/>
                <a:ea typeface="Open Sans"/>
                <a:cs typeface="Open Sans"/>
              </a:rPr>
              <a:t>Retest</a:t>
            </a:r>
          </a:p>
        </p:txBody>
      </p:sp>
      <p:sp>
        <p:nvSpPr>
          <p:cNvPr id="9" name="Observe to change">
            <a:extLst>
              <a:ext uri="{FF2B5EF4-FFF2-40B4-BE49-F238E27FC236}">
                <a16:creationId xmlns:a16="http://schemas.microsoft.com/office/drawing/2014/main" id="{056718A5-04C1-4CA7-8A34-70EA6D2162F8}"/>
              </a:ext>
            </a:extLst>
          </p:cNvPr>
          <p:cNvSpPr>
            <a:spLocks noGrp="1"/>
          </p:cNvSpPr>
          <p:nvPr/>
        </p:nvSpPr>
        <p:spPr>
          <a:xfrm>
            <a:off x="6143625" y="4953000"/>
            <a:ext cx="523875" cy="285750"/>
          </a:xfrm>
          <a:custGeom>
            <a:avLst/>
            <a:gdLst/>
            <a:ahLst/>
            <a:cxnLst/>
            <a:rect l="0" t="0" r="0" b="0"/>
            <a:pathLst>
              <a:path w="523875" h="285750">
                <a:moveTo>
                  <a:pt x="142875" y="142875"/>
                </a:moveTo>
                <a:lnTo>
                  <a:pt x="381000" y="142875"/>
                </a:lnTo>
                <a:moveTo>
                  <a:pt x="238125" y="221456"/>
                </a:moveTo>
                <a:lnTo>
                  <a:pt x="381000" y="142875"/>
                </a:lnTo>
                <a:lnTo>
                  <a:pt x="238125" y="64294"/>
                </a:lnTo>
              </a:path>
            </a:pathLst>
          </a:custGeom>
          <a:noFill/>
          <a:ln w="38100">
            <a:solidFill>
              <a:srgbClr val="FFFFFF"/>
            </a:solidFill>
          </a:ln>
        </p:spPr>
      </p:sp>
      <p:sp>
        <p:nvSpPr>
          <p:cNvPr id="10" name="Change to retest">
            <a:extLst>
              <a:ext uri="{FF2B5EF4-FFF2-40B4-BE49-F238E27FC236}">
                <a16:creationId xmlns:a16="http://schemas.microsoft.com/office/drawing/2014/main" id="{82F07613-0922-4BF2-B42F-49D16A0F9361}"/>
              </a:ext>
            </a:extLst>
          </p:cNvPr>
          <p:cNvSpPr>
            <a:spLocks noGrp="1"/>
          </p:cNvSpPr>
          <p:nvPr/>
        </p:nvSpPr>
        <p:spPr>
          <a:xfrm>
            <a:off x="11811000" y="4953000"/>
            <a:ext cx="523875" cy="285750"/>
          </a:xfrm>
          <a:custGeom>
            <a:avLst/>
            <a:gdLst/>
            <a:ahLst/>
            <a:cxnLst/>
            <a:rect l="0" t="0" r="0" b="0"/>
            <a:pathLst>
              <a:path w="523875" h="285750">
                <a:moveTo>
                  <a:pt x="142875" y="142875"/>
                </a:moveTo>
                <a:lnTo>
                  <a:pt x="381000" y="142875"/>
                </a:lnTo>
                <a:moveTo>
                  <a:pt x="238125" y="221456"/>
                </a:moveTo>
                <a:lnTo>
                  <a:pt x="381000" y="142875"/>
                </a:lnTo>
                <a:lnTo>
                  <a:pt x="238125" y="64294"/>
                </a:lnTo>
              </a:path>
            </a:pathLst>
          </a:custGeom>
          <a:noFill/>
          <a:ln w="38100">
            <a:solidFill>
              <a:srgbClr val="FFFFFF"/>
            </a:solidFill>
          </a:ln>
        </p:spPr>
      </p:sp>
    </p:spTree>
    <p:extLst>
      <p:ext uri="{BB962C8B-B14F-4D97-AF65-F5344CB8AC3E}">
        <p14:creationId xmlns:p14="http://schemas.microsoft.com/office/powerpoint/2010/main" val="863692409"/>
      </p:ext>
    </p:extLst>
  </p:cSld>
  <p:clrMapOvr>
    <a:masterClrMapping/>
  </p:clrMapOvr>
</p:sld>
</file>

<file path=ppt/slides/book_slide4.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14" name="Template clouds 14"/>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13" name="Template clouds 13"/>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2" name="Template grass 12"/>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1" name="Template grass 11"/>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0" name="Template grass 10"/>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9" name="Slide title">
            <a:extLst>
              <a:ext uri="{FF2B5EF4-FFF2-40B4-BE49-F238E27FC236}">
                <a16:creationId xmlns:a16="http://schemas.microsoft.com/office/drawing/2014/main" id="{8EA84769-6064-4245-B31F-F02FC98B7884}"/>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WHERE IS THE DANGER?</a:t>
            </a:r>
          </a:p>
        </p:txBody>
      </p:sp>
      <p:sp>
        <p:nvSpPr>
          <p:cNvPr id="2" name="Source credit">
            <a:extLst>
              <a:ext uri="{FF2B5EF4-FFF2-40B4-BE49-F238E27FC236}">
                <a16:creationId xmlns:a16="http://schemas.microsoft.com/office/drawing/2014/main" id="{EE152E48-4646-431F-83AA-76A96F296B82}"/>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1">
                <a:solidFill>
                  <a:srgbClr val="9AFFD2"/>
                </a:solidFill>
                <a:latin typeface="Open Sans"/>
                <a:ea typeface="Open Sans"/>
                <a:cs typeface="Open Sans"/>
              </a:rPr>
              <a:t>Book: </a:t>
            </a:r>
            <a:r>
              <a:rPr sz="2000" b="0">
                <a:solidFill>
                  <a:srgbClr val="FFFFFF"/>
                </a:solidFill>
                <a:latin typeface="Open Sans"/>
                <a:ea typeface="Open Sans"/>
                <a:cs typeface="Open Sans"/>
              </a:rPr>
              <a:t>100 Things Every Designer Needs to Know About People / Susan Weinschenk     ·     Illustrative mockup</a:t>
            </a:r>
          </a:p>
        </p:txBody>
      </p:sp>
      <p:pic>
        <p:nvPicPr>
          <p:cNvPr id="3" name="s18-competing image" descr="s18-competing image">
            <a:extLst>
              <a:ext uri="{FF2B5EF4-FFF2-40B4-BE49-F238E27FC236}">
                <a16:creationId xmlns:a16="http://schemas.microsoft.com/office/drawing/2014/main" id="{00D561B6-6D26-4C71-968D-0270E1D65214}"/>
              </a:ext>
            </a:extLst>
          </p:cNvPr>
          <p:cNvPicPr>
            <a:picLocks noChangeAspect="1"/>
          </p:cNvPicPr>
          <p:nvPr/>
        </p:nvPicPr>
        <p:blipFill>
          <a:blip r:embed="rId5"/>
          <a:stretch/>
        </p:blipFill>
        <p:spPr>
          <a:xfrm>
            <a:off x="3619500" y="2714625"/>
            <a:ext cx="10668000" cy="6000750"/>
          </a:xfrm>
          <a:prstGeom prst="rect">
            <a:avLst/>
          </a:prstGeom>
        </p:spPr>
      </p:pic>
      <p:pic>
        <p:nvPicPr>
          <p:cNvPr id="4" name="s18-quiet image" descr="s18-quiet image">
            <a:extLst>
              <a:ext uri="{FF2B5EF4-FFF2-40B4-BE49-F238E27FC236}">
                <a16:creationId xmlns:a16="http://schemas.microsoft.com/office/drawing/2014/main" id="{57CCA8AA-4367-4207-834B-7945AFB65D1A}"/>
              </a:ext>
            </a:extLst>
          </p:cNvPr>
          <p:cNvPicPr>
            <a:picLocks noChangeAspect="1"/>
          </p:cNvPicPr>
          <p:nvPr/>
        </p:nvPicPr>
        <p:blipFill>
          <a:blip r:embed="rId6"/>
          <a:stretch/>
        </p:blipFill>
        <p:spPr>
          <a:xfrm>
            <a:off x="3619500" y="2714625"/>
            <a:ext cx="10668000" cy="6000750"/>
          </a:xfrm>
          <a:prstGeom prst="rect">
            <a:avLst/>
          </a:prstGeom>
        </p:spPr>
      </p:pic>
      <p:sp>
        <p:nvSpPr>
          <p:cNvPr id="5" name="Competing cues">
            <a:extLst>
              <a:ext uri="{FF2B5EF4-FFF2-40B4-BE49-F238E27FC236}">
                <a16:creationId xmlns:a16="http://schemas.microsoft.com/office/drawing/2014/main" id="{EF3B18AE-2A4E-44E8-BA79-26CD50AD258E}"/>
              </a:ext>
            </a:extLst>
          </p:cNvPr>
          <p:cNvSpPr>
            <a:spLocks noGrp="1"/>
          </p:cNvSpPr>
          <p:nvPr/>
        </p:nvSpPr>
        <p:spPr>
          <a:xfrm>
            <a:off x="857250" y="3143250"/>
            <a:ext cx="2571750" cy="1333500"/>
          </a:xfrm>
          <a:prstGeom prst="rect">
            <a:avLst/>
          </a:prstGeom>
          <a:noFill/>
          <a:ln w="0">
            <a:noFill/>
          </a:ln>
        </p:spPr>
        <p:txBody>
          <a:bodyPr wrap="none" lIns="0" tIns="0" rIns="0" bIns="0" anchor="t">
            <a:noAutofit/>
          </a:bodyPr>
          <a:lstStyle>
            <a:defPPr algn="l">
              <a:defRPr sz="2925" b="1">
                <a:solidFill>
                  <a:srgbClr val="FFFFFF"/>
                </a:solidFill>
                <a:latin typeface="Open Sans"/>
                <a:ea typeface="Open Sans"/>
                <a:cs typeface="Open Sans"/>
              </a:defRPr>
            </a:defPPr>
            <a:lvl1pPr algn="l">
              <a:defRPr sz="2925" b="1">
                <a:solidFill>
                  <a:srgbClr val="FFFFFF"/>
                </a:solidFill>
                <a:latin typeface="Open Sans"/>
                <a:ea typeface="Open Sans"/>
                <a:cs typeface="Open Sans"/>
              </a:defRPr>
            </a:lvl1pPr>
            <a:lvl2pPr algn="l">
              <a:defRPr sz="2925" b="1">
                <a:solidFill>
                  <a:srgbClr val="FFFFFF"/>
                </a:solidFill>
                <a:latin typeface="Open Sans"/>
                <a:ea typeface="Open Sans"/>
                <a:cs typeface="Open Sans"/>
              </a:defRPr>
            </a:lvl2pPr>
            <a:lvl3pPr algn="l">
              <a:defRPr sz="2925" b="1">
                <a:solidFill>
                  <a:srgbClr val="FFFFFF"/>
                </a:solidFill>
                <a:latin typeface="Open Sans"/>
                <a:ea typeface="Open Sans"/>
                <a:cs typeface="Open Sans"/>
              </a:defRPr>
            </a:lvl3pPr>
            <a:lvl4pPr algn="l">
              <a:defRPr sz="2925" b="1">
                <a:solidFill>
                  <a:srgbClr val="FFFFFF"/>
                </a:solidFill>
                <a:latin typeface="Open Sans"/>
                <a:ea typeface="Open Sans"/>
                <a:cs typeface="Open Sans"/>
              </a:defRPr>
            </a:lvl4pPr>
            <a:lvl5pPr algn="l">
              <a:defRPr sz="2925" b="1">
                <a:solidFill>
                  <a:srgbClr val="FFFFFF"/>
                </a:solidFill>
                <a:latin typeface="Open Sans"/>
                <a:ea typeface="Open Sans"/>
                <a:cs typeface="Open Sans"/>
              </a:defRPr>
            </a:lvl5pPr>
            <a:lvl6pPr algn="l">
              <a:defRPr sz="2925" b="1">
                <a:solidFill>
                  <a:srgbClr val="FFFFFF"/>
                </a:solidFill>
                <a:latin typeface="Open Sans"/>
                <a:ea typeface="Open Sans"/>
                <a:cs typeface="Open Sans"/>
              </a:defRPr>
            </a:lvl6pPr>
            <a:lvl7pPr algn="l">
              <a:defRPr sz="2925" b="1">
                <a:solidFill>
                  <a:srgbClr val="FFFFFF"/>
                </a:solidFill>
                <a:latin typeface="Open Sans"/>
                <a:ea typeface="Open Sans"/>
                <a:cs typeface="Open Sans"/>
              </a:defRPr>
            </a:lvl7pPr>
            <a:lvl8pPr algn="l">
              <a:defRPr sz="2925" b="1">
                <a:solidFill>
                  <a:srgbClr val="FFFFFF"/>
                </a:solidFill>
                <a:latin typeface="Open Sans"/>
                <a:ea typeface="Open Sans"/>
                <a:cs typeface="Open Sans"/>
              </a:defRPr>
            </a:lvl8pPr>
            <a:lvl9pPr algn="l">
              <a:defRPr sz="2925" b="1">
                <a:solidFill>
                  <a:srgbClr val="FFFFFF"/>
                </a:solidFill>
                <a:latin typeface="Open Sans"/>
                <a:ea typeface="Open Sans"/>
                <a:cs typeface="Open Sans"/>
              </a:defRPr>
            </a:lvl9pPr>
          </a:lstStyle>
          <a:p>
            <a:pPr algn="l">
              <a:defRPr sz="2925" b="1">
                <a:solidFill>
                  <a:srgbClr val="FFFFFF"/>
                </a:solidFill>
                <a:latin typeface="Open Sans"/>
                <a:ea typeface="Open Sans"/>
                <a:cs typeface="Open Sans"/>
              </a:defRPr>
            </a:pPr>
            <a:r>
              <a:rPr sz="2925" b="1">
                <a:solidFill>
                  <a:srgbClr val="FFFFFF"/>
                </a:solidFill>
                <a:latin typeface="Open Sans"/>
                <a:ea typeface="Open Sans"/>
                <a:cs typeface="Open Sans"/>
              </a:rPr>
              <a:t>Competing</a:t>
            </a:r>
          </a:p>
          <a:p>
            <a:pPr algn="l">
              <a:defRPr sz="2925" b="1">
                <a:solidFill>
                  <a:srgbClr val="FFFFFF"/>
                </a:solidFill>
                <a:latin typeface="Open Sans"/>
                <a:ea typeface="Open Sans"/>
                <a:cs typeface="Open Sans"/>
              </a:defRPr>
            </a:pPr>
            <a:r>
              <a:rPr sz="2925" b="1">
                <a:solidFill>
                  <a:srgbClr val="FFFFFF"/>
                </a:solidFill>
                <a:latin typeface="Open Sans"/>
                <a:ea typeface="Open Sans"/>
                <a:cs typeface="Open Sans"/>
              </a:rPr>
              <a:t>cues</a:t>
            </a:r>
          </a:p>
        </p:txBody>
      </p:sp>
      <p:sp>
        <p:nvSpPr>
          <p:cNvPr id="7" name="Priority cover">
            <a:extLst>
              <a:ext uri="{FF2B5EF4-FFF2-40B4-BE49-F238E27FC236}">
                <a16:creationId xmlns:a16="http://schemas.microsoft.com/office/drawing/2014/main" id="{75676196-5FBC-4BB2-9AE0-DE133582E3E4}"/>
              </a:ext>
            </a:extLst>
          </p:cNvPr>
          <p:cNvSpPr>
            <a:spLocks noGrp="1"/>
          </p:cNvSpPr>
          <p:nvPr/>
        </p:nvSpPr>
        <p:spPr>
          <a:xfrm>
            <a:off x="762000" y="2857500"/>
            <a:ext cx="2762250" cy="1809750"/>
          </a:xfrm>
          <a:prstGeom prst="rect">
            <a:avLst/>
          </a:prstGeom>
          <a:solidFill>
            <a:srgbClr val="1A022B"/>
          </a:solidFill>
          <a:ln w="0">
            <a:solidFill>
              <a:srgbClr val="1A022B"/>
            </a:solidFill>
          </a:ln>
        </p:spPr>
      </p:sp>
      <p:sp>
        <p:nvSpPr>
          <p:cNvPr id="6" name="Priority label">
            <a:extLst>
              <a:ext uri="{FF2B5EF4-FFF2-40B4-BE49-F238E27FC236}">
                <a16:creationId xmlns:a16="http://schemas.microsoft.com/office/drawing/2014/main" id="{5CE8BBE8-E03C-44BC-95D4-53E9DD61EA2F}"/>
              </a:ext>
            </a:extLst>
          </p:cNvPr>
          <p:cNvSpPr>
            <a:spLocks noGrp="1"/>
          </p:cNvSpPr>
          <p:nvPr/>
        </p:nvSpPr>
        <p:spPr>
          <a:xfrm>
            <a:off x="857250" y="3143250"/>
            <a:ext cx="2571750" cy="1333500"/>
          </a:xfrm>
          <a:prstGeom prst="rect">
            <a:avLst/>
          </a:prstGeom>
          <a:noFill/>
          <a:ln w="0">
            <a:noFill/>
          </a:ln>
        </p:spPr>
        <p:txBody>
          <a:bodyPr wrap="none" lIns="0" tIns="0" rIns="0" bIns="0" anchor="t">
            <a:noAutofit/>
          </a:bodyPr>
          <a:lstStyle>
            <a:defPPr algn="l">
              <a:defRPr sz="2925" b="1">
                <a:solidFill>
                  <a:srgbClr val="9AFFD2"/>
                </a:solidFill>
                <a:latin typeface="Open Sans"/>
                <a:ea typeface="Open Sans"/>
                <a:cs typeface="Open Sans"/>
              </a:defRPr>
            </a:defPPr>
            <a:lvl1pPr algn="l">
              <a:defRPr sz="2925" b="1">
                <a:solidFill>
                  <a:srgbClr val="9AFFD2"/>
                </a:solidFill>
                <a:latin typeface="Open Sans"/>
                <a:ea typeface="Open Sans"/>
                <a:cs typeface="Open Sans"/>
              </a:defRPr>
            </a:lvl1pPr>
            <a:lvl2pPr algn="l">
              <a:defRPr sz="2925" b="1">
                <a:solidFill>
                  <a:srgbClr val="9AFFD2"/>
                </a:solidFill>
                <a:latin typeface="Open Sans"/>
                <a:ea typeface="Open Sans"/>
                <a:cs typeface="Open Sans"/>
              </a:defRPr>
            </a:lvl2pPr>
            <a:lvl3pPr algn="l">
              <a:defRPr sz="2925" b="1">
                <a:solidFill>
                  <a:srgbClr val="9AFFD2"/>
                </a:solidFill>
                <a:latin typeface="Open Sans"/>
                <a:ea typeface="Open Sans"/>
                <a:cs typeface="Open Sans"/>
              </a:defRPr>
            </a:lvl3pPr>
            <a:lvl4pPr algn="l">
              <a:defRPr sz="2925" b="1">
                <a:solidFill>
                  <a:srgbClr val="9AFFD2"/>
                </a:solidFill>
                <a:latin typeface="Open Sans"/>
                <a:ea typeface="Open Sans"/>
                <a:cs typeface="Open Sans"/>
              </a:defRPr>
            </a:lvl4pPr>
            <a:lvl5pPr algn="l">
              <a:defRPr sz="2925" b="1">
                <a:solidFill>
                  <a:srgbClr val="9AFFD2"/>
                </a:solidFill>
                <a:latin typeface="Open Sans"/>
                <a:ea typeface="Open Sans"/>
                <a:cs typeface="Open Sans"/>
              </a:defRPr>
            </a:lvl5pPr>
            <a:lvl6pPr algn="l">
              <a:defRPr sz="2925" b="1">
                <a:solidFill>
                  <a:srgbClr val="9AFFD2"/>
                </a:solidFill>
                <a:latin typeface="Open Sans"/>
                <a:ea typeface="Open Sans"/>
                <a:cs typeface="Open Sans"/>
              </a:defRPr>
            </a:lvl6pPr>
            <a:lvl7pPr algn="l">
              <a:defRPr sz="2925" b="1">
                <a:solidFill>
                  <a:srgbClr val="9AFFD2"/>
                </a:solidFill>
                <a:latin typeface="Open Sans"/>
                <a:ea typeface="Open Sans"/>
                <a:cs typeface="Open Sans"/>
              </a:defRPr>
            </a:lvl7pPr>
            <a:lvl8pPr algn="l">
              <a:defRPr sz="2925" b="1">
                <a:solidFill>
                  <a:srgbClr val="9AFFD2"/>
                </a:solidFill>
                <a:latin typeface="Open Sans"/>
                <a:ea typeface="Open Sans"/>
                <a:cs typeface="Open Sans"/>
              </a:defRPr>
            </a:lvl8pPr>
            <a:lvl9pPr algn="l">
              <a:defRPr sz="2925" b="1">
                <a:solidFill>
                  <a:srgbClr val="9AFFD2"/>
                </a:solidFill>
                <a:latin typeface="Open Sans"/>
                <a:ea typeface="Open Sans"/>
                <a:cs typeface="Open Sans"/>
              </a:defRPr>
            </a:lvl9pPr>
          </a:lstStyle>
          <a:p>
            <a:pPr algn="l">
              <a:defRPr sz="2925" b="1">
                <a:solidFill>
                  <a:srgbClr val="9AFFD2"/>
                </a:solidFill>
                <a:latin typeface="Open Sans"/>
                <a:ea typeface="Open Sans"/>
                <a:cs typeface="Open Sans"/>
              </a:defRPr>
            </a:pPr>
            <a:r>
              <a:rPr sz="2925" b="1">
                <a:solidFill>
                  <a:srgbClr val="9AFFD2"/>
                </a:solidFill>
                <a:latin typeface="Open Sans"/>
                <a:ea typeface="Open Sans"/>
                <a:cs typeface="Open Sans"/>
              </a:rPr>
              <a:t>Clearer</a:t>
            </a:r>
          </a:p>
          <a:p>
            <a:pPr algn="l">
              <a:defRPr sz="2925" b="1">
                <a:solidFill>
                  <a:srgbClr val="9AFFD2"/>
                </a:solidFill>
                <a:latin typeface="Open Sans"/>
                <a:ea typeface="Open Sans"/>
                <a:cs typeface="Open Sans"/>
              </a:defRPr>
            </a:pPr>
            <a:r>
              <a:rPr sz="2925" b="1">
                <a:solidFill>
                  <a:srgbClr val="9AFFD2"/>
                </a:solidFill>
                <a:latin typeface="Open Sans"/>
                <a:ea typeface="Open Sans"/>
                <a:cs typeface="Open Sans"/>
              </a:rPr>
              <a:t>priority</a:t>
            </a:r>
          </a:p>
        </p:txBody>
      </p:sp>
      <p:sp>
        <p:nvSpPr>
          <p:cNvPr id="8" name="Attack focus">
            <a:extLst>
              <a:ext uri="{FF2B5EF4-FFF2-40B4-BE49-F238E27FC236}">
                <a16:creationId xmlns:a16="http://schemas.microsoft.com/office/drawing/2014/main" id="{A542BD35-E4D6-449D-A521-BE70AD476150}"/>
              </a:ext>
            </a:extLst>
          </p:cNvPr>
          <p:cNvSpPr>
            <a:spLocks noGrp="1"/>
          </p:cNvSpPr>
          <p:nvPr/>
        </p:nvSpPr>
        <p:spPr>
          <a:xfrm>
            <a:off x="2809875" y="6524625"/>
            <a:ext cx="5203031" cy="291703"/>
          </a:xfrm>
          <a:custGeom>
            <a:avLst/>
            <a:gdLst/>
            <a:ahLst/>
            <a:cxnLst/>
            <a:rect l="0" t="0" r="0" b="0"/>
            <a:pathLst>
              <a:path w="5203031" h="291703">
                <a:moveTo>
                  <a:pt x="142875" y="142875"/>
                </a:moveTo>
                <a:lnTo>
                  <a:pt x="5060156" y="148828"/>
                </a:lnTo>
                <a:moveTo>
                  <a:pt x="4917186" y="227236"/>
                </a:moveTo>
                <a:lnTo>
                  <a:pt x="5060156" y="148828"/>
                </a:lnTo>
                <a:lnTo>
                  <a:pt x="4917376" y="70074"/>
                </a:lnTo>
              </a:path>
            </a:pathLst>
          </a:custGeom>
          <a:noFill/>
          <a:ln w="47625">
            <a:solidFill>
              <a:srgbClr val="9AFFD2"/>
            </a:solidFill>
          </a:ln>
        </p:spPr>
      </p:sp>
    </p:spTree>
    <p:extLst>
      <p:ext uri="{BB962C8B-B14F-4D97-AF65-F5344CB8AC3E}">
        <p14:creationId xmlns:p14="http://schemas.microsoft.com/office/powerpoint/2010/main" val="198444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5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book_slide5.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14" name="Template clouds 14"/>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13" name="Template clouds 13"/>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2" name="Template grass 12"/>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1" name="Template grass 11"/>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0" name="Template grass 10"/>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9" name="Slide title">
            <a:extLst>
              <a:ext uri="{FF2B5EF4-FFF2-40B4-BE49-F238E27FC236}">
                <a16:creationId xmlns:a16="http://schemas.microsoft.com/office/drawing/2014/main" id="{5F203D7C-4CBF-46EC-B919-421027BC8A83}"/>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CAN YOU TELL THEM APART?</a:t>
            </a:r>
          </a:p>
        </p:txBody>
      </p:sp>
      <p:sp>
        <p:nvSpPr>
          <p:cNvPr id="2" name="Source credit">
            <a:extLst>
              <a:ext uri="{FF2B5EF4-FFF2-40B4-BE49-F238E27FC236}">
                <a16:creationId xmlns:a16="http://schemas.microsoft.com/office/drawing/2014/main" id="{D9AAC45E-B8EF-470B-B15C-D774CE7E5A52}"/>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1">
                <a:solidFill>
                  <a:srgbClr val="9AFFD2"/>
                </a:solidFill>
                <a:latin typeface="Open Sans"/>
                <a:ea typeface="Open Sans"/>
                <a:cs typeface="Open Sans"/>
              </a:rPr>
              <a:t>Book: </a:t>
            </a:r>
            <a:r>
              <a:rPr sz="2000" b="0">
                <a:solidFill>
                  <a:srgbClr val="FFFFFF"/>
                </a:solidFill>
                <a:latin typeface="Open Sans"/>
                <a:ea typeface="Open Sans"/>
                <a:cs typeface="Open Sans"/>
              </a:rPr>
              <a:t>100 Things Every Designer Needs to Know About People / Susan Weinschenk     ·     Illustrative mockup</a:t>
            </a:r>
          </a:p>
        </p:txBody>
      </p:sp>
      <p:pic>
        <p:nvPicPr>
          <p:cNvPr id="3" name="s19-labeled-roles image" descr="s19-labeled-roles image">
            <a:extLst>
              <a:ext uri="{FF2B5EF4-FFF2-40B4-BE49-F238E27FC236}">
                <a16:creationId xmlns:a16="http://schemas.microsoft.com/office/drawing/2014/main" id="{4CE6F398-300F-4E86-BE12-373B3C767E03}"/>
              </a:ext>
            </a:extLst>
          </p:cNvPr>
          <p:cNvPicPr>
            <a:picLocks noChangeAspect="1"/>
          </p:cNvPicPr>
          <p:nvPr/>
        </p:nvPicPr>
        <p:blipFill>
          <a:blip r:embed="rId5"/>
          <a:stretch/>
        </p:blipFill>
        <p:spPr>
          <a:xfrm>
            <a:off x="4381500" y="2571750"/>
            <a:ext cx="9525000" cy="4092773"/>
          </a:xfrm>
          <a:prstGeom prst="rect">
            <a:avLst/>
          </a:prstGeom>
        </p:spPr>
      </p:pic>
      <p:sp>
        <p:nvSpPr>
          <p:cNvPr id="4" name="s19-labeled-roles text 9">
            <a:extLst>
              <a:ext uri="{FF2B5EF4-FFF2-40B4-BE49-F238E27FC236}">
                <a16:creationId xmlns:a16="http://schemas.microsoft.com/office/drawing/2014/main" id="{3A13BC04-A2D5-49D9-8561-7820801B3179}"/>
              </a:ext>
            </a:extLst>
          </p:cNvPr>
          <p:cNvSpPr>
            <a:spLocks noGrp="1"/>
          </p:cNvSpPr>
          <p:nvPr/>
        </p:nvSpPr>
        <p:spPr>
          <a:xfrm>
            <a:off x="4884360" y="6035397"/>
            <a:ext cx="2491740" cy="571500"/>
          </a:xfrm>
          <a:prstGeom prst="rect">
            <a:avLst/>
          </a:prstGeom>
          <a:noFill/>
          <a:ln w="0">
            <a:noFill/>
          </a:ln>
        </p:spPr>
        <p:txBody>
          <a:bodyPr wrap="none" lIns="0" tIns="0" rIns="0" bIns="0" anchor="t">
            <a:noAutofit/>
          </a:bodyPr>
          <a:lstStyle>
            <a:defPPr algn="ctr">
              <a:defRPr sz="3000" b="1">
                <a:solidFill>
                  <a:srgbClr val="FFFFFF"/>
                </a:solidFill>
                <a:latin typeface="Open Sans"/>
                <a:ea typeface="Open Sans"/>
                <a:cs typeface="Open Sans"/>
              </a:defRPr>
            </a:defPPr>
            <a:lvl1pPr algn="ctr">
              <a:defRPr sz="3000" b="1">
                <a:solidFill>
                  <a:srgbClr val="FFFFFF"/>
                </a:solidFill>
                <a:latin typeface="Open Sans"/>
                <a:ea typeface="Open Sans"/>
                <a:cs typeface="Open Sans"/>
              </a:defRPr>
            </a:lvl1pPr>
            <a:lvl2pPr algn="ctr">
              <a:defRPr sz="3000" b="1">
                <a:solidFill>
                  <a:srgbClr val="FFFFFF"/>
                </a:solidFill>
                <a:latin typeface="Open Sans"/>
                <a:ea typeface="Open Sans"/>
                <a:cs typeface="Open Sans"/>
              </a:defRPr>
            </a:lvl2pPr>
            <a:lvl3pPr algn="ctr">
              <a:defRPr sz="3000" b="1">
                <a:solidFill>
                  <a:srgbClr val="FFFFFF"/>
                </a:solidFill>
                <a:latin typeface="Open Sans"/>
                <a:ea typeface="Open Sans"/>
                <a:cs typeface="Open Sans"/>
              </a:defRPr>
            </a:lvl3pPr>
            <a:lvl4pPr algn="ctr">
              <a:defRPr sz="3000" b="1">
                <a:solidFill>
                  <a:srgbClr val="FFFFFF"/>
                </a:solidFill>
                <a:latin typeface="Open Sans"/>
                <a:ea typeface="Open Sans"/>
                <a:cs typeface="Open Sans"/>
              </a:defRPr>
            </a:lvl4pPr>
            <a:lvl5pPr algn="ctr">
              <a:defRPr sz="3000" b="1">
                <a:solidFill>
                  <a:srgbClr val="FFFFFF"/>
                </a:solidFill>
                <a:latin typeface="Open Sans"/>
                <a:ea typeface="Open Sans"/>
                <a:cs typeface="Open Sans"/>
              </a:defRPr>
            </a:lvl5pPr>
            <a:lvl6pPr algn="ctr">
              <a:defRPr sz="3000" b="1">
                <a:solidFill>
                  <a:srgbClr val="FFFFFF"/>
                </a:solidFill>
                <a:latin typeface="Open Sans"/>
                <a:ea typeface="Open Sans"/>
                <a:cs typeface="Open Sans"/>
              </a:defRPr>
            </a:lvl6pPr>
            <a:lvl7pPr algn="ctr">
              <a:defRPr sz="3000" b="1">
                <a:solidFill>
                  <a:srgbClr val="FFFFFF"/>
                </a:solidFill>
                <a:latin typeface="Open Sans"/>
                <a:ea typeface="Open Sans"/>
                <a:cs typeface="Open Sans"/>
              </a:defRPr>
            </a:lvl7pPr>
            <a:lvl8pPr algn="ctr">
              <a:defRPr sz="3000" b="1">
                <a:solidFill>
                  <a:srgbClr val="FFFFFF"/>
                </a:solidFill>
                <a:latin typeface="Open Sans"/>
                <a:ea typeface="Open Sans"/>
                <a:cs typeface="Open Sans"/>
              </a:defRPr>
            </a:lvl8pPr>
            <a:lvl9pPr algn="ctr">
              <a:defRPr sz="3000" b="1">
                <a:solidFill>
                  <a:srgbClr val="FFFFFF"/>
                </a:solidFill>
                <a:latin typeface="Open Sans"/>
                <a:ea typeface="Open Sans"/>
                <a:cs typeface="Open Sans"/>
              </a:defRPr>
            </a:lvl9pPr>
          </a:lstStyle>
          <a:p>
            <a:pPr algn="ctr">
              <a:defRPr sz="3000" b="1">
                <a:solidFill>
                  <a:srgbClr val="FFFFFF"/>
                </a:solidFill>
                <a:latin typeface="Open Sans"/>
                <a:ea typeface="Open Sans"/>
                <a:cs typeface="Open Sans"/>
              </a:defRPr>
            </a:pPr>
            <a:r>
              <a:rPr sz="3000" b="1">
                <a:solidFill>
                  <a:srgbClr val="FFFFFF"/>
                </a:solidFill>
                <a:latin typeface="Open Sans"/>
                <a:ea typeface="Open Sans"/>
                <a:cs typeface="Open Sans"/>
              </a:rPr>
              <a:t>Companion</a:t>
            </a:r>
          </a:p>
        </p:txBody>
      </p:sp>
      <p:sp>
        <p:nvSpPr>
          <p:cNvPr id="5" name="s19-labeled-roles text 10">
            <a:extLst>
              <a:ext uri="{FF2B5EF4-FFF2-40B4-BE49-F238E27FC236}">
                <a16:creationId xmlns:a16="http://schemas.microsoft.com/office/drawing/2014/main" id="{A9A5CF9A-3CDA-4472-8C3D-AC99F6122C2A}"/>
              </a:ext>
            </a:extLst>
          </p:cNvPr>
          <p:cNvSpPr>
            <a:spLocks noGrp="1"/>
          </p:cNvSpPr>
          <p:nvPr/>
        </p:nvSpPr>
        <p:spPr>
          <a:xfrm>
            <a:off x="8698706" y="6035397"/>
            <a:ext cx="1485900" cy="571500"/>
          </a:xfrm>
          <a:prstGeom prst="rect">
            <a:avLst/>
          </a:prstGeom>
          <a:noFill/>
          <a:ln w="0">
            <a:noFill/>
          </a:ln>
        </p:spPr>
        <p:txBody>
          <a:bodyPr wrap="none" lIns="0" tIns="0" rIns="0" bIns="0" anchor="t">
            <a:noAutofit/>
          </a:bodyPr>
          <a:lstStyle>
            <a:defPPr algn="ctr">
              <a:defRPr sz="3000" b="1">
                <a:solidFill>
                  <a:srgbClr val="FFFFFF"/>
                </a:solidFill>
                <a:latin typeface="Open Sans"/>
                <a:ea typeface="Open Sans"/>
                <a:cs typeface="Open Sans"/>
              </a:defRPr>
            </a:defPPr>
            <a:lvl1pPr algn="ctr">
              <a:defRPr sz="3000" b="1">
                <a:solidFill>
                  <a:srgbClr val="FFFFFF"/>
                </a:solidFill>
                <a:latin typeface="Open Sans"/>
                <a:ea typeface="Open Sans"/>
                <a:cs typeface="Open Sans"/>
              </a:defRPr>
            </a:lvl1pPr>
            <a:lvl2pPr algn="ctr">
              <a:defRPr sz="3000" b="1">
                <a:solidFill>
                  <a:srgbClr val="FFFFFF"/>
                </a:solidFill>
                <a:latin typeface="Open Sans"/>
                <a:ea typeface="Open Sans"/>
                <a:cs typeface="Open Sans"/>
              </a:defRPr>
            </a:lvl2pPr>
            <a:lvl3pPr algn="ctr">
              <a:defRPr sz="3000" b="1">
                <a:solidFill>
                  <a:srgbClr val="FFFFFF"/>
                </a:solidFill>
                <a:latin typeface="Open Sans"/>
                <a:ea typeface="Open Sans"/>
                <a:cs typeface="Open Sans"/>
              </a:defRPr>
            </a:lvl3pPr>
            <a:lvl4pPr algn="ctr">
              <a:defRPr sz="3000" b="1">
                <a:solidFill>
                  <a:srgbClr val="FFFFFF"/>
                </a:solidFill>
                <a:latin typeface="Open Sans"/>
                <a:ea typeface="Open Sans"/>
                <a:cs typeface="Open Sans"/>
              </a:defRPr>
            </a:lvl4pPr>
            <a:lvl5pPr algn="ctr">
              <a:defRPr sz="3000" b="1">
                <a:solidFill>
                  <a:srgbClr val="FFFFFF"/>
                </a:solidFill>
                <a:latin typeface="Open Sans"/>
                <a:ea typeface="Open Sans"/>
                <a:cs typeface="Open Sans"/>
              </a:defRPr>
            </a:lvl5pPr>
            <a:lvl6pPr algn="ctr">
              <a:defRPr sz="3000" b="1">
                <a:solidFill>
                  <a:srgbClr val="FFFFFF"/>
                </a:solidFill>
                <a:latin typeface="Open Sans"/>
                <a:ea typeface="Open Sans"/>
                <a:cs typeface="Open Sans"/>
              </a:defRPr>
            </a:lvl6pPr>
            <a:lvl7pPr algn="ctr">
              <a:defRPr sz="3000" b="1">
                <a:solidFill>
                  <a:srgbClr val="FFFFFF"/>
                </a:solidFill>
                <a:latin typeface="Open Sans"/>
                <a:ea typeface="Open Sans"/>
                <a:cs typeface="Open Sans"/>
              </a:defRPr>
            </a:lvl7pPr>
            <a:lvl8pPr algn="ctr">
              <a:defRPr sz="3000" b="1">
                <a:solidFill>
                  <a:srgbClr val="FFFFFF"/>
                </a:solidFill>
                <a:latin typeface="Open Sans"/>
                <a:ea typeface="Open Sans"/>
                <a:cs typeface="Open Sans"/>
              </a:defRPr>
            </a:lvl8pPr>
            <a:lvl9pPr algn="ctr">
              <a:defRPr sz="3000" b="1">
                <a:solidFill>
                  <a:srgbClr val="FFFFFF"/>
                </a:solidFill>
                <a:latin typeface="Open Sans"/>
                <a:ea typeface="Open Sans"/>
                <a:cs typeface="Open Sans"/>
              </a:defRPr>
            </a:lvl9pPr>
          </a:lstStyle>
          <a:p>
            <a:pPr algn="ctr">
              <a:defRPr sz="3000" b="1">
                <a:solidFill>
                  <a:srgbClr val="FFFFFF"/>
                </a:solidFill>
                <a:latin typeface="Open Sans"/>
                <a:ea typeface="Open Sans"/>
                <a:cs typeface="Open Sans"/>
              </a:defRPr>
            </a:pPr>
            <a:r>
              <a:rPr sz="3000" b="1">
                <a:solidFill>
                  <a:srgbClr val="FFFFFF"/>
                </a:solidFill>
                <a:latin typeface="Open Sans"/>
                <a:ea typeface="Open Sans"/>
                <a:cs typeface="Open Sans"/>
              </a:rPr>
              <a:t>Enemy</a:t>
            </a:r>
          </a:p>
        </p:txBody>
      </p:sp>
      <p:sp>
        <p:nvSpPr>
          <p:cNvPr id="6" name="s19-labeled-roles text 11">
            <a:extLst>
              <a:ext uri="{FF2B5EF4-FFF2-40B4-BE49-F238E27FC236}">
                <a16:creationId xmlns:a16="http://schemas.microsoft.com/office/drawing/2014/main" id="{674F818D-DBEF-4549-9EFF-A03C5D856E1A}"/>
              </a:ext>
            </a:extLst>
          </p:cNvPr>
          <p:cNvSpPr>
            <a:spLocks noGrp="1"/>
          </p:cNvSpPr>
          <p:nvPr/>
        </p:nvSpPr>
        <p:spPr>
          <a:xfrm>
            <a:off x="11772781" y="6035397"/>
            <a:ext cx="1737360" cy="571500"/>
          </a:xfrm>
          <a:prstGeom prst="rect">
            <a:avLst/>
          </a:prstGeom>
          <a:noFill/>
          <a:ln w="0">
            <a:noFill/>
          </a:ln>
        </p:spPr>
        <p:txBody>
          <a:bodyPr wrap="none" lIns="0" tIns="0" rIns="0" bIns="0" anchor="t">
            <a:noAutofit/>
          </a:bodyPr>
          <a:lstStyle>
            <a:defPPr algn="ctr">
              <a:defRPr sz="3000" b="1">
                <a:solidFill>
                  <a:srgbClr val="FFFFFF"/>
                </a:solidFill>
                <a:latin typeface="Open Sans"/>
                <a:ea typeface="Open Sans"/>
                <a:cs typeface="Open Sans"/>
              </a:defRPr>
            </a:defPPr>
            <a:lvl1pPr algn="ctr">
              <a:defRPr sz="3000" b="1">
                <a:solidFill>
                  <a:srgbClr val="FFFFFF"/>
                </a:solidFill>
                <a:latin typeface="Open Sans"/>
                <a:ea typeface="Open Sans"/>
                <a:cs typeface="Open Sans"/>
              </a:defRPr>
            </a:lvl1pPr>
            <a:lvl2pPr algn="ctr">
              <a:defRPr sz="3000" b="1">
                <a:solidFill>
                  <a:srgbClr val="FFFFFF"/>
                </a:solidFill>
                <a:latin typeface="Open Sans"/>
                <a:ea typeface="Open Sans"/>
                <a:cs typeface="Open Sans"/>
              </a:defRPr>
            </a:lvl2pPr>
            <a:lvl3pPr algn="ctr">
              <a:defRPr sz="3000" b="1">
                <a:solidFill>
                  <a:srgbClr val="FFFFFF"/>
                </a:solidFill>
                <a:latin typeface="Open Sans"/>
                <a:ea typeface="Open Sans"/>
                <a:cs typeface="Open Sans"/>
              </a:defRPr>
            </a:lvl3pPr>
            <a:lvl4pPr algn="ctr">
              <a:defRPr sz="3000" b="1">
                <a:solidFill>
                  <a:srgbClr val="FFFFFF"/>
                </a:solidFill>
                <a:latin typeface="Open Sans"/>
                <a:ea typeface="Open Sans"/>
                <a:cs typeface="Open Sans"/>
              </a:defRPr>
            </a:lvl4pPr>
            <a:lvl5pPr algn="ctr">
              <a:defRPr sz="3000" b="1">
                <a:solidFill>
                  <a:srgbClr val="FFFFFF"/>
                </a:solidFill>
                <a:latin typeface="Open Sans"/>
                <a:ea typeface="Open Sans"/>
                <a:cs typeface="Open Sans"/>
              </a:defRPr>
            </a:lvl5pPr>
            <a:lvl6pPr algn="ctr">
              <a:defRPr sz="3000" b="1">
                <a:solidFill>
                  <a:srgbClr val="FFFFFF"/>
                </a:solidFill>
                <a:latin typeface="Open Sans"/>
                <a:ea typeface="Open Sans"/>
                <a:cs typeface="Open Sans"/>
              </a:defRPr>
            </a:lvl6pPr>
            <a:lvl7pPr algn="ctr">
              <a:defRPr sz="3000" b="1">
                <a:solidFill>
                  <a:srgbClr val="FFFFFF"/>
                </a:solidFill>
                <a:latin typeface="Open Sans"/>
                <a:ea typeface="Open Sans"/>
                <a:cs typeface="Open Sans"/>
              </a:defRPr>
            </a:lvl7pPr>
            <a:lvl8pPr algn="ctr">
              <a:defRPr sz="3000" b="1">
                <a:solidFill>
                  <a:srgbClr val="FFFFFF"/>
                </a:solidFill>
                <a:latin typeface="Open Sans"/>
                <a:ea typeface="Open Sans"/>
                <a:cs typeface="Open Sans"/>
              </a:defRPr>
            </a:lvl8pPr>
            <a:lvl9pPr algn="ctr">
              <a:defRPr sz="3000" b="1">
                <a:solidFill>
                  <a:srgbClr val="FFFFFF"/>
                </a:solidFill>
                <a:latin typeface="Open Sans"/>
                <a:ea typeface="Open Sans"/>
                <a:cs typeface="Open Sans"/>
              </a:defRPr>
            </a:lvl9pPr>
          </a:lstStyle>
          <a:p>
            <a:pPr algn="ctr">
              <a:defRPr sz="3000" b="1">
                <a:solidFill>
                  <a:srgbClr val="FFFFFF"/>
                </a:solidFill>
                <a:latin typeface="Open Sans"/>
                <a:ea typeface="Open Sans"/>
                <a:cs typeface="Open Sans"/>
              </a:defRPr>
            </a:pPr>
            <a:r>
              <a:rPr sz="3000" b="1">
                <a:solidFill>
                  <a:srgbClr val="FFFFFF"/>
                </a:solidFill>
                <a:latin typeface="Open Sans"/>
                <a:ea typeface="Open Sans"/>
                <a:cs typeface="Open Sans"/>
              </a:rPr>
              <a:t>Health</a:t>
            </a:r>
          </a:p>
        </p:txBody>
      </p:sp>
      <p:pic>
        <p:nvPicPr>
          <p:cNvPr id="7" name="s19-scene-scale image" descr="s19-scene-scale image">
            <a:extLst>
              <a:ext uri="{FF2B5EF4-FFF2-40B4-BE49-F238E27FC236}">
                <a16:creationId xmlns:a16="http://schemas.microsoft.com/office/drawing/2014/main" id="{5812EF2A-D123-4B23-928B-3A07CC017A88}"/>
              </a:ext>
            </a:extLst>
          </p:cNvPr>
          <p:cNvPicPr>
            <a:picLocks noChangeAspect="1"/>
          </p:cNvPicPr>
          <p:nvPr/>
        </p:nvPicPr>
        <p:blipFill>
          <a:blip r:embed="rId6"/>
          <a:stretch/>
        </p:blipFill>
        <p:spPr>
          <a:xfrm>
            <a:off x="857250" y="6762750"/>
            <a:ext cx="7620000" cy="2024063"/>
          </a:xfrm>
          <a:prstGeom prst="rect">
            <a:avLst/>
          </a:prstGeom>
        </p:spPr>
      </p:pic>
      <p:pic>
        <p:nvPicPr>
          <p:cNvPr id="8" name="s19-monochrome image" descr="s19-monochrome image">
            <a:extLst>
              <a:ext uri="{FF2B5EF4-FFF2-40B4-BE49-F238E27FC236}">
                <a16:creationId xmlns:a16="http://schemas.microsoft.com/office/drawing/2014/main" id="{C78CDDDD-8E7A-41A4-9CF9-8D1941F064F2}"/>
              </a:ext>
            </a:extLst>
          </p:cNvPr>
          <p:cNvPicPr>
            <a:picLocks noChangeAspect="1"/>
          </p:cNvPicPr>
          <p:nvPr/>
        </p:nvPicPr>
        <p:blipFill>
          <a:blip r:embed="rId7"/>
          <a:stretch/>
        </p:blipFill>
        <p:spPr>
          <a:xfrm>
            <a:off x="9810750" y="6762750"/>
            <a:ext cx="7620000" cy="2024063"/>
          </a:xfrm>
          <a:prstGeom prst="rect">
            <a:avLst/>
          </a:prstGeom>
        </p:spPr>
      </p:pic>
    </p:spTree>
    <p:extLst>
      <p:ext uri="{BB962C8B-B14F-4D97-AF65-F5344CB8AC3E}">
        <p14:creationId xmlns:p14="http://schemas.microsoft.com/office/powerpoint/2010/main" val="1662690891"/>
      </p:ext>
    </p:extLst>
  </p:cSld>
  <p:clrMapOvr>
    <a:masterClrMapping/>
  </p:clrMapOvr>
</p:sld>
</file>

<file path=ppt/slides/book_slide6.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4" name="Template clouds 24"/>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23" name="Template clouds 23"/>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22" name="Template grass 22"/>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21" name="Template grass 21"/>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20" name="Template grass 20"/>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9" name="Slide title">
            <a:extLst>
              <a:ext uri="{FF2B5EF4-FFF2-40B4-BE49-F238E27FC236}">
                <a16:creationId xmlns:a16="http://schemas.microsoft.com/office/drawing/2014/main" id="{99FC18B2-1B00-432A-9391-61D2FA445FFE}"/>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WHAT BELONGS TOGETHER?</a:t>
            </a:r>
          </a:p>
        </p:txBody>
      </p:sp>
      <p:sp>
        <p:nvSpPr>
          <p:cNvPr id="2" name="Source credit">
            <a:extLst>
              <a:ext uri="{FF2B5EF4-FFF2-40B4-BE49-F238E27FC236}">
                <a16:creationId xmlns:a16="http://schemas.microsoft.com/office/drawing/2014/main" id="{FA837DB7-37CD-4880-8A05-2B648CFDF7BC}"/>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1">
                <a:solidFill>
                  <a:srgbClr val="9AFFD2"/>
                </a:solidFill>
                <a:latin typeface="Open Sans"/>
                <a:ea typeface="Open Sans"/>
                <a:cs typeface="Open Sans"/>
              </a:rPr>
              <a:t>Book: </a:t>
            </a:r>
            <a:r>
              <a:rPr sz="2000" b="0">
                <a:solidFill>
                  <a:srgbClr val="FFFFFF"/>
                </a:solidFill>
                <a:latin typeface="Open Sans"/>
                <a:ea typeface="Open Sans"/>
                <a:cs typeface="Open Sans"/>
              </a:rPr>
              <a:t>100 Things Every Designer Needs to Know About People / Susan Weinschenk     ·     Illustrative mockup</a:t>
            </a:r>
          </a:p>
        </p:txBody>
      </p:sp>
      <p:sp>
        <p:nvSpPr>
          <p:cNvPr id="3" name="HUD A">
            <a:extLst>
              <a:ext uri="{FF2B5EF4-FFF2-40B4-BE49-F238E27FC236}">
                <a16:creationId xmlns:a16="http://schemas.microsoft.com/office/drawing/2014/main" id="{20453099-8977-40A3-8021-A4815206F823}"/>
              </a:ext>
            </a:extLst>
          </p:cNvPr>
          <p:cNvSpPr>
            <a:spLocks noGrp="1"/>
          </p:cNvSpPr>
          <p:nvPr/>
        </p:nvSpPr>
        <p:spPr>
          <a:xfrm>
            <a:off x="762000" y="3286125"/>
            <a:ext cx="952500" cy="571500"/>
          </a:xfrm>
          <a:prstGeom prst="rect">
            <a:avLst/>
          </a:prstGeom>
          <a:noFill/>
          <a:ln w="0">
            <a:noFill/>
          </a:ln>
        </p:spPr>
        <p:txBody>
          <a:bodyPr wrap="none" lIns="0" tIns="0" rIns="0" bIns="0" anchor="t">
            <a:noAutofit/>
          </a:bodyPr>
          <a:lstStyle>
            <a:defPPr algn="l">
              <a:defRPr sz="3600" b="1">
                <a:solidFill>
                  <a:srgbClr val="9AFFD2"/>
                </a:solidFill>
                <a:latin typeface="Open Sans"/>
                <a:ea typeface="Open Sans"/>
                <a:cs typeface="Open Sans"/>
              </a:defRPr>
            </a:defPPr>
            <a:lvl1pPr algn="l">
              <a:defRPr sz="3600" b="1">
                <a:solidFill>
                  <a:srgbClr val="9AFFD2"/>
                </a:solidFill>
                <a:latin typeface="Open Sans"/>
                <a:ea typeface="Open Sans"/>
                <a:cs typeface="Open Sans"/>
              </a:defRPr>
            </a:lvl1pPr>
            <a:lvl2pPr algn="l">
              <a:defRPr sz="3600" b="1">
                <a:solidFill>
                  <a:srgbClr val="9AFFD2"/>
                </a:solidFill>
                <a:latin typeface="Open Sans"/>
                <a:ea typeface="Open Sans"/>
                <a:cs typeface="Open Sans"/>
              </a:defRPr>
            </a:lvl2pPr>
            <a:lvl3pPr algn="l">
              <a:defRPr sz="3600" b="1">
                <a:solidFill>
                  <a:srgbClr val="9AFFD2"/>
                </a:solidFill>
                <a:latin typeface="Open Sans"/>
                <a:ea typeface="Open Sans"/>
                <a:cs typeface="Open Sans"/>
              </a:defRPr>
            </a:lvl3pPr>
            <a:lvl4pPr algn="l">
              <a:defRPr sz="3600" b="1">
                <a:solidFill>
                  <a:srgbClr val="9AFFD2"/>
                </a:solidFill>
                <a:latin typeface="Open Sans"/>
                <a:ea typeface="Open Sans"/>
                <a:cs typeface="Open Sans"/>
              </a:defRPr>
            </a:lvl4pPr>
            <a:lvl5pPr algn="l">
              <a:defRPr sz="3600" b="1">
                <a:solidFill>
                  <a:srgbClr val="9AFFD2"/>
                </a:solidFill>
                <a:latin typeface="Open Sans"/>
                <a:ea typeface="Open Sans"/>
                <a:cs typeface="Open Sans"/>
              </a:defRPr>
            </a:lvl5pPr>
            <a:lvl6pPr algn="l">
              <a:defRPr sz="3600" b="1">
                <a:solidFill>
                  <a:srgbClr val="9AFFD2"/>
                </a:solidFill>
                <a:latin typeface="Open Sans"/>
                <a:ea typeface="Open Sans"/>
                <a:cs typeface="Open Sans"/>
              </a:defRPr>
            </a:lvl6pPr>
            <a:lvl7pPr algn="l">
              <a:defRPr sz="3600" b="1">
                <a:solidFill>
                  <a:srgbClr val="9AFFD2"/>
                </a:solidFill>
                <a:latin typeface="Open Sans"/>
                <a:ea typeface="Open Sans"/>
                <a:cs typeface="Open Sans"/>
              </a:defRPr>
            </a:lvl7pPr>
            <a:lvl8pPr algn="l">
              <a:defRPr sz="3600" b="1">
                <a:solidFill>
                  <a:srgbClr val="9AFFD2"/>
                </a:solidFill>
                <a:latin typeface="Open Sans"/>
                <a:ea typeface="Open Sans"/>
                <a:cs typeface="Open Sans"/>
              </a:defRPr>
            </a:lvl8pPr>
            <a:lvl9pPr algn="l">
              <a:defRPr sz="3600" b="1">
                <a:solidFill>
                  <a:srgbClr val="9AFFD2"/>
                </a:solidFill>
                <a:latin typeface="Open Sans"/>
                <a:ea typeface="Open Sans"/>
                <a:cs typeface="Open Sans"/>
              </a:defRPr>
            </a:lvl9pPr>
          </a:lstStyle>
          <a:p>
            <a:pPr algn="l">
              <a:defRPr sz="3600" b="1">
                <a:solidFill>
                  <a:srgbClr val="9AFFD2"/>
                </a:solidFill>
                <a:latin typeface="Open Sans"/>
                <a:ea typeface="Open Sans"/>
                <a:cs typeface="Open Sans"/>
              </a:defRPr>
            </a:pPr>
            <a:r>
              <a:rPr sz="3600" b="1">
                <a:solidFill>
                  <a:srgbClr val="9AFFD2"/>
                </a:solidFill>
                <a:latin typeface="Open Sans"/>
                <a:ea typeface="Open Sans"/>
                <a:cs typeface="Open Sans"/>
              </a:rPr>
              <a:t>A</a:t>
            </a:r>
          </a:p>
        </p:txBody>
      </p:sp>
      <p:sp>
        <p:nvSpPr>
          <p:cNvPr id="4" name="HUD B">
            <a:extLst>
              <a:ext uri="{FF2B5EF4-FFF2-40B4-BE49-F238E27FC236}">
                <a16:creationId xmlns:a16="http://schemas.microsoft.com/office/drawing/2014/main" id="{DABE36F3-6AF7-4AD0-BFD0-723ABF58ED2F}"/>
              </a:ext>
            </a:extLst>
          </p:cNvPr>
          <p:cNvSpPr>
            <a:spLocks noGrp="1"/>
          </p:cNvSpPr>
          <p:nvPr/>
        </p:nvSpPr>
        <p:spPr>
          <a:xfrm>
            <a:off x="762000" y="6000750"/>
            <a:ext cx="952500" cy="571500"/>
          </a:xfrm>
          <a:prstGeom prst="rect">
            <a:avLst/>
          </a:prstGeom>
          <a:noFill/>
          <a:ln w="0">
            <a:noFill/>
          </a:ln>
        </p:spPr>
        <p:txBody>
          <a:bodyPr wrap="none" lIns="0" tIns="0" rIns="0" bIns="0" anchor="t">
            <a:noAutofit/>
          </a:bodyPr>
          <a:lstStyle>
            <a:defPPr algn="l">
              <a:defRPr sz="3600" b="1">
                <a:solidFill>
                  <a:srgbClr val="9AFFD2"/>
                </a:solidFill>
                <a:latin typeface="Open Sans"/>
                <a:ea typeface="Open Sans"/>
                <a:cs typeface="Open Sans"/>
              </a:defRPr>
            </a:defPPr>
            <a:lvl1pPr algn="l">
              <a:defRPr sz="3600" b="1">
                <a:solidFill>
                  <a:srgbClr val="9AFFD2"/>
                </a:solidFill>
                <a:latin typeface="Open Sans"/>
                <a:ea typeface="Open Sans"/>
                <a:cs typeface="Open Sans"/>
              </a:defRPr>
            </a:lvl1pPr>
            <a:lvl2pPr algn="l">
              <a:defRPr sz="3600" b="1">
                <a:solidFill>
                  <a:srgbClr val="9AFFD2"/>
                </a:solidFill>
                <a:latin typeface="Open Sans"/>
                <a:ea typeface="Open Sans"/>
                <a:cs typeface="Open Sans"/>
              </a:defRPr>
            </a:lvl2pPr>
            <a:lvl3pPr algn="l">
              <a:defRPr sz="3600" b="1">
                <a:solidFill>
                  <a:srgbClr val="9AFFD2"/>
                </a:solidFill>
                <a:latin typeface="Open Sans"/>
                <a:ea typeface="Open Sans"/>
                <a:cs typeface="Open Sans"/>
              </a:defRPr>
            </a:lvl3pPr>
            <a:lvl4pPr algn="l">
              <a:defRPr sz="3600" b="1">
                <a:solidFill>
                  <a:srgbClr val="9AFFD2"/>
                </a:solidFill>
                <a:latin typeface="Open Sans"/>
                <a:ea typeface="Open Sans"/>
                <a:cs typeface="Open Sans"/>
              </a:defRPr>
            </a:lvl4pPr>
            <a:lvl5pPr algn="l">
              <a:defRPr sz="3600" b="1">
                <a:solidFill>
                  <a:srgbClr val="9AFFD2"/>
                </a:solidFill>
                <a:latin typeface="Open Sans"/>
                <a:ea typeface="Open Sans"/>
                <a:cs typeface="Open Sans"/>
              </a:defRPr>
            </a:lvl5pPr>
            <a:lvl6pPr algn="l">
              <a:defRPr sz="3600" b="1">
                <a:solidFill>
                  <a:srgbClr val="9AFFD2"/>
                </a:solidFill>
                <a:latin typeface="Open Sans"/>
                <a:ea typeface="Open Sans"/>
                <a:cs typeface="Open Sans"/>
              </a:defRPr>
            </a:lvl6pPr>
            <a:lvl7pPr algn="l">
              <a:defRPr sz="3600" b="1">
                <a:solidFill>
                  <a:srgbClr val="9AFFD2"/>
                </a:solidFill>
                <a:latin typeface="Open Sans"/>
                <a:ea typeface="Open Sans"/>
                <a:cs typeface="Open Sans"/>
              </a:defRPr>
            </a:lvl7pPr>
            <a:lvl8pPr algn="l">
              <a:defRPr sz="3600" b="1">
                <a:solidFill>
                  <a:srgbClr val="9AFFD2"/>
                </a:solidFill>
                <a:latin typeface="Open Sans"/>
                <a:ea typeface="Open Sans"/>
                <a:cs typeface="Open Sans"/>
              </a:defRPr>
            </a:lvl8pPr>
            <a:lvl9pPr algn="l">
              <a:defRPr sz="3600" b="1">
                <a:solidFill>
                  <a:srgbClr val="9AFFD2"/>
                </a:solidFill>
                <a:latin typeface="Open Sans"/>
                <a:ea typeface="Open Sans"/>
                <a:cs typeface="Open Sans"/>
              </a:defRPr>
            </a:lvl9pPr>
          </a:lstStyle>
          <a:p>
            <a:pPr algn="l">
              <a:defRPr sz="3600" b="1">
                <a:solidFill>
                  <a:srgbClr val="9AFFD2"/>
                </a:solidFill>
                <a:latin typeface="Open Sans"/>
                <a:ea typeface="Open Sans"/>
                <a:cs typeface="Open Sans"/>
              </a:defRPr>
            </a:pPr>
            <a:r>
              <a:rPr sz="3600" b="1">
                <a:solidFill>
                  <a:srgbClr val="9AFFD2"/>
                </a:solidFill>
                <a:latin typeface="Open Sans"/>
                <a:ea typeface="Open Sans"/>
                <a:cs typeface="Open Sans"/>
              </a:rPr>
              <a:t>B</a:t>
            </a:r>
          </a:p>
        </p:txBody>
      </p:sp>
      <p:pic>
        <p:nvPicPr>
          <p:cNvPr id="5" name="s20-hud-a image" descr="s20-hud-a image">
            <a:extLst>
              <a:ext uri="{FF2B5EF4-FFF2-40B4-BE49-F238E27FC236}">
                <a16:creationId xmlns:a16="http://schemas.microsoft.com/office/drawing/2014/main" id="{2000E598-50AB-488A-BA72-EBA709689FFB}"/>
              </a:ext>
            </a:extLst>
          </p:cNvPr>
          <p:cNvPicPr>
            <a:picLocks noChangeAspect="1"/>
          </p:cNvPicPr>
          <p:nvPr/>
        </p:nvPicPr>
        <p:blipFill>
          <a:blip r:embed="rId5"/>
          <a:stretch/>
        </p:blipFill>
        <p:spPr>
          <a:xfrm>
            <a:off x="2095500" y="3286125"/>
            <a:ext cx="15240000" cy="2381250"/>
          </a:xfrm>
          <a:prstGeom prst="rect">
            <a:avLst/>
          </a:prstGeom>
        </p:spPr>
      </p:pic>
      <p:sp>
        <p:nvSpPr>
          <p:cNvPr id="6" name="s20-hud-a text 12">
            <a:extLst>
              <a:ext uri="{FF2B5EF4-FFF2-40B4-BE49-F238E27FC236}">
                <a16:creationId xmlns:a16="http://schemas.microsoft.com/office/drawing/2014/main" id="{9BA211BC-B7CD-4F46-ABA7-B7BFD653DA9E}"/>
              </a:ext>
            </a:extLst>
          </p:cNvPr>
          <p:cNvSpPr>
            <a:spLocks noGrp="1"/>
          </p:cNvSpPr>
          <p:nvPr/>
        </p:nvSpPr>
        <p:spPr>
          <a:xfrm>
            <a:off x="3857625" y="4074795"/>
            <a:ext cx="1028700" cy="857250"/>
          </a:xfrm>
          <a:prstGeom prst="rect">
            <a:avLst/>
          </a:prstGeom>
          <a:noFill/>
          <a:ln w="0">
            <a:noFill/>
          </a:ln>
        </p:spPr>
        <p:txBody>
          <a:bodyPr wrap="none" lIns="0" tIns="0" rIns="0" bIns="0" anchor="t">
            <a:noAutofit/>
          </a:bodyPr>
          <a:lstStyle>
            <a:defPPr algn="l">
              <a:defRPr sz="4500" b="1">
                <a:solidFill>
                  <a:srgbClr val="FFFFFF"/>
                </a:solidFill>
                <a:latin typeface="Open Sans"/>
                <a:ea typeface="Open Sans"/>
                <a:cs typeface="Open Sans"/>
              </a:defRPr>
            </a:defPPr>
            <a:lvl1pPr algn="l">
              <a:defRPr sz="4500" b="1">
                <a:solidFill>
                  <a:srgbClr val="FFFFFF"/>
                </a:solidFill>
                <a:latin typeface="Open Sans"/>
                <a:ea typeface="Open Sans"/>
                <a:cs typeface="Open Sans"/>
              </a:defRPr>
            </a:lvl1pPr>
            <a:lvl2pPr algn="l">
              <a:defRPr sz="4500" b="1">
                <a:solidFill>
                  <a:srgbClr val="FFFFFF"/>
                </a:solidFill>
                <a:latin typeface="Open Sans"/>
                <a:ea typeface="Open Sans"/>
                <a:cs typeface="Open Sans"/>
              </a:defRPr>
            </a:lvl2pPr>
            <a:lvl3pPr algn="l">
              <a:defRPr sz="4500" b="1">
                <a:solidFill>
                  <a:srgbClr val="FFFFFF"/>
                </a:solidFill>
                <a:latin typeface="Open Sans"/>
                <a:ea typeface="Open Sans"/>
                <a:cs typeface="Open Sans"/>
              </a:defRPr>
            </a:lvl3pPr>
            <a:lvl4pPr algn="l">
              <a:defRPr sz="4500" b="1">
                <a:solidFill>
                  <a:srgbClr val="FFFFFF"/>
                </a:solidFill>
                <a:latin typeface="Open Sans"/>
                <a:ea typeface="Open Sans"/>
                <a:cs typeface="Open Sans"/>
              </a:defRPr>
            </a:lvl4pPr>
            <a:lvl5pPr algn="l">
              <a:defRPr sz="4500" b="1">
                <a:solidFill>
                  <a:srgbClr val="FFFFFF"/>
                </a:solidFill>
                <a:latin typeface="Open Sans"/>
                <a:ea typeface="Open Sans"/>
                <a:cs typeface="Open Sans"/>
              </a:defRPr>
            </a:lvl5pPr>
            <a:lvl6pPr algn="l">
              <a:defRPr sz="4500" b="1">
                <a:solidFill>
                  <a:srgbClr val="FFFFFF"/>
                </a:solidFill>
                <a:latin typeface="Open Sans"/>
                <a:ea typeface="Open Sans"/>
                <a:cs typeface="Open Sans"/>
              </a:defRPr>
            </a:lvl6pPr>
            <a:lvl7pPr algn="l">
              <a:defRPr sz="4500" b="1">
                <a:solidFill>
                  <a:srgbClr val="FFFFFF"/>
                </a:solidFill>
                <a:latin typeface="Open Sans"/>
                <a:ea typeface="Open Sans"/>
                <a:cs typeface="Open Sans"/>
              </a:defRPr>
            </a:lvl7pPr>
            <a:lvl8pPr algn="l">
              <a:defRPr sz="4500" b="1">
                <a:solidFill>
                  <a:srgbClr val="FFFFFF"/>
                </a:solidFill>
                <a:latin typeface="Open Sans"/>
                <a:ea typeface="Open Sans"/>
                <a:cs typeface="Open Sans"/>
              </a:defRPr>
            </a:lvl8pPr>
            <a:lvl9pPr algn="l">
              <a:defRPr sz="4500" b="1">
                <a:solidFill>
                  <a:srgbClr val="FFFFFF"/>
                </a:solidFill>
                <a:latin typeface="Open Sans"/>
                <a:ea typeface="Open Sans"/>
                <a:cs typeface="Open Sans"/>
              </a:defRPr>
            </a:lvl9pPr>
          </a:lstStyle>
          <a:p>
            <a:pPr algn="l">
              <a:defRPr sz="4500" b="1">
                <a:solidFill>
                  <a:srgbClr val="FFFFFF"/>
                </a:solidFill>
                <a:latin typeface="Open Sans"/>
                <a:ea typeface="Open Sans"/>
                <a:cs typeface="Open Sans"/>
              </a:defRPr>
            </a:pPr>
            <a:r>
              <a:rPr sz="4500" b="1">
                <a:solidFill>
                  <a:srgbClr val="FFFFFF"/>
                </a:solidFill>
                <a:latin typeface="Open Sans"/>
                <a:ea typeface="Open Sans"/>
                <a:cs typeface="Open Sans"/>
              </a:rPr>
              <a:t>3</a:t>
            </a:r>
          </a:p>
        </p:txBody>
      </p:sp>
      <p:sp>
        <p:nvSpPr>
          <p:cNvPr id="7" name="s20-hud-a text 13">
            <a:extLst>
              <a:ext uri="{FF2B5EF4-FFF2-40B4-BE49-F238E27FC236}">
                <a16:creationId xmlns:a16="http://schemas.microsoft.com/office/drawing/2014/main" id="{6B41C4CA-4FAC-4EC7-AD03-EBC3BF26EAE2}"/>
              </a:ext>
            </a:extLst>
          </p:cNvPr>
          <p:cNvSpPr>
            <a:spLocks noGrp="1"/>
          </p:cNvSpPr>
          <p:nvPr/>
        </p:nvSpPr>
        <p:spPr>
          <a:xfrm>
            <a:off x="6334125" y="4074795"/>
            <a:ext cx="1028700" cy="857250"/>
          </a:xfrm>
          <a:prstGeom prst="rect">
            <a:avLst/>
          </a:prstGeom>
          <a:noFill/>
          <a:ln w="0">
            <a:noFill/>
          </a:ln>
        </p:spPr>
        <p:txBody>
          <a:bodyPr wrap="none" lIns="0" tIns="0" rIns="0" bIns="0" anchor="t">
            <a:noAutofit/>
          </a:bodyPr>
          <a:lstStyle>
            <a:defPPr algn="l">
              <a:defRPr sz="4500" b="1">
                <a:solidFill>
                  <a:srgbClr val="FFFFFF"/>
                </a:solidFill>
                <a:latin typeface="Open Sans"/>
                <a:ea typeface="Open Sans"/>
                <a:cs typeface="Open Sans"/>
              </a:defRPr>
            </a:defPPr>
            <a:lvl1pPr algn="l">
              <a:defRPr sz="4500" b="1">
                <a:solidFill>
                  <a:srgbClr val="FFFFFF"/>
                </a:solidFill>
                <a:latin typeface="Open Sans"/>
                <a:ea typeface="Open Sans"/>
                <a:cs typeface="Open Sans"/>
              </a:defRPr>
            </a:lvl1pPr>
            <a:lvl2pPr algn="l">
              <a:defRPr sz="4500" b="1">
                <a:solidFill>
                  <a:srgbClr val="FFFFFF"/>
                </a:solidFill>
                <a:latin typeface="Open Sans"/>
                <a:ea typeface="Open Sans"/>
                <a:cs typeface="Open Sans"/>
              </a:defRPr>
            </a:lvl2pPr>
            <a:lvl3pPr algn="l">
              <a:defRPr sz="4500" b="1">
                <a:solidFill>
                  <a:srgbClr val="FFFFFF"/>
                </a:solidFill>
                <a:latin typeface="Open Sans"/>
                <a:ea typeface="Open Sans"/>
                <a:cs typeface="Open Sans"/>
              </a:defRPr>
            </a:lvl3pPr>
            <a:lvl4pPr algn="l">
              <a:defRPr sz="4500" b="1">
                <a:solidFill>
                  <a:srgbClr val="FFFFFF"/>
                </a:solidFill>
                <a:latin typeface="Open Sans"/>
                <a:ea typeface="Open Sans"/>
                <a:cs typeface="Open Sans"/>
              </a:defRPr>
            </a:lvl4pPr>
            <a:lvl5pPr algn="l">
              <a:defRPr sz="4500" b="1">
                <a:solidFill>
                  <a:srgbClr val="FFFFFF"/>
                </a:solidFill>
                <a:latin typeface="Open Sans"/>
                <a:ea typeface="Open Sans"/>
                <a:cs typeface="Open Sans"/>
              </a:defRPr>
            </a:lvl5pPr>
            <a:lvl6pPr algn="l">
              <a:defRPr sz="4500" b="1">
                <a:solidFill>
                  <a:srgbClr val="FFFFFF"/>
                </a:solidFill>
                <a:latin typeface="Open Sans"/>
                <a:ea typeface="Open Sans"/>
                <a:cs typeface="Open Sans"/>
              </a:defRPr>
            </a:lvl6pPr>
            <a:lvl7pPr algn="l">
              <a:defRPr sz="4500" b="1">
                <a:solidFill>
                  <a:srgbClr val="FFFFFF"/>
                </a:solidFill>
                <a:latin typeface="Open Sans"/>
                <a:ea typeface="Open Sans"/>
                <a:cs typeface="Open Sans"/>
              </a:defRPr>
            </a:lvl7pPr>
            <a:lvl8pPr algn="l">
              <a:defRPr sz="4500" b="1">
                <a:solidFill>
                  <a:srgbClr val="FFFFFF"/>
                </a:solidFill>
                <a:latin typeface="Open Sans"/>
                <a:ea typeface="Open Sans"/>
                <a:cs typeface="Open Sans"/>
              </a:defRPr>
            </a:lvl8pPr>
            <a:lvl9pPr algn="l">
              <a:defRPr sz="4500" b="1">
                <a:solidFill>
                  <a:srgbClr val="FFFFFF"/>
                </a:solidFill>
                <a:latin typeface="Open Sans"/>
                <a:ea typeface="Open Sans"/>
                <a:cs typeface="Open Sans"/>
              </a:defRPr>
            </a:lvl9pPr>
          </a:lstStyle>
          <a:p>
            <a:pPr algn="l">
              <a:defRPr sz="4500" b="1">
                <a:solidFill>
                  <a:srgbClr val="FFFFFF"/>
                </a:solidFill>
                <a:latin typeface="Open Sans"/>
                <a:ea typeface="Open Sans"/>
                <a:cs typeface="Open Sans"/>
              </a:defRPr>
            </a:pPr>
            <a:r>
              <a:rPr sz="4500" b="1">
                <a:solidFill>
                  <a:srgbClr val="FFFFFF"/>
                </a:solidFill>
                <a:latin typeface="Open Sans"/>
                <a:ea typeface="Open Sans"/>
                <a:cs typeface="Open Sans"/>
              </a:rPr>
              <a:t>1</a:t>
            </a:r>
          </a:p>
        </p:txBody>
      </p:sp>
      <p:sp>
        <p:nvSpPr>
          <p:cNvPr id="8" name="s20-hud-a text 14">
            <a:extLst>
              <a:ext uri="{FF2B5EF4-FFF2-40B4-BE49-F238E27FC236}">
                <a16:creationId xmlns:a16="http://schemas.microsoft.com/office/drawing/2014/main" id="{74FC6754-8662-49BA-8DCA-BEBC8DA3555C}"/>
              </a:ext>
            </a:extLst>
          </p:cNvPr>
          <p:cNvSpPr>
            <a:spLocks noGrp="1"/>
          </p:cNvSpPr>
          <p:nvPr/>
        </p:nvSpPr>
        <p:spPr>
          <a:xfrm>
            <a:off x="11287125" y="4074795"/>
            <a:ext cx="1028700" cy="857250"/>
          </a:xfrm>
          <a:prstGeom prst="rect">
            <a:avLst/>
          </a:prstGeom>
          <a:noFill/>
          <a:ln w="0">
            <a:noFill/>
          </a:ln>
        </p:spPr>
        <p:txBody>
          <a:bodyPr wrap="none" lIns="0" tIns="0" rIns="0" bIns="0" anchor="t">
            <a:noAutofit/>
          </a:bodyPr>
          <a:lstStyle>
            <a:defPPr algn="l">
              <a:defRPr sz="4500" b="1">
                <a:solidFill>
                  <a:srgbClr val="FFFFFF"/>
                </a:solidFill>
                <a:latin typeface="Open Sans"/>
                <a:ea typeface="Open Sans"/>
                <a:cs typeface="Open Sans"/>
              </a:defRPr>
            </a:defPPr>
            <a:lvl1pPr algn="l">
              <a:defRPr sz="4500" b="1">
                <a:solidFill>
                  <a:srgbClr val="FFFFFF"/>
                </a:solidFill>
                <a:latin typeface="Open Sans"/>
                <a:ea typeface="Open Sans"/>
                <a:cs typeface="Open Sans"/>
              </a:defRPr>
            </a:lvl1pPr>
            <a:lvl2pPr algn="l">
              <a:defRPr sz="4500" b="1">
                <a:solidFill>
                  <a:srgbClr val="FFFFFF"/>
                </a:solidFill>
                <a:latin typeface="Open Sans"/>
                <a:ea typeface="Open Sans"/>
                <a:cs typeface="Open Sans"/>
              </a:defRPr>
            </a:lvl2pPr>
            <a:lvl3pPr algn="l">
              <a:defRPr sz="4500" b="1">
                <a:solidFill>
                  <a:srgbClr val="FFFFFF"/>
                </a:solidFill>
                <a:latin typeface="Open Sans"/>
                <a:ea typeface="Open Sans"/>
                <a:cs typeface="Open Sans"/>
              </a:defRPr>
            </a:lvl3pPr>
            <a:lvl4pPr algn="l">
              <a:defRPr sz="4500" b="1">
                <a:solidFill>
                  <a:srgbClr val="FFFFFF"/>
                </a:solidFill>
                <a:latin typeface="Open Sans"/>
                <a:ea typeface="Open Sans"/>
                <a:cs typeface="Open Sans"/>
              </a:defRPr>
            </a:lvl4pPr>
            <a:lvl5pPr algn="l">
              <a:defRPr sz="4500" b="1">
                <a:solidFill>
                  <a:srgbClr val="FFFFFF"/>
                </a:solidFill>
                <a:latin typeface="Open Sans"/>
                <a:ea typeface="Open Sans"/>
                <a:cs typeface="Open Sans"/>
              </a:defRPr>
            </a:lvl5pPr>
            <a:lvl6pPr algn="l">
              <a:defRPr sz="4500" b="1">
                <a:solidFill>
                  <a:srgbClr val="FFFFFF"/>
                </a:solidFill>
                <a:latin typeface="Open Sans"/>
                <a:ea typeface="Open Sans"/>
                <a:cs typeface="Open Sans"/>
              </a:defRPr>
            </a:lvl6pPr>
            <a:lvl7pPr algn="l">
              <a:defRPr sz="4500" b="1">
                <a:solidFill>
                  <a:srgbClr val="FFFFFF"/>
                </a:solidFill>
                <a:latin typeface="Open Sans"/>
                <a:ea typeface="Open Sans"/>
                <a:cs typeface="Open Sans"/>
              </a:defRPr>
            </a:lvl7pPr>
            <a:lvl8pPr algn="l">
              <a:defRPr sz="4500" b="1">
                <a:solidFill>
                  <a:srgbClr val="FFFFFF"/>
                </a:solidFill>
                <a:latin typeface="Open Sans"/>
                <a:ea typeface="Open Sans"/>
                <a:cs typeface="Open Sans"/>
              </a:defRPr>
            </a:lvl8pPr>
            <a:lvl9pPr algn="l">
              <a:defRPr sz="4500" b="1">
                <a:solidFill>
                  <a:srgbClr val="FFFFFF"/>
                </a:solidFill>
                <a:latin typeface="Open Sans"/>
                <a:ea typeface="Open Sans"/>
                <a:cs typeface="Open Sans"/>
              </a:defRPr>
            </a:lvl9pPr>
          </a:lstStyle>
          <a:p>
            <a:pPr algn="l">
              <a:defRPr sz="4500" b="1">
                <a:solidFill>
                  <a:srgbClr val="FFFFFF"/>
                </a:solidFill>
                <a:latin typeface="Open Sans"/>
                <a:ea typeface="Open Sans"/>
                <a:cs typeface="Open Sans"/>
              </a:defRPr>
            </a:pPr>
            <a:r>
              <a:rPr sz="4500" b="1">
                <a:solidFill>
                  <a:srgbClr val="FFFFFF"/>
                </a:solidFill>
                <a:latin typeface="Open Sans"/>
                <a:ea typeface="Open Sans"/>
                <a:cs typeface="Open Sans"/>
              </a:rPr>
              <a:t>12</a:t>
            </a:r>
          </a:p>
        </p:txBody>
      </p:sp>
      <p:sp>
        <p:nvSpPr>
          <p:cNvPr id="9" name="s20-hud-a text 15">
            <a:extLst>
              <a:ext uri="{FF2B5EF4-FFF2-40B4-BE49-F238E27FC236}">
                <a16:creationId xmlns:a16="http://schemas.microsoft.com/office/drawing/2014/main" id="{80F935D8-F500-40F2-BC0A-A312E55814BB}"/>
              </a:ext>
            </a:extLst>
          </p:cNvPr>
          <p:cNvSpPr>
            <a:spLocks noGrp="1"/>
          </p:cNvSpPr>
          <p:nvPr/>
        </p:nvSpPr>
        <p:spPr>
          <a:xfrm>
            <a:off x="13763625" y="4074795"/>
            <a:ext cx="1028700" cy="857250"/>
          </a:xfrm>
          <a:prstGeom prst="rect">
            <a:avLst/>
          </a:prstGeom>
          <a:noFill/>
          <a:ln w="0">
            <a:noFill/>
          </a:ln>
        </p:spPr>
        <p:txBody>
          <a:bodyPr wrap="none" lIns="0" tIns="0" rIns="0" bIns="0" anchor="t">
            <a:noAutofit/>
          </a:bodyPr>
          <a:lstStyle>
            <a:defPPr algn="l">
              <a:defRPr sz="4500" b="1">
                <a:solidFill>
                  <a:srgbClr val="FFFFFF"/>
                </a:solidFill>
                <a:latin typeface="Open Sans"/>
                <a:ea typeface="Open Sans"/>
                <a:cs typeface="Open Sans"/>
              </a:defRPr>
            </a:defPPr>
            <a:lvl1pPr algn="l">
              <a:defRPr sz="4500" b="1">
                <a:solidFill>
                  <a:srgbClr val="FFFFFF"/>
                </a:solidFill>
                <a:latin typeface="Open Sans"/>
                <a:ea typeface="Open Sans"/>
                <a:cs typeface="Open Sans"/>
              </a:defRPr>
            </a:lvl1pPr>
            <a:lvl2pPr algn="l">
              <a:defRPr sz="4500" b="1">
                <a:solidFill>
                  <a:srgbClr val="FFFFFF"/>
                </a:solidFill>
                <a:latin typeface="Open Sans"/>
                <a:ea typeface="Open Sans"/>
                <a:cs typeface="Open Sans"/>
              </a:defRPr>
            </a:lvl2pPr>
            <a:lvl3pPr algn="l">
              <a:defRPr sz="4500" b="1">
                <a:solidFill>
                  <a:srgbClr val="FFFFFF"/>
                </a:solidFill>
                <a:latin typeface="Open Sans"/>
                <a:ea typeface="Open Sans"/>
                <a:cs typeface="Open Sans"/>
              </a:defRPr>
            </a:lvl3pPr>
            <a:lvl4pPr algn="l">
              <a:defRPr sz="4500" b="1">
                <a:solidFill>
                  <a:srgbClr val="FFFFFF"/>
                </a:solidFill>
                <a:latin typeface="Open Sans"/>
                <a:ea typeface="Open Sans"/>
                <a:cs typeface="Open Sans"/>
              </a:defRPr>
            </a:lvl4pPr>
            <a:lvl5pPr algn="l">
              <a:defRPr sz="4500" b="1">
                <a:solidFill>
                  <a:srgbClr val="FFFFFF"/>
                </a:solidFill>
                <a:latin typeface="Open Sans"/>
                <a:ea typeface="Open Sans"/>
                <a:cs typeface="Open Sans"/>
              </a:defRPr>
            </a:lvl5pPr>
            <a:lvl6pPr algn="l">
              <a:defRPr sz="4500" b="1">
                <a:solidFill>
                  <a:srgbClr val="FFFFFF"/>
                </a:solidFill>
                <a:latin typeface="Open Sans"/>
                <a:ea typeface="Open Sans"/>
                <a:cs typeface="Open Sans"/>
              </a:defRPr>
            </a:lvl6pPr>
            <a:lvl7pPr algn="l">
              <a:defRPr sz="4500" b="1">
                <a:solidFill>
                  <a:srgbClr val="FFFFFF"/>
                </a:solidFill>
                <a:latin typeface="Open Sans"/>
                <a:ea typeface="Open Sans"/>
                <a:cs typeface="Open Sans"/>
              </a:defRPr>
            </a:lvl7pPr>
            <a:lvl8pPr algn="l">
              <a:defRPr sz="4500" b="1">
                <a:solidFill>
                  <a:srgbClr val="FFFFFF"/>
                </a:solidFill>
                <a:latin typeface="Open Sans"/>
                <a:ea typeface="Open Sans"/>
                <a:cs typeface="Open Sans"/>
              </a:defRPr>
            </a:lvl8pPr>
            <a:lvl9pPr algn="l">
              <a:defRPr sz="4500" b="1">
                <a:solidFill>
                  <a:srgbClr val="FFFFFF"/>
                </a:solidFill>
                <a:latin typeface="Open Sans"/>
                <a:ea typeface="Open Sans"/>
                <a:cs typeface="Open Sans"/>
              </a:defRPr>
            </a:lvl9pPr>
          </a:lstStyle>
          <a:p>
            <a:pPr algn="l">
              <a:defRPr sz="4500" b="1">
                <a:solidFill>
                  <a:srgbClr val="FFFFFF"/>
                </a:solidFill>
                <a:latin typeface="Open Sans"/>
                <a:ea typeface="Open Sans"/>
                <a:cs typeface="Open Sans"/>
              </a:defRPr>
            </a:pPr>
            <a:r>
              <a:rPr sz="4500" b="1">
                <a:solidFill>
                  <a:srgbClr val="FFFFFF"/>
                </a:solidFill>
                <a:latin typeface="Open Sans"/>
                <a:ea typeface="Open Sans"/>
                <a:cs typeface="Open Sans"/>
              </a:rPr>
              <a:t>1</a:t>
            </a:r>
          </a:p>
        </p:txBody>
      </p:sp>
      <p:pic>
        <p:nvPicPr>
          <p:cNvPr id="10" name="s20-hud-b image" descr="s20-hud-b image">
            <a:extLst>
              <a:ext uri="{FF2B5EF4-FFF2-40B4-BE49-F238E27FC236}">
                <a16:creationId xmlns:a16="http://schemas.microsoft.com/office/drawing/2014/main" id="{07EF4292-CE3A-4056-804F-6BE2FCFAF2C9}"/>
              </a:ext>
            </a:extLst>
          </p:cNvPr>
          <p:cNvPicPr>
            <a:picLocks noChangeAspect="1"/>
          </p:cNvPicPr>
          <p:nvPr/>
        </p:nvPicPr>
        <p:blipFill>
          <a:blip r:embed="rId6"/>
          <a:stretch/>
        </p:blipFill>
        <p:spPr>
          <a:xfrm>
            <a:off x="2095500" y="6000750"/>
            <a:ext cx="15240000" cy="2381250"/>
          </a:xfrm>
          <a:prstGeom prst="rect">
            <a:avLst/>
          </a:prstGeom>
        </p:spPr>
      </p:pic>
      <p:sp>
        <p:nvSpPr>
          <p:cNvPr id="11" name="s20-hud-b text 16">
            <a:extLst>
              <a:ext uri="{FF2B5EF4-FFF2-40B4-BE49-F238E27FC236}">
                <a16:creationId xmlns:a16="http://schemas.microsoft.com/office/drawing/2014/main" id="{E7238097-1263-4AAD-9BCC-7D096EAE0E0E}"/>
              </a:ext>
            </a:extLst>
          </p:cNvPr>
          <p:cNvSpPr>
            <a:spLocks noGrp="1"/>
          </p:cNvSpPr>
          <p:nvPr/>
        </p:nvSpPr>
        <p:spPr>
          <a:xfrm>
            <a:off x="3857625" y="6789420"/>
            <a:ext cx="1028700" cy="857250"/>
          </a:xfrm>
          <a:prstGeom prst="rect">
            <a:avLst/>
          </a:prstGeom>
          <a:noFill/>
          <a:ln w="0">
            <a:noFill/>
          </a:ln>
        </p:spPr>
        <p:txBody>
          <a:bodyPr wrap="none" lIns="0" tIns="0" rIns="0" bIns="0" anchor="t">
            <a:noAutofit/>
          </a:bodyPr>
          <a:lstStyle>
            <a:defPPr algn="l">
              <a:defRPr sz="4500" b="1">
                <a:solidFill>
                  <a:srgbClr val="FFFFFF"/>
                </a:solidFill>
                <a:latin typeface="Open Sans"/>
                <a:ea typeface="Open Sans"/>
                <a:cs typeface="Open Sans"/>
              </a:defRPr>
            </a:defPPr>
            <a:lvl1pPr algn="l">
              <a:defRPr sz="4500" b="1">
                <a:solidFill>
                  <a:srgbClr val="FFFFFF"/>
                </a:solidFill>
                <a:latin typeface="Open Sans"/>
                <a:ea typeface="Open Sans"/>
                <a:cs typeface="Open Sans"/>
              </a:defRPr>
            </a:lvl1pPr>
            <a:lvl2pPr algn="l">
              <a:defRPr sz="4500" b="1">
                <a:solidFill>
                  <a:srgbClr val="FFFFFF"/>
                </a:solidFill>
                <a:latin typeface="Open Sans"/>
                <a:ea typeface="Open Sans"/>
                <a:cs typeface="Open Sans"/>
              </a:defRPr>
            </a:lvl2pPr>
            <a:lvl3pPr algn="l">
              <a:defRPr sz="4500" b="1">
                <a:solidFill>
                  <a:srgbClr val="FFFFFF"/>
                </a:solidFill>
                <a:latin typeface="Open Sans"/>
                <a:ea typeface="Open Sans"/>
                <a:cs typeface="Open Sans"/>
              </a:defRPr>
            </a:lvl3pPr>
            <a:lvl4pPr algn="l">
              <a:defRPr sz="4500" b="1">
                <a:solidFill>
                  <a:srgbClr val="FFFFFF"/>
                </a:solidFill>
                <a:latin typeface="Open Sans"/>
                <a:ea typeface="Open Sans"/>
                <a:cs typeface="Open Sans"/>
              </a:defRPr>
            </a:lvl4pPr>
            <a:lvl5pPr algn="l">
              <a:defRPr sz="4500" b="1">
                <a:solidFill>
                  <a:srgbClr val="FFFFFF"/>
                </a:solidFill>
                <a:latin typeface="Open Sans"/>
                <a:ea typeface="Open Sans"/>
                <a:cs typeface="Open Sans"/>
              </a:defRPr>
            </a:lvl5pPr>
            <a:lvl6pPr algn="l">
              <a:defRPr sz="4500" b="1">
                <a:solidFill>
                  <a:srgbClr val="FFFFFF"/>
                </a:solidFill>
                <a:latin typeface="Open Sans"/>
                <a:ea typeface="Open Sans"/>
                <a:cs typeface="Open Sans"/>
              </a:defRPr>
            </a:lvl6pPr>
            <a:lvl7pPr algn="l">
              <a:defRPr sz="4500" b="1">
                <a:solidFill>
                  <a:srgbClr val="FFFFFF"/>
                </a:solidFill>
                <a:latin typeface="Open Sans"/>
                <a:ea typeface="Open Sans"/>
                <a:cs typeface="Open Sans"/>
              </a:defRPr>
            </a:lvl7pPr>
            <a:lvl8pPr algn="l">
              <a:defRPr sz="4500" b="1">
                <a:solidFill>
                  <a:srgbClr val="FFFFFF"/>
                </a:solidFill>
                <a:latin typeface="Open Sans"/>
                <a:ea typeface="Open Sans"/>
                <a:cs typeface="Open Sans"/>
              </a:defRPr>
            </a:lvl8pPr>
            <a:lvl9pPr algn="l">
              <a:defRPr sz="4500" b="1">
                <a:solidFill>
                  <a:srgbClr val="FFFFFF"/>
                </a:solidFill>
                <a:latin typeface="Open Sans"/>
                <a:ea typeface="Open Sans"/>
                <a:cs typeface="Open Sans"/>
              </a:defRPr>
            </a:lvl9pPr>
          </a:lstStyle>
          <a:p>
            <a:pPr algn="l">
              <a:defRPr sz="4500" b="1">
                <a:solidFill>
                  <a:srgbClr val="FFFFFF"/>
                </a:solidFill>
                <a:latin typeface="Open Sans"/>
                <a:ea typeface="Open Sans"/>
                <a:cs typeface="Open Sans"/>
              </a:defRPr>
            </a:pPr>
            <a:r>
              <a:rPr sz="4500" b="1">
                <a:solidFill>
                  <a:srgbClr val="FFFFFF"/>
                </a:solidFill>
                <a:latin typeface="Open Sans"/>
                <a:ea typeface="Open Sans"/>
                <a:cs typeface="Open Sans"/>
              </a:rPr>
              <a:t>3</a:t>
            </a:r>
          </a:p>
        </p:txBody>
      </p:sp>
      <p:sp>
        <p:nvSpPr>
          <p:cNvPr id="12" name="s20-hud-b text 17">
            <a:extLst>
              <a:ext uri="{FF2B5EF4-FFF2-40B4-BE49-F238E27FC236}">
                <a16:creationId xmlns:a16="http://schemas.microsoft.com/office/drawing/2014/main" id="{14C493C2-A368-4DF1-B0C7-9B7815BB2C30}"/>
              </a:ext>
            </a:extLst>
          </p:cNvPr>
          <p:cNvSpPr>
            <a:spLocks noGrp="1"/>
          </p:cNvSpPr>
          <p:nvPr/>
        </p:nvSpPr>
        <p:spPr>
          <a:xfrm>
            <a:off x="5810250" y="6789420"/>
            <a:ext cx="1028700" cy="857250"/>
          </a:xfrm>
          <a:prstGeom prst="rect">
            <a:avLst/>
          </a:prstGeom>
          <a:noFill/>
          <a:ln w="0">
            <a:noFill/>
          </a:ln>
        </p:spPr>
        <p:txBody>
          <a:bodyPr wrap="none" lIns="0" tIns="0" rIns="0" bIns="0" anchor="t">
            <a:noAutofit/>
          </a:bodyPr>
          <a:lstStyle>
            <a:defPPr algn="l">
              <a:defRPr sz="4500" b="1">
                <a:solidFill>
                  <a:srgbClr val="FFFFFF"/>
                </a:solidFill>
                <a:latin typeface="Open Sans"/>
                <a:ea typeface="Open Sans"/>
                <a:cs typeface="Open Sans"/>
              </a:defRPr>
            </a:defPPr>
            <a:lvl1pPr algn="l">
              <a:defRPr sz="4500" b="1">
                <a:solidFill>
                  <a:srgbClr val="FFFFFF"/>
                </a:solidFill>
                <a:latin typeface="Open Sans"/>
                <a:ea typeface="Open Sans"/>
                <a:cs typeface="Open Sans"/>
              </a:defRPr>
            </a:lvl1pPr>
            <a:lvl2pPr algn="l">
              <a:defRPr sz="4500" b="1">
                <a:solidFill>
                  <a:srgbClr val="FFFFFF"/>
                </a:solidFill>
                <a:latin typeface="Open Sans"/>
                <a:ea typeface="Open Sans"/>
                <a:cs typeface="Open Sans"/>
              </a:defRPr>
            </a:lvl2pPr>
            <a:lvl3pPr algn="l">
              <a:defRPr sz="4500" b="1">
                <a:solidFill>
                  <a:srgbClr val="FFFFFF"/>
                </a:solidFill>
                <a:latin typeface="Open Sans"/>
                <a:ea typeface="Open Sans"/>
                <a:cs typeface="Open Sans"/>
              </a:defRPr>
            </a:lvl3pPr>
            <a:lvl4pPr algn="l">
              <a:defRPr sz="4500" b="1">
                <a:solidFill>
                  <a:srgbClr val="FFFFFF"/>
                </a:solidFill>
                <a:latin typeface="Open Sans"/>
                <a:ea typeface="Open Sans"/>
                <a:cs typeface="Open Sans"/>
              </a:defRPr>
            </a:lvl4pPr>
            <a:lvl5pPr algn="l">
              <a:defRPr sz="4500" b="1">
                <a:solidFill>
                  <a:srgbClr val="FFFFFF"/>
                </a:solidFill>
                <a:latin typeface="Open Sans"/>
                <a:ea typeface="Open Sans"/>
                <a:cs typeface="Open Sans"/>
              </a:defRPr>
            </a:lvl5pPr>
            <a:lvl6pPr algn="l">
              <a:defRPr sz="4500" b="1">
                <a:solidFill>
                  <a:srgbClr val="FFFFFF"/>
                </a:solidFill>
                <a:latin typeface="Open Sans"/>
                <a:ea typeface="Open Sans"/>
                <a:cs typeface="Open Sans"/>
              </a:defRPr>
            </a:lvl6pPr>
            <a:lvl7pPr algn="l">
              <a:defRPr sz="4500" b="1">
                <a:solidFill>
                  <a:srgbClr val="FFFFFF"/>
                </a:solidFill>
                <a:latin typeface="Open Sans"/>
                <a:ea typeface="Open Sans"/>
                <a:cs typeface="Open Sans"/>
              </a:defRPr>
            </a:lvl7pPr>
            <a:lvl8pPr algn="l">
              <a:defRPr sz="4500" b="1">
                <a:solidFill>
                  <a:srgbClr val="FFFFFF"/>
                </a:solidFill>
                <a:latin typeface="Open Sans"/>
                <a:ea typeface="Open Sans"/>
                <a:cs typeface="Open Sans"/>
              </a:defRPr>
            </a:lvl8pPr>
            <a:lvl9pPr algn="l">
              <a:defRPr sz="4500" b="1">
                <a:solidFill>
                  <a:srgbClr val="FFFFFF"/>
                </a:solidFill>
                <a:latin typeface="Open Sans"/>
                <a:ea typeface="Open Sans"/>
                <a:cs typeface="Open Sans"/>
              </a:defRPr>
            </a:lvl9pPr>
          </a:lstStyle>
          <a:p>
            <a:pPr algn="l">
              <a:defRPr sz="4500" b="1">
                <a:solidFill>
                  <a:srgbClr val="FFFFFF"/>
                </a:solidFill>
                <a:latin typeface="Open Sans"/>
                <a:ea typeface="Open Sans"/>
                <a:cs typeface="Open Sans"/>
              </a:defRPr>
            </a:pPr>
            <a:r>
              <a:rPr sz="4500" b="1">
                <a:solidFill>
                  <a:srgbClr val="FFFFFF"/>
                </a:solidFill>
                <a:latin typeface="Open Sans"/>
                <a:ea typeface="Open Sans"/>
                <a:cs typeface="Open Sans"/>
              </a:rPr>
              <a:t>1</a:t>
            </a:r>
          </a:p>
        </p:txBody>
      </p:sp>
      <p:sp>
        <p:nvSpPr>
          <p:cNvPr id="13" name="s20-hud-b text 18">
            <a:extLst>
              <a:ext uri="{FF2B5EF4-FFF2-40B4-BE49-F238E27FC236}">
                <a16:creationId xmlns:a16="http://schemas.microsoft.com/office/drawing/2014/main" id="{9A5FFBE9-9D25-4B4B-8E7C-CAFAD20E572A}"/>
              </a:ext>
            </a:extLst>
          </p:cNvPr>
          <p:cNvSpPr>
            <a:spLocks noGrp="1"/>
          </p:cNvSpPr>
          <p:nvPr/>
        </p:nvSpPr>
        <p:spPr>
          <a:xfrm>
            <a:off x="11096625" y="6789420"/>
            <a:ext cx="1028700" cy="857250"/>
          </a:xfrm>
          <a:prstGeom prst="rect">
            <a:avLst/>
          </a:prstGeom>
          <a:noFill/>
          <a:ln w="0">
            <a:noFill/>
          </a:ln>
        </p:spPr>
        <p:txBody>
          <a:bodyPr wrap="none" lIns="0" tIns="0" rIns="0" bIns="0" anchor="t">
            <a:noAutofit/>
          </a:bodyPr>
          <a:lstStyle>
            <a:defPPr algn="l">
              <a:defRPr sz="4500" b="1">
                <a:solidFill>
                  <a:srgbClr val="FFFFFF"/>
                </a:solidFill>
                <a:latin typeface="Open Sans"/>
                <a:ea typeface="Open Sans"/>
                <a:cs typeface="Open Sans"/>
              </a:defRPr>
            </a:defPPr>
            <a:lvl1pPr algn="l">
              <a:defRPr sz="4500" b="1">
                <a:solidFill>
                  <a:srgbClr val="FFFFFF"/>
                </a:solidFill>
                <a:latin typeface="Open Sans"/>
                <a:ea typeface="Open Sans"/>
                <a:cs typeface="Open Sans"/>
              </a:defRPr>
            </a:lvl1pPr>
            <a:lvl2pPr algn="l">
              <a:defRPr sz="4500" b="1">
                <a:solidFill>
                  <a:srgbClr val="FFFFFF"/>
                </a:solidFill>
                <a:latin typeface="Open Sans"/>
                <a:ea typeface="Open Sans"/>
                <a:cs typeface="Open Sans"/>
              </a:defRPr>
            </a:lvl2pPr>
            <a:lvl3pPr algn="l">
              <a:defRPr sz="4500" b="1">
                <a:solidFill>
                  <a:srgbClr val="FFFFFF"/>
                </a:solidFill>
                <a:latin typeface="Open Sans"/>
                <a:ea typeface="Open Sans"/>
                <a:cs typeface="Open Sans"/>
              </a:defRPr>
            </a:lvl3pPr>
            <a:lvl4pPr algn="l">
              <a:defRPr sz="4500" b="1">
                <a:solidFill>
                  <a:srgbClr val="FFFFFF"/>
                </a:solidFill>
                <a:latin typeface="Open Sans"/>
                <a:ea typeface="Open Sans"/>
                <a:cs typeface="Open Sans"/>
              </a:defRPr>
            </a:lvl4pPr>
            <a:lvl5pPr algn="l">
              <a:defRPr sz="4500" b="1">
                <a:solidFill>
                  <a:srgbClr val="FFFFFF"/>
                </a:solidFill>
                <a:latin typeface="Open Sans"/>
                <a:ea typeface="Open Sans"/>
                <a:cs typeface="Open Sans"/>
              </a:defRPr>
            </a:lvl5pPr>
            <a:lvl6pPr algn="l">
              <a:defRPr sz="4500" b="1">
                <a:solidFill>
                  <a:srgbClr val="FFFFFF"/>
                </a:solidFill>
                <a:latin typeface="Open Sans"/>
                <a:ea typeface="Open Sans"/>
                <a:cs typeface="Open Sans"/>
              </a:defRPr>
            </a:lvl6pPr>
            <a:lvl7pPr algn="l">
              <a:defRPr sz="4500" b="1">
                <a:solidFill>
                  <a:srgbClr val="FFFFFF"/>
                </a:solidFill>
                <a:latin typeface="Open Sans"/>
                <a:ea typeface="Open Sans"/>
                <a:cs typeface="Open Sans"/>
              </a:defRPr>
            </a:lvl7pPr>
            <a:lvl8pPr algn="l">
              <a:defRPr sz="4500" b="1">
                <a:solidFill>
                  <a:srgbClr val="FFFFFF"/>
                </a:solidFill>
                <a:latin typeface="Open Sans"/>
                <a:ea typeface="Open Sans"/>
                <a:cs typeface="Open Sans"/>
              </a:defRPr>
            </a:lvl8pPr>
            <a:lvl9pPr algn="l">
              <a:defRPr sz="4500" b="1">
                <a:solidFill>
                  <a:srgbClr val="FFFFFF"/>
                </a:solidFill>
                <a:latin typeface="Open Sans"/>
                <a:ea typeface="Open Sans"/>
                <a:cs typeface="Open Sans"/>
              </a:defRPr>
            </a:lvl9pPr>
          </a:lstStyle>
          <a:p>
            <a:pPr algn="l">
              <a:defRPr sz="4500" b="1">
                <a:solidFill>
                  <a:srgbClr val="FFFFFF"/>
                </a:solidFill>
                <a:latin typeface="Open Sans"/>
                <a:ea typeface="Open Sans"/>
                <a:cs typeface="Open Sans"/>
              </a:defRPr>
            </a:pPr>
            <a:r>
              <a:rPr sz="4500" b="1">
                <a:solidFill>
                  <a:srgbClr val="FFFFFF"/>
                </a:solidFill>
                <a:latin typeface="Open Sans"/>
                <a:ea typeface="Open Sans"/>
                <a:cs typeface="Open Sans"/>
              </a:rPr>
              <a:t>12</a:t>
            </a:r>
          </a:p>
        </p:txBody>
      </p:sp>
      <p:sp>
        <p:nvSpPr>
          <p:cNvPr id="14" name="s20-hud-b text 19">
            <a:extLst>
              <a:ext uri="{FF2B5EF4-FFF2-40B4-BE49-F238E27FC236}">
                <a16:creationId xmlns:a16="http://schemas.microsoft.com/office/drawing/2014/main" id="{98C1D4D8-D926-4A9B-A4F4-544E0F2207C5}"/>
              </a:ext>
            </a:extLst>
          </p:cNvPr>
          <p:cNvSpPr>
            <a:spLocks noGrp="1"/>
          </p:cNvSpPr>
          <p:nvPr/>
        </p:nvSpPr>
        <p:spPr>
          <a:xfrm>
            <a:off x="14430375" y="6789420"/>
            <a:ext cx="1028700" cy="857250"/>
          </a:xfrm>
          <a:prstGeom prst="rect">
            <a:avLst/>
          </a:prstGeom>
          <a:noFill/>
          <a:ln w="0">
            <a:noFill/>
          </a:ln>
        </p:spPr>
        <p:txBody>
          <a:bodyPr wrap="none" lIns="0" tIns="0" rIns="0" bIns="0" anchor="t">
            <a:noAutofit/>
          </a:bodyPr>
          <a:lstStyle>
            <a:defPPr algn="l">
              <a:defRPr sz="4500" b="1">
                <a:solidFill>
                  <a:srgbClr val="FFFFFF"/>
                </a:solidFill>
                <a:latin typeface="Open Sans"/>
                <a:ea typeface="Open Sans"/>
                <a:cs typeface="Open Sans"/>
              </a:defRPr>
            </a:defPPr>
            <a:lvl1pPr algn="l">
              <a:defRPr sz="4500" b="1">
                <a:solidFill>
                  <a:srgbClr val="FFFFFF"/>
                </a:solidFill>
                <a:latin typeface="Open Sans"/>
                <a:ea typeface="Open Sans"/>
                <a:cs typeface="Open Sans"/>
              </a:defRPr>
            </a:lvl1pPr>
            <a:lvl2pPr algn="l">
              <a:defRPr sz="4500" b="1">
                <a:solidFill>
                  <a:srgbClr val="FFFFFF"/>
                </a:solidFill>
                <a:latin typeface="Open Sans"/>
                <a:ea typeface="Open Sans"/>
                <a:cs typeface="Open Sans"/>
              </a:defRPr>
            </a:lvl2pPr>
            <a:lvl3pPr algn="l">
              <a:defRPr sz="4500" b="1">
                <a:solidFill>
                  <a:srgbClr val="FFFFFF"/>
                </a:solidFill>
                <a:latin typeface="Open Sans"/>
                <a:ea typeface="Open Sans"/>
                <a:cs typeface="Open Sans"/>
              </a:defRPr>
            </a:lvl3pPr>
            <a:lvl4pPr algn="l">
              <a:defRPr sz="4500" b="1">
                <a:solidFill>
                  <a:srgbClr val="FFFFFF"/>
                </a:solidFill>
                <a:latin typeface="Open Sans"/>
                <a:ea typeface="Open Sans"/>
                <a:cs typeface="Open Sans"/>
              </a:defRPr>
            </a:lvl4pPr>
            <a:lvl5pPr algn="l">
              <a:defRPr sz="4500" b="1">
                <a:solidFill>
                  <a:srgbClr val="FFFFFF"/>
                </a:solidFill>
                <a:latin typeface="Open Sans"/>
                <a:ea typeface="Open Sans"/>
                <a:cs typeface="Open Sans"/>
              </a:defRPr>
            </a:lvl5pPr>
            <a:lvl6pPr algn="l">
              <a:defRPr sz="4500" b="1">
                <a:solidFill>
                  <a:srgbClr val="FFFFFF"/>
                </a:solidFill>
                <a:latin typeface="Open Sans"/>
                <a:ea typeface="Open Sans"/>
                <a:cs typeface="Open Sans"/>
              </a:defRPr>
            </a:lvl6pPr>
            <a:lvl7pPr algn="l">
              <a:defRPr sz="4500" b="1">
                <a:solidFill>
                  <a:srgbClr val="FFFFFF"/>
                </a:solidFill>
                <a:latin typeface="Open Sans"/>
                <a:ea typeface="Open Sans"/>
                <a:cs typeface="Open Sans"/>
              </a:defRPr>
            </a:lvl7pPr>
            <a:lvl8pPr algn="l">
              <a:defRPr sz="4500" b="1">
                <a:solidFill>
                  <a:srgbClr val="FFFFFF"/>
                </a:solidFill>
                <a:latin typeface="Open Sans"/>
                <a:ea typeface="Open Sans"/>
                <a:cs typeface="Open Sans"/>
              </a:defRPr>
            </a:lvl8pPr>
            <a:lvl9pPr algn="l">
              <a:defRPr sz="4500" b="1">
                <a:solidFill>
                  <a:srgbClr val="FFFFFF"/>
                </a:solidFill>
                <a:latin typeface="Open Sans"/>
                <a:ea typeface="Open Sans"/>
                <a:cs typeface="Open Sans"/>
              </a:defRPr>
            </a:lvl9pPr>
          </a:lstStyle>
          <a:p>
            <a:pPr algn="l">
              <a:defRPr sz="4500" b="1">
                <a:solidFill>
                  <a:srgbClr val="FFFFFF"/>
                </a:solidFill>
                <a:latin typeface="Open Sans"/>
                <a:ea typeface="Open Sans"/>
                <a:cs typeface="Open Sans"/>
              </a:defRPr>
            </a:pPr>
            <a:r>
              <a:rPr sz="4500" b="1">
                <a:solidFill>
                  <a:srgbClr val="FFFFFF"/>
                </a:solidFill>
                <a:latin typeface="Open Sans"/>
                <a:ea typeface="Open Sans"/>
                <a:cs typeface="Open Sans"/>
              </a:rPr>
              <a:t>1</a:t>
            </a:r>
          </a:p>
        </p:txBody>
      </p:sp>
      <p:pic>
        <p:nvPicPr>
          <p:cNvPr id="15" name="s20-group-labels image" descr="s20-group-labels image">
            <a:extLst>
              <a:ext uri="{FF2B5EF4-FFF2-40B4-BE49-F238E27FC236}">
                <a16:creationId xmlns:a16="http://schemas.microsoft.com/office/drawing/2014/main" id="{9C8AFA52-D785-4579-BCB6-6829EEA32DC0}"/>
              </a:ext>
            </a:extLst>
          </p:cNvPr>
          <p:cNvPicPr>
            <a:picLocks noChangeAspect="1"/>
          </p:cNvPicPr>
          <p:nvPr/>
        </p:nvPicPr>
        <p:blipFill>
          <a:blip r:embed="rId7"/>
          <a:stretch/>
        </p:blipFill>
        <p:spPr>
          <a:xfrm>
            <a:off x="2095500" y="7667625"/>
            <a:ext cx="15240000" cy="1190625"/>
          </a:xfrm>
          <a:prstGeom prst="rect">
            <a:avLst/>
          </a:prstGeom>
        </p:spPr>
      </p:pic>
      <p:sp>
        <p:nvSpPr>
          <p:cNvPr id="16" name="s20-group-labels text 20">
            <a:extLst>
              <a:ext uri="{FF2B5EF4-FFF2-40B4-BE49-F238E27FC236}">
                <a16:creationId xmlns:a16="http://schemas.microsoft.com/office/drawing/2014/main" id="{A6D74ED8-6FEC-4024-ACC1-A6069889C57C}"/>
              </a:ext>
            </a:extLst>
          </p:cNvPr>
          <p:cNvSpPr>
            <a:spLocks noGrp="1"/>
          </p:cNvSpPr>
          <p:nvPr/>
        </p:nvSpPr>
        <p:spPr>
          <a:xfrm>
            <a:off x="3027045" y="7973854"/>
            <a:ext cx="2994660" cy="785813"/>
          </a:xfrm>
          <a:prstGeom prst="rect">
            <a:avLst/>
          </a:prstGeom>
          <a:noFill/>
          <a:ln w="0">
            <a:noFill/>
          </a:ln>
        </p:spPr>
        <p:txBody>
          <a:bodyPr wrap="none" lIns="0" tIns="0" rIns="0" bIns="0" anchor="t">
            <a:noAutofit/>
          </a:bodyPr>
          <a:lstStyle>
            <a:defPPr algn="ctr">
              <a:defRPr sz="4125" b="1">
                <a:solidFill>
                  <a:srgbClr val="FFFFFF"/>
                </a:solidFill>
                <a:latin typeface="Open Sans"/>
                <a:ea typeface="Open Sans"/>
                <a:cs typeface="Open Sans"/>
              </a:defRPr>
            </a:defPPr>
            <a:lvl1pPr algn="ctr">
              <a:defRPr sz="4125" b="1">
                <a:solidFill>
                  <a:srgbClr val="FFFFFF"/>
                </a:solidFill>
                <a:latin typeface="Open Sans"/>
                <a:ea typeface="Open Sans"/>
                <a:cs typeface="Open Sans"/>
              </a:defRPr>
            </a:lvl1pPr>
            <a:lvl2pPr algn="ctr">
              <a:defRPr sz="4125" b="1">
                <a:solidFill>
                  <a:srgbClr val="FFFFFF"/>
                </a:solidFill>
                <a:latin typeface="Open Sans"/>
                <a:ea typeface="Open Sans"/>
                <a:cs typeface="Open Sans"/>
              </a:defRPr>
            </a:lvl2pPr>
            <a:lvl3pPr algn="ctr">
              <a:defRPr sz="4125" b="1">
                <a:solidFill>
                  <a:srgbClr val="FFFFFF"/>
                </a:solidFill>
                <a:latin typeface="Open Sans"/>
                <a:ea typeface="Open Sans"/>
                <a:cs typeface="Open Sans"/>
              </a:defRPr>
            </a:lvl3pPr>
            <a:lvl4pPr algn="ctr">
              <a:defRPr sz="4125" b="1">
                <a:solidFill>
                  <a:srgbClr val="FFFFFF"/>
                </a:solidFill>
                <a:latin typeface="Open Sans"/>
                <a:ea typeface="Open Sans"/>
                <a:cs typeface="Open Sans"/>
              </a:defRPr>
            </a:lvl4pPr>
            <a:lvl5pPr algn="ctr">
              <a:defRPr sz="4125" b="1">
                <a:solidFill>
                  <a:srgbClr val="FFFFFF"/>
                </a:solidFill>
                <a:latin typeface="Open Sans"/>
                <a:ea typeface="Open Sans"/>
                <a:cs typeface="Open Sans"/>
              </a:defRPr>
            </a:lvl5pPr>
            <a:lvl6pPr algn="ctr">
              <a:defRPr sz="4125" b="1">
                <a:solidFill>
                  <a:srgbClr val="FFFFFF"/>
                </a:solidFill>
                <a:latin typeface="Open Sans"/>
                <a:ea typeface="Open Sans"/>
                <a:cs typeface="Open Sans"/>
              </a:defRPr>
            </a:lvl6pPr>
            <a:lvl7pPr algn="ctr">
              <a:defRPr sz="4125" b="1">
                <a:solidFill>
                  <a:srgbClr val="FFFFFF"/>
                </a:solidFill>
                <a:latin typeface="Open Sans"/>
                <a:ea typeface="Open Sans"/>
                <a:cs typeface="Open Sans"/>
              </a:defRPr>
            </a:lvl7pPr>
            <a:lvl8pPr algn="ctr">
              <a:defRPr sz="4125" b="1">
                <a:solidFill>
                  <a:srgbClr val="FFFFFF"/>
                </a:solidFill>
                <a:latin typeface="Open Sans"/>
                <a:ea typeface="Open Sans"/>
                <a:cs typeface="Open Sans"/>
              </a:defRPr>
            </a:lvl8pPr>
            <a:lvl9pPr algn="ctr">
              <a:defRPr sz="4125" b="1">
                <a:solidFill>
                  <a:srgbClr val="FFFFFF"/>
                </a:solidFill>
                <a:latin typeface="Open Sans"/>
                <a:ea typeface="Open Sans"/>
                <a:cs typeface="Open Sans"/>
              </a:defRPr>
            </a:lvl9pPr>
          </a:lstStyle>
          <a:p>
            <a:pPr algn="ctr">
              <a:defRPr sz="4125" b="1">
                <a:solidFill>
                  <a:srgbClr val="FFFFFF"/>
                </a:solidFill>
                <a:latin typeface="Open Sans"/>
                <a:ea typeface="Open Sans"/>
                <a:cs typeface="Open Sans"/>
              </a:defRPr>
            </a:pPr>
            <a:r>
              <a:rPr sz="4125" b="1">
                <a:solidFill>
                  <a:srgbClr val="FFFFFF"/>
                </a:solidFill>
                <a:latin typeface="Open Sans"/>
                <a:ea typeface="Open Sans"/>
                <a:cs typeface="Open Sans"/>
              </a:rPr>
              <a:t>Survival</a:t>
            </a:r>
          </a:p>
        </p:txBody>
      </p:sp>
      <p:sp>
        <p:nvSpPr>
          <p:cNvPr id="17" name="s20-group-labels text 21">
            <a:extLst>
              <a:ext uri="{FF2B5EF4-FFF2-40B4-BE49-F238E27FC236}">
                <a16:creationId xmlns:a16="http://schemas.microsoft.com/office/drawing/2014/main" id="{232C0D32-DAAB-4344-9FBE-3021D56E99FB}"/>
              </a:ext>
            </a:extLst>
          </p:cNvPr>
          <p:cNvSpPr>
            <a:spLocks noGrp="1"/>
          </p:cNvSpPr>
          <p:nvPr/>
        </p:nvSpPr>
        <p:spPr>
          <a:xfrm>
            <a:off x="8659178" y="7973854"/>
            <a:ext cx="2303145" cy="785813"/>
          </a:xfrm>
          <a:prstGeom prst="rect">
            <a:avLst/>
          </a:prstGeom>
          <a:noFill/>
          <a:ln w="0">
            <a:noFill/>
          </a:ln>
        </p:spPr>
        <p:txBody>
          <a:bodyPr wrap="none" lIns="0" tIns="0" rIns="0" bIns="0" anchor="t">
            <a:noAutofit/>
          </a:bodyPr>
          <a:lstStyle>
            <a:defPPr algn="ctr">
              <a:defRPr sz="4125" b="1">
                <a:solidFill>
                  <a:srgbClr val="FFFFFF"/>
                </a:solidFill>
                <a:latin typeface="Open Sans"/>
                <a:ea typeface="Open Sans"/>
                <a:cs typeface="Open Sans"/>
              </a:defRPr>
            </a:defPPr>
            <a:lvl1pPr algn="ctr">
              <a:defRPr sz="4125" b="1">
                <a:solidFill>
                  <a:srgbClr val="FFFFFF"/>
                </a:solidFill>
                <a:latin typeface="Open Sans"/>
                <a:ea typeface="Open Sans"/>
                <a:cs typeface="Open Sans"/>
              </a:defRPr>
            </a:lvl1pPr>
            <a:lvl2pPr algn="ctr">
              <a:defRPr sz="4125" b="1">
                <a:solidFill>
                  <a:srgbClr val="FFFFFF"/>
                </a:solidFill>
                <a:latin typeface="Open Sans"/>
                <a:ea typeface="Open Sans"/>
                <a:cs typeface="Open Sans"/>
              </a:defRPr>
            </a:lvl2pPr>
            <a:lvl3pPr algn="ctr">
              <a:defRPr sz="4125" b="1">
                <a:solidFill>
                  <a:srgbClr val="FFFFFF"/>
                </a:solidFill>
                <a:latin typeface="Open Sans"/>
                <a:ea typeface="Open Sans"/>
                <a:cs typeface="Open Sans"/>
              </a:defRPr>
            </a:lvl3pPr>
            <a:lvl4pPr algn="ctr">
              <a:defRPr sz="4125" b="1">
                <a:solidFill>
                  <a:srgbClr val="FFFFFF"/>
                </a:solidFill>
                <a:latin typeface="Open Sans"/>
                <a:ea typeface="Open Sans"/>
                <a:cs typeface="Open Sans"/>
              </a:defRPr>
            </a:lvl4pPr>
            <a:lvl5pPr algn="ctr">
              <a:defRPr sz="4125" b="1">
                <a:solidFill>
                  <a:srgbClr val="FFFFFF"/>
                </a:solidFill>
                <a:latin typeface="Open Sans"/>
                <a:ea typeface="Open Sans"/>
                <a:cs typeface="Open Sans"/>
              </a:defRPr>
            </a:lvl5pPr>
            <a:lvl6pPr algn="ctr">
              <a:defRPr sz="4125" b="1">
                <a:solidFill>
                  <a:srgbClr val="FFFFFF"/>
                </a:solidFill>
                <a:latin typeface="Open Sans"/>
                <a:ea typeface="Open Sans"/>
                <a:cs typeface="Open Sans"/>
              </a:defRPr>
            </a:lvl6pPr>
            <a:lvl7pPr algn="ctr">
              <a:defRPr sz="4125" b="1">
                <a:solidFill>
                  <a:srgbClr val="FFFFFF"/>
                </a:solidFill>
                <a:latin typeface="Open Sans"/>
                <a:ea typeface="Open Sans"/>
                <a:cs typeface="Open Sans"/>
              </a:defRPr>
            </a:lvl7pPr>
            <a:lvl8pPr algn="ctr">
              <a:defRPr sz="4125" b="1">
                <a:solidFill>
                  <a:srgbClr val="FFFFFF"/>
                </a:solidFill>
                <a:latin typeface="Open Sans"/>
                <a:ea typeface="Open Sans"/>
                <a:cs typeface="Open Sans"/>
              </a:defRPr>
            </a:lvl8pPr>
            <a:lvl9pPr algn="ctr">
              <a:defRPr sz="4125" b="1">
                <a:solidFill>
                  <a:srgbClr val="FFFFFF"/>
                </a:solidFill>
                <a:latin typeface="Open Sans"/>
                <a:ea typeface="Open Sans"/>
                <a:cs typeface="Open Sans"/>
              </a:defRPr>
            </a:lvl9pPr>
          </a:lstStyle>
          <a:p>
            <a:pPr algn="ctr">
              <a:defRPr sz="4125" b="1">
                <a:solidFill>
                  <a:srgbClr val="FFFFFF"/>
                </a:solidFill>
                <a:latin typeface="Open Sans"/>
                <a:ea typeface="Open Sans"/>
                <a:cs typeface="Open Sans"/>
              </a:defRPr>
            </a:pPr>
            <a:r>
              <a:rPr sz="4125" b="1">
                <a:solidFill>
                  <a:srgbClr val="FFFFFF"/>
                </a:solidFill>
                <a:latin typeface="Open Sans"/>
                <a:ea typeface="Open Sans"/>
                <a:cs typeface="Open Sans"/>
              </a:rPr>
              <a:t>Combat</a:t>
            </a:r>
          </a:p>
        </p:txBody>
      </p:sp>
      <p:sp>
        <p:nvSpPr>
          <p:cNvPr id="18" name="s20-group-labels text 22">
            <a:extLst>
              <a:ext uri="{FF2B5EF4-FFF2-40B4-BE49-F238E27FC236}">
                <a16:creationId xmlns:a16="http://schemas.microsoft.com/office/drawing/2014/main" id="{2346577C-4DA8-47FF-B243-BBFC51A78BFE}"/>
              </a:ext>
            </a:extLst>
          </p:cNvPr>
          <p:cNvSpPr>
            <a:spLocks noGrp="1"/>
          </p:cNvSpPr>
          <p:nvPr/>
        </p:nvSpPr>
        <p:spPr>
          <a:xfrm>
            <a:off x="14291310" y="7973854"/>
            <a:ext cx="1611630" cy="785813"/>
          </a:xfrm>
          <a:prstGeom prst="rect">
            <a:avLst/>
          </a:prstGeom>
          <a:noFill/>
          <a:ln w="0">
            <a:noFill/>
          </a:ln>
        </p:spPr>
        <p:txBody>
          <a:bodyPr wrap="none" lIns="0" tIns="0" rIns="0" bIns="0" anchor="t">
            <a:noAutofit/>
          </a:bodyPr>
          <a:lstStyle>
            <a:defPPr algn="ctr">
              <a:defRPr sz="4125" b="1">
                <a:solidFill>
                  <a:srgbClr val="FFFFFF"/>
                </a:solidFill>
                <a:latin typeface="Open Sans"/>
                <a:ea typeface="Open Sans"/>
                <a:cs typeface="Open Sans"/>
              </a:defRPr>
            </a:defPPr>
            <a:lvl1pPr algn="ctr">
              <a:defRPr sz="4125" b="1">
                <a:solidFill>
                  <a:srgbClr val="FFFFFF"/>
                </a:solidFill>
                <a:latin typeface="Open Sans"/>
                <a:ea typeface="Open Sans"/>
                <a:cs typeface="Open Sans"/>
              </a:defRPr>
            </a:lvl1pPr>
            <a:lvl2pPr algn="ctr">
              <a:defRPr sz="4125" b="1">
                <a:solidFill>
                  <a:srgbClr val="FFFFFF"/>
                </a:solidFill>
                <a:latin typeface="Open Sans"/>
                <a:ea typeface="Open Sans"/>
                <a:cs typeface="Open Sans"/>
              </a:defRPr>
            </a:lvl2pPr>
            <a:lvl3pPr algn="ctr">
              <a:defRPr sz="4125" b="1">
                <a:solidFill>
                  <a:srgbClr val="FFFFFF"/>
                </a:solidFill>
                <a:latin typeface="Open Sans"/>
                <a:ea typeface="Open Sans"/>
                <a:cs typeface="Open Sans"/>
              </a:defRPr>
            </a:lvl3pPr>
            <a:lvl4pPr algn="ctr">
              <a:defRPr sz="4125" b="1">
                <a:solidFill>
                  <a:srgbClr val="FFFFFF"/>
                </a:solidFill>
                <a:latin typeface="Open Sans"/>
                <a:ea typeface="Open Sans"/>
                <a:cs typeface="Open Sans"/>
              </a:defRPr>
            </a:lvl4pPr>
            <a:lvl5pPr algn="ctr">
              <a:defRPr sz="4125" b="1">
                <a:solidFill>
                  <a:srgbClr val="FFFFFF"/>
                </a:solidFill>
                <a:latin typeface="Open Sans"/>
                <a:ea typeface="Open Sans"/>
                <a:cs typeface="Open Sans"/>
              </a:defRPr>
            </a:lvl5pPr>
            <a:lvl6pPr algn="ctr">
              <a:defRPr sz="4125" b="1">
                <a:solidFill>
                  <a:srgbClr val="FFFFFF"/>
                </a:solidFill>
                <a:latin typeface="Open Sans"/>
                <a:ea typeface="Open Sans"/>
                <a:cs typeface="Open Sans"/>
              </a:defRPr>
            </a:lvl6pPr>
            <a:lvl7pPr algn="ctr">
              <a:defRPr sz="4125" b="1">
                <a:solidFill>
                  <a:srgbClr val="FFFFFF"/>
                </a:solidFill>
                <a:latin typeface="Open Sans"/>
                <a:ea typeface="Open Sans"/>
                <a:cs typeface="Open Sans"/>
              </a:defRPr>
            </a:lvl7pPr>
            <a:lvl8pPr algn="ctr">
              <a:defRPr sz="4125" b="1">
                <a:solidFill>
                  <a:srgbClr val="FFFFFF"/>
                </a:solidFill>
                <a:latin typeface="Open Sans"/>
                <a:ea typeface="Open Sans"/>
                <a:cs typeface="Open Sans"/>
              </a:defRPr>
            </a:lvl8pPr>
            <a:lvl9pPr algn="ctr">
              <a:defRPr sz="4125" b="1">
                <a:solidFill>
                  <a:srgbClr val="FFFFFF"/>
                </a:solidFill>
                <a:latin typeface="Open Sans"/>
                <a:ea typeface="Open Sans"/>
                <a:cs typeface="Open Sans"/>
              </a:defRPr>
            </a:lvl9pPr>
          </a:lstStyle>
          <a:p>
            <a:pPr algn="ctr">
              <a:defRPr sz="4125" b="1">
                <a:solidFill>
                  <a:srgbClr val="FFFFFF"/>
                </a:solidFill>
                <a:latin typeface="Open Sans"/>
                <a:ea typeface="Open Sans"/>
                <a:cs typeface="Open Sans"/>
              </a:defRPr>
            </a:pPr>
            <a:r>
              <a:rPr sz="4125" b="1">
                <a:solidFill>
                  <a:srgbClr val="FFFFFF"/>
                </a:solidFill>
                <a:latin typeface="Open Sans"/>
                <a:ea typeface="Open Sans"/>
                <a:cs typeface="Open Sans"/>
              </a:rPr>
              <a:t>Goal</a:t>
            </a:r>
          </a:p>
        </p:txBody>
      </p:sp>
    </p:spTree>
    <p:extLst>
      <p:ext uri="{BB962C8B-B14F-4D97-AF65-F5344CB8AC3E}">
        <p14:creationId xmlns:p14="http://schemas.microsoft.com/office/powerpoint/2010/main" val="188626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5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5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15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5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5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5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5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5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1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3" grpId="0"/>
      <p:bldP spid="14" grpId="0"/>
      <p:bldP spid="16" grpId="0"/>
      <p:bldP spid="17" grpId="0"/>
      <p:bldP spid="18" grpId="0"/>
    </p:bldLst>
  </p:timing>
</p:sld>
</file>

<file path=ppt/slides/book_slide7.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32" name="Template clouds 32"/>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31" name="Template clouds 31"/>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30" name="Template grass 30"/>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29" name="Template grass 29"/>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28" name="Template grass 28"/>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27" name="Slide title">
            <a:extLst>
              <a:ext uri="{FF2B5EF4-FFF2-40B4-BE49-F238E27FC236}">
                <a16:creationId xmlns:a16="http://schemas.microsoft.com/office/drawing/2014/main" id="{63854B27-B556-4C07-B62D-83E93CDF25C1}"/>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WHY PLAY AGAIN?</a:t>
            </a:r>
          </a:p>
        </p:txBody>
      </p:sp>
      <p:sp>
        <p:nvSpPr>
          <p:cNvPr id="2" name="Source credit">
            <a:extLst>
              <a:ext uri="{FF2B5EF4-FFF2-40B4-BE49-F238E27FC236}">
                <a16:creationId xmlns:a16="http://schemas.microsoft.com/office/drawing/2014/main" id="{83CDFF74-CFEE-4D8A-87A5-8A9DE5FF71A9}"/>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1">
                <a:solidFill>
                  <a:srgbClr val="9AFFD2"/>
                </a:solidFill>
                <a:latin typeface="Open Sans"/>
                <a:ea typeface="Open Sans"/>
                <a:cs typeface="Open Sans"/>
              </a:rPr>
              <a:t>Book: </a:t>
            </a:r>
            <a:r>
              <a:rPr sz="2000" b="0">
                <a:solidFill>
                  <a:srgbClr val="FFFFFF"/>
                </a:solidFill>
                <a:latin typeface="Open Sans"/>
                <a:ea typeface="Open Sans"/>
                <a:cs typeface="Open Sans"/>
              </a:rPr>
              <a:t>Hooked / Nir Eyal with Ryan Hoover     ·     Illustrative mockup</a:t>
            </a:r>
          </a:p>
        </p:txBody>
      </p:sp>
      <p:sp>
        <p:nvSpPr>
          <p:cNvPr id="3" name="Trigger label">
            <a:extLst>
              <a:ext uri="{FF2B5EF4-FFF2-40B4-BE49-F238E27FC236}">
                <a16:creationId xmlns:a16="http://schemas.microsoft.com/office/drawing/2014/main" id="{82B75BA3-DA6D-4210-A3DC-26F3914AF4DD}"/>
              </a:ext>
            </a:extLst>
          </p:cNvPr>
          <p:cNvSpPr>
            <a:spLocks noGrp="1"/>
          </p:cNvSpPr>
          <p:nvPr/>
        </p:nvSpPr>
        <p:spPr>
          <a:xfrm>
            <a:off x="2381250" y="2714625"/>
            <a:ext cx="5715000" cy="619125"/>
          </a:xfrm>
          <a:prstGeom prst="rect">
            <a:avLst/>
          </a:prstGeom>
          <a:noFill/>
          <a:ln w="0">
            <a:noFill/>
          </a:ln>
        </p:spPr>
        <p:txBody>
          <a:bodyPr wrap="none" lIns="0" tIns="0" rIns="0" bIns="0" anchor="t">
            <a:noAutofit/>
          </a:bodyPr>
          <a:lstStyle>
            <a:defPPr algn="l">
              <a:defRPr sz="3600" b="1">
                <a:solidFill>
                  <a:srgbClr val="9AFFD2"/>
                </a:solidFill>
                <a:latin typeface="Open Sans"/>
                <a:ea typeface="Open Sans"/>
                <a:cs typeface="Open Sans"/>
              </a:defRPr>
            </a:defPPr>
            <a:lvl1pPr algn="l">
              <a:defRPr sz="3600" b="1">
                <a:solidFill>
                  <a:srgbClr val="9AFFD2"/>
                </a:solidFill>
                <a:latin typeface="Open Sans"/>
                <a:ea typeface="Open Sans"/>
                <a:cs typeface="Open Sans"/>
              </a:defRPr>
            </a:lvl1pPr>
            <a:lvl2pPr algn="l">
              <a:defRPr sz="3600" b="1">
                <a:solidFill>
                  <a:srgbClr val="9AFFD2"/>
                </a:solidFill>
                <a:latin typeface="Open Sans"/>
                <a:ea typeface="Open Sans"/>
                <a:cs typeface="Open Sans"/>
              </a:defRPr>
            </a:lvl2pPr>
            <a:lvl3pPr algn="l">
              <a:defRPr sz="3600" b="1">
                <a:solidFill>
                  <a:srgbClr val="9AFFD2"/>
                </a:solidFill>
                <a:latin typeface="Open Sans"/>
                <a:ea typeface="Open Sans"/>
                <a:cs typeface="Open Sans"/>
              </a:defRPr>
            </a:lvl3pPr>
            <a:lvl4pPr algn="l">
              <a:defRPr sz="3600" b="1">
                <a:solidFill>
                  <a:srgbClr val="9AFFD2"/>
                </a:solidFill>
                <a:latin typeface="Open Sans"/>
                <a:ea typeface="Open Sans"/>
                <a:cs typeface="Open Sans"/>
              </a:defRPr>
            </a:lvl4pPr>
            <a:lvl5pPr algn="l">
              <a:defRPr sz="3600" b="1">
                <a:solidFill>
                  <a:srgbClr val="9AFFD2"/>
                </a:solidFill>
                <a:latin typeface="Open Sans"/>
                <a:ea typeface="Open Sans"/>
                <a:cs typeface="Open Sans"/>
              </a:defRPr>
            </a:lvl5pPr>
            <a:lvl6pPr algn="l">
              <a:defRPr sz="3600" b="1">
                <a:solidFill>
                  <a:srgbClr val="9AFFD2"/>
                </a:solidFill>
                <a:latin typeface="Open Sans"/>
                <a:ea typeface="Open Sans"/>
                <a:cs typeface="Open Sans"/>
              </a:defRPr>
            </a:lvl6pPr>
            <a:lvl7pPr algn="l">
              <a:defRPr sz="3600" b="1">
                <a:solidFill>
                  <a:srgbClr val="9AFFD2"/>
                </a:solidFill>
                <a:latin typeface="Open Sans"/>
                <a:ea typeface="Open Sans"/>
                <a:cs typeface="Open Sans"/>
              </a:defRPr>
            </a:lvl7pPr>
            <a:lvl8pPr algn="l">
              <a:defRPr sz="3600" b="1">
                <a:solidFill>
                  <a:srgbClr val="9AFFD2"/>
                </a:solidFill>
                <a:latin typeface="Open Sans"/>
                <a:ea typeface="Open Sans"/>
                <a:cs typeface="Open Sans"/>
              </a:defRPr>
            </a:lvl8pPr>
            <a:lvl9pPr algn="l">
              <a:defRPr sz="3600" b="1">
                <a:solidFill>
                  <a:srgbClr val="9AFFD2"/>
                </a:solidFill>
                <a:latin typeface="Open Sans"/>
                <a:ea typeface="Open Sans"/>
                <a:cs typeface="Open Sans"/>
              </a:defRPr>
            </a:lvl9pPr>
          </a:lstStyle>
          <a:p>
            <a:pPr algn="l">
              <a:defRPr sz="3600" b="1">
                <a:solidFill>
                  <a:srgbClr val="9AFFD2"/>
                </a:solidFill>
                <a:latin typeface="Open Sans"/>
                <a:ea typeface="Open Sans"/>
                <a:cs typeface="Open Sans"/>
              </a:defRPr>
            </a:pPr>
            <a:r>
              <a:rPr sz="3600" b="1">
                <a:solidFill>
                  <a:srgbClr val="9AFFD2"/>
                </a:solidFill>
                <a:latin typeface="Open Sans"/>
                <a:ea typeface="Open Sans"/>
                <a:cs typeface="Open Sans"/>
              </a:rPr>
              <a:t>Trigger</a:t>
            </a:r>
          </a:p>
        </p:txBody>
      </p:sp>
      <p:sp>
        <p:nvSpPr>
          <p:cNvPr id="4" name="Action label">
            <a:extLst>
              <a:ext uri="{FF2B5EF4-FFF2-40B4-BE49-F238E27FC236}">
                <a16:creationId xmlns:a16="http://schemas.microsoft.com/office/drawing/2014/main" id="{6F1100E5-F2A0-414F-82FF-CF9873B7C61A}"/>
              </a:ext>
            </a:extLst>
          </p:cNvPr>
          <p:cNvSpPr>
            <a:spLocks noGrp="1"/>
          </p:cNvSpPr>
          <p:nvPr/>
        </p:nvSpPr>
        <p:spPr>
          <a:xfrm>
            <a:off x="11334750" y="2714625"/>
            <a:ext cx="5715000" cy="619125"/>
          </a:xfrm>
          <a:prstGeom prst="rect">
            <a:avLst/>
          </a:prstGeom>
          <a:noFill/>
          <a:ln w="0">
            <a:noFill/>
          </a:ln>
        </p:spPr>
        <p:txBody>
          <a:bodyPr wrap="none" lIns="0" tIns="0" rIns="0" bIns="0" anchor="t">
            <a:noAutofit/>
          </a:bodyPr>
          <a:lstStyle>
            <a:defPPr algn="l">
              <a:defRPr sz="3600" b="1">
                <a:solidFill>
                  <a:srgbClr val="9AFFD2"/>
                </a:solidFill>
                <a:latin typeface="Open Sans"/>
                <a:ea typeface="Open Sans"/>
                <a:cs typeface="Open Sans"/>
              </a:defRPr>
            </a:defPPr>
            <a:lvl1pPr algn="l">
              <a:defRPr sz="3600" b="1">
                <a:solidFill>
                  <a:srgbClr val="9AFFD2"/>
                </a:solidFill>
                <a:latin typeface="Open Sans"/>
                <a:ea typeface="Open Sans"/>
                <a:cs typeface="Open Sans"/>
              </a:defRPr>
            </a:lvl1pPr>
            <a:lvl2pPr algn="l">
              <a:defRPr sz="3600" b="1">
                <a:solidFill>
                  <a:srgbClr val="9AFFD2"/>
                </a:solidFill>
                <a:latin typeface="Open Sans"/>
                <a:ea typeface="Open Sans"/>
                <a:cs typeface="Open Sans"/>
              </a:defRPr>
            </a:lvl2pPr>
            <a:lvl3pPr algn="l">
              <a:defRPr sz="3600" b="1">
                <a:solidFill>
                  <a:srgbClr val="9AFFD2"/>
                </a:solidFill>
                <a:latin typeface="Open Sans"/>
                <a:ea typeface="Open Sans"/>
                <a:cs typeface="Open Sans"/>
              </a:defRPr>
            </a:lvl3pPr>
            <a:lvl4pPr algn="l">
              <a:defRPr sz="3600" b="1">
                <a:solidFill>
                  <a:srgbClr val="9AFFD2"/>
                </a:solidFill>
                <a:latin typeface="Open Sans"/>
                <a:ea typeface="Open Sans"/>
                <a:cs typeface="Open Sans"/>
              </a:defRPr>
            </a:lvl4pPr>
            <a:lvl5pPr algn="l">
              <a:defRPr sz="3600" b="1">
                <a:solidFill>
                  <a:srgbClr val="9AFFD2"/>
                </a:solidFill>
                <a:latin typeface="Open Sans"/>
                <a:ea typeface="Open Sans"/>
                <a:cs typeface="Open Sans"/>
              </a:defRPr>
            </a:lvl5pPr>
            <a:lvl6pPr algn="l">
              <a:defRPr sz="3600" b="1">
                <a:solidFill>
                  <a:srgbClr val="9AFFD2"/>
                </a:solidFill>
                <a:latin typeface="Open Sans"/>
                <a:ea typeface="Open Sans"/>
                <a:cs typeface="Open Sans"/>
              </a:defRPr>
            </a:lvl6pPr>
            <a:lvl7pPr algn="l">
              <a:defRPr sz="3600" b="1">
                <a:solidFill>
                  <a:srgbClr val="9AFFD2"/>
                </a:solidFill>
                <a:latin typeface="Open Sans"/>
                <a:ea typeface="Open Sans"/>
                <a:cs typeface="Open Sans"/>
              </a:defRPr>
            </a:lvl7pPr>
            <a:lvl8pPr algn="l">
              <a:defRPr sz="3600" b="1">
                <a:solidFill>
                  <a:srgbClr val="9AFFD2"/>
                </a:solidFill>
                <a:latin typeface="Open Sans"/>
                <a:ea typeface="Open Sans"/>
                <a:cs typeface="Open Sans"/>
              </a:defRPr>
            </a:lvl8pPr>
            <a:lvl9pPr algn="l">
              <a:defRPr sz="3600" b="1">
                <a:solidFill>
                  <a:srgbClr val="9AFFD2"/>
                </a:solidFill>
                <a:latin typeface="Open Sans"/>
                <a:ea typeface="Open Sans"/>
                <a:cs typeface="Open Sans"/>
              </a:defRPr>
            </a:lvl9pPr>
          </a:lstStyle>
          <a:p>
            <a:pPr algn="l">
              <a:defRPr sz="3600" b="1">
                <a:solidFill>
                  <a:srgbClr val="9AFFD2"/>
                </a:solidFill>
                <a:latin typeface="Open Sans"/>
                <a:ea typeface="Open Sans"/>
                <a:cs typeface="Open Sans"/>
              </a:defRPr>
            </a:pPr>
            <a:r>
              <a:rPr sz="3600" b="1">
                <a:solidFill>
                  <a:srgbClr val="9AFFD2"/>
                </a:solidFill>
                <a:latin typeface="Open Sans"/>
                <a:ea typeface="Open Sans"/>
                <a:cs typeface="Open Sans"/>
              </a:rPr>
              <a:t>Action</a:t>
            </a:r>
          </a:p>
        </p:txBody>
      </p:sp>
      <p:sp>
        <p:nvSpPr>
          <p:cNvPr id="5" name="Investment label">
            <a:extLst>
              <a:ext uri="{FF2B5EF4-FFF2-40B4-BE49-F238E27FC236}">
                <a16:creationId xmlns:a16="http://schemas.microsoft.com/office/drawing/2014/main" id="{8E0CCC46-CB12-43CE-8B4C-BE24BA8BBC3C}"/>
              </a:ext>
            </a:extLst>
          </p:cNvPr>
          <p:cNvSpPr>
            <a:spLocks noGrp="1"/>
          </p:cNvSpPr>
          <p:nvPr/>
        </p:nvSpPr>
        <p:spPr>
          <a:xfrm>
            <a:off x="2381250" y="5857875"/>
            <a:ext cx="5715000" cy="619125"/>
          </a:xfrm>
          <a:prstGeom prst="rect">
            <a:avLst/>
          </a:prstGeom>
          <a:noFill/>
          <a:ln w="0">
            <a:noFill/>
          </a:ln>
        </p:spPr>
        <p:txBody>
          <a:bodyPr wrap="none" lIns="0" tIns="0" rIns="0" bIns="0" anchor="t">
            <a:noAutofit/>
          </a:bodyPr>
          <a:lstStyle>
            <a:defPPr algn="l">
              <a:defRPr sz="3600" b="1">
                <a:solidFill>
                  <a:srgbClr val="9AFFD2"/>
                </a:solidFill>
                <a:latin typeface="Open Sans"/>
                <a:ea typeface="Open Sans"/>
                <a:cs typeface="Open Sans"/>
              </a:defRPr>
            </a:defPPr>
            <a:lvl1pPr algn="l">
              <a:defRPr sz="3600" b="1">
                <a:solidFill>
                  <a:srgbClr val="9AFFD2"/>
                </a:solidFill>
                <a:latin typeface="Open Sans"/>
                <a:ea typeface="Open Sans"/>
                <a:cs typeface="Open Sans"/>
              </a:defRPr>
            </a:lvl1pPr>
            <a:lvl2pPr algn="l">
              <a:defRPr sz="3600" b="1">
                <a:solidFill>
                  <a:srgbClr val="9AFFD2"/>
                </a:solidFill>
                <a:latin typeface="Open Sans"/>
                <a:ea typeface="Open Sans"/>
                <a:cs typeface="Open Sans"/>
              </a:defRPr>
            </a:lvl2pPr>
            <a:lvl3pPr algn="l">
              <a:defRPr sz="3600" b="1">
                <a:solidFill>
                  <a:srgbClr val="9AFFD2"/>
                </a:solidFill>
                <a:latin typeface="Open Sans"/>
                <a:ea typeface="Open Sans"/>
                <a:cs typeface="Open Sans"/>
              </a:defRPr>
            </a:lvl3pPr>
            <a:lvl4pPr algn="l">
              <a:defRPr sz="3600" b="1">
                <a:solidFill>
                  <a:srgbClr val="9AFFD2"/>
                </a:solidFill>
                <a:latin typeface="Open Sans"/>
                <a:ea typeface="Open Sans"/>
                <a:cs typeface="Open Sans"/>
              </a:defRPr>
            </a:lvl4pPr>
            <a:lvl5pPr algn="l">
              <a:defRPr sz="3600" b="1">
                <a:solidFill>
                  <a:srgbClr val="9AFFD2"/>
                </a:solidFill>
                <a:latin typeface="Open Sans"/>
                <a:ea typeface="Open Sans"/>
                <a:cs typeface="Open Sans"/>
              </a:defRPr>
            </a:lvl5pPr>
            <a:lvl6pPr algn="l">
              <a:defRPr sz="3600" b="1">
                <a:solidFill>
                  <a:srgbClr val="9AFFD2"/>
                </a:solidFill>
                <a:latin typeface="Open Sans"/>
                <a:ea typeface="Open Sans"/>
                <a:cs typeface="Open Sans"/>
              </a:defRPr>
            </a:lvl6pPr>
            <a:lvl7pPr algn="l">
              <a:defRPr sz="3600" b="1">
                <a:solidFill>
                  <a:srgbClr val="9AFFD2"/>
                </a:solidFill>
                <a:latin typeface="Open Sans"/>
                <a:ea typeface="Open Sans"/>
                <a:cs typeface="Open Sans"/>
              </a:defRPr>
            </a:lvl7pPr>
            <a:lvl8pPr algn="l">
              <a:defRPr sz="3600" b="1">
                <a:solidFill>
                  <a:srgbClr val="9AFFD2"/>
                </a:solidFill>
                <a:latin typeface="Open Sans"/>
                <a:ea typeface="Open Sans"/>
                <a:cs typeface="Open Sans"/>
              </a:defRPr>
            </a:lvl8pPr>
            <a:lvl9pPr algn="l">
              <a:defRPr sz="3600" b="1">
                <a:solidFill>
                  <a:srgbClr val="9AFFD2"/>
                </a:solidFill>
                <a:latin typeface="Open Sans"/>
                <a:ea typeface="Open Sans"/>
                <a:cs typeface="Open Sans"/>
              </a:defRPr>
            </a:lvl9pPr>
          </a:lstStyle>
          <a:p>
            <a:pPr algn="l">
              <a:defRPr sz="3600" b="1">
                <a:solidFill>
                  <a:srgbClr val="9AFFD2"/>
                </a:solidFill>
                <a:latin typeface="Open Sans"/>
                <a:ea typeface="Open Sans"/>
                <a:cs typeface="Open Sans"/>
              </a:defRPr>
            </a:pPr>
            <a:r>
              <a:rPr sz="3600" b="1">
                <a:solidFill>
                  <a:srgbClr val="9AFFD2"/>
                </a:solidFill>
                <a:latin typeface="Open Sans"/>
                <a:ea typeface="Open Sans"/>
                <a:cs typeface="Open Sans"/>
              </a:rPr>
              <a:t>Investment</a:t>
            </a:r>
          </a:p>
        </p:txBody>
      </p:sp>
      <p:sp>
        <p:nvSpPr>
          <p:cNvPr id="6" name="Variable reward label">
            <a:extLst>
              <a:ext uri="{FF2B5EF4-FFF2-40B4-BE49-F238E27FC236}">
                <a16:creationId xmlns:a16="http://schemas.microsoft.com/office/drawing/2014/main" id="{46FAA97A-3681-42F8-8CFF-7940B9DF99EB}"/>
              </a:ext>
            </a:extLst>
          </p:cNvPr>
          <p:cNvSpPr>
            <a:spLocks noGrp="1"/>
          </p:cNvSpPr>
          <p:nvPr/>
        </p:nvSpPr>
        <p:spPr>
          <a:xfrm>
            <a:off x="11334750" y="5857875"/>
            <a:ext cx="5715000" cy="619125"/>
          </a:xfrm>
          <a:prstGeom prst="rect">
            <a:avLst/>
          </a:prstGeom>
          <a:noFill/>
          <a:ln w="0">
            <a:noFill/>
          </a:ln>
        </p:spPr>
        <p:txBody>
          <a:bodyPr wrap="none" lIns="0" tIns="0" rIns="0" bIns="0" anchor="t">
            <a:noAutofit/>
          </a:bodyPr>
          <a:lstStyle>
            <a:defPPr algn="l">
              <a:defRPr sz="3600" b="1">
                <a:solidFill>
                  <a:srgbClr val="9AFFD2"/>
                </a:solidFill>
                <a:latin typeface="Open Sans"/>
                <a:ea typeface="Open Sans"/>
                <a:cs typeface="Open Sans"/>
              </a:defRPr>
            </a:defPPr>
            <a:lvl1pPr algn="l">
              <a:defRPr sz="3600" b="1">
                <a:solidFill>
                  <a:srgbClr val="9AFFD2"/>
                </a:solidFill>
                <a:latin typeface="Open Sans"/>
                <a:ea typeface="Open Sans"/>
                <a:cs typeface="Open Sans"/>
              </a:defRPr>
            </a:lvl1pPr>
            <a:lvl2pPr algn="l">
              <a:defRPr sz="3600" b="1">
                <a:solidFill>
                  <a:srgbClr val="9AFFD2"/>
                </a:solidFill>
                <a:latin typeface="Open Sans"/>
                <a:ea typeface="Open Sans"/>
                <a:cs typeface="Open Sans"/>
              </a:defRPr>
            </a:lvl2pPr>
            <a:lvl3pPr algn="l">
              <a:defRPr sz="3600" b="1">
                <a:solidFill>
                  <a:srgbClr val="9AFFD2"/>
                </a:solidFill>
                <a:latin typeface="Open Sans"/>
                <a:ea typeface="Open Sans"/>
                <a:cs typeface="Open Sans"/>
              </a:defRPr>
            </a:lvl3pPr>
            <a:lvl4pPr algn="l">
              <a:defRPr sz="3600" b="1">
                <a:solidFill>
                  <a:srgbClr val="9AFFD2"/>
                </a:solidFill>
                <a:latin typeface="Open Sans"/>
                <a:ea typeface="Open Sans"/>
                <a:cs typeface="Open Sans"/>
              </a:defRPr>
            </a:lvl4pPr>
            <a:lvl5pPr algn="l">
              <a:defRPr sz="3600" b="1">
                <a:solidFill>
                  <a:srgbClr val="9AFFD2"/>
                </a:solidFill>
                <a:latin typeface="Open Sans"/>
                <a:ea typeface="Open Sans"/>
                <a:cs typeface="Open Sans"/>
              </a:defRPr>
            </a:lvl5pPr>
            <a:lvl6pPr algn="l">
              <a:defRPr sz="3600" b="1">
                <a:solidFill>
                  <a:srgbClr val="9AFFD2"/>
                </a:solidFill>
                <a:latin typeface="Open Sans"/>
                <a:ea typeface="Open Sans"/>
                <a:cs typeface="Open Sans"/>
              </a:defRPr>
            </a:lvl6pPr>
            <a:lvl7pPr algn="l">
              <a:defRPr sz="3600" b="1">
                <a:solidFill>
                  <a:srgbClr val="9AFFD2"/>
                </a:solidFill>
                <a:latin typeface="Open Sans"/>
                <a:ea typeface="Open Sans"/>
                <a:cs typeface="Open Sans"/>
              </a:defRPr>
            </a:lvl7pPr>
            <a:lvl8pPr algn="l">
              <a:defRPr sz="3600" b="1">
                <a:solidFill>
                  <a:srgbClr val="9AFFD2"/>
                </a:solidFill>
                <a:latin typeface="Open Sans"/>
                <a:ea typeface="Open Sans"/>
                <a:cs typeface="Open Sans"/>
              </a:defRPr>
            </a:lvl8pPr>
            <a:lvl9pPr algn="l">
              <a:defRPr sz="3600" b="1">
                <a:solidFill>
                  <a:srgbClr val="9AFFD2"/>
                </a:solidFill>
                <a:latin typeface="Open Sans"/>
                <a:ea typeface="Open Sans"/>
                <a:cs typeface="Open Sans"/>
              </a:defRPr>
            </a:lvl9pPr>
          </a:lstStyle>
          <a:p>
            <a:pPr algn="l">
              <a:defRPr sz="3600" b="1">
                <a:solidFill>
                  <a:srgbClr val="9AFFD2"/>
                </a:solidFill>
                <a:latin typeface="Open Sans"/>
                <a:ea typeface="Open Sans"/>
                <a:cs typeface="Open Sans"/>
              </a:defRPr>
            </a:pPr>
            <a:r>
              <a:rPr sz="3600" b="1">
                <a:solidFill>
                  <a:srgbClr val="9AFFD2"/>
                </a:solidFill>
                <a:latin typeface="Open Sans"/>
                <a:ea typeface="Open Sans"/>
                <a:cs typeface="Open Sans"/>
              </a:rPr>
              <a:t>Variable reward</a:t>
            </a:r>
          </a:p>
        </p:txBody>
      </p:sp>
      <p:pic>
        <p:nvPicPr>
          <p:cNvPr id="7" name="Thought" descr="Thought">
            <a:extLst>
              <a:ext uri="{FF2B5EF4-FFF2-40B4-BE49-F238E27FC236}">
                <a16:creationId xmlns:a16="http://schemas.microsoft.com/office/drawing/2014/main" id="{7A34792A-0807-4CF0-8420-BC2B3D4936EC}"/>
              </a:ext>
            </a:extLst>
          </p:cNvPr>
          <p:cNvPicPr>
            <a:picLocks noChangeAspect="1"/>
          </p:cNvPicPr>
          <p:nvPr/>
        </p:nvPicPr>
        <p:blipFill>
          <a:blip r:embed="rId5"/>
          <a:stretch/>
        </p:blipFill>
        <p:spPr>
          <a:xfrm>
            <a:off x="2381250" y="3762375"/>
            <a:ext cx="1381125" cy="1381125"/>
          </a:xfrm>
          <a:prstGeom prst="rect">
            <a:avLst/>
          </a:prstGeom>
        </p:spPr>
      </p:pic>
      <p:pic>
        <p:nvPicPr>
          <p:cNvPr id="8" name="Remembered dash" descr="Remembered dash">
            <a:extLst>
              <a:ext uri="{FF2B5EF4-FFF2-40B4-BE49-F238E27FC236}">
                <a16:creationId xmlns:a16="http://schemas.microsoft.com/office/drawing/2014/main" id="{614143D7-80E8-42A6-8C4B-676AFE3E05A9}"/>
              </a:ext>
            </a:extLst>
          </p:cNvPr>
          <p:cNvPicPr>
            <a:picLocks noChangeAspect="1"/>
          </p:cNvPicPr>
          <p:nvPr/>
        </p:nvPicPr>
        <p:blipFill>
          <a:blip r:embed="rId6"/>
          <a:stretch/>
        </p:blipFill>
        <p:spPr>
          <a:xfrm>
            <a:off x="4048125" y="3762375"/>
            <a:ext cx="1381125" cy="1381125"/>
          </a:xfrm>
          <a:prstGeom prst="rect">
            <a:avLst/>
          </a:prstGeom>
        </p:spPr>
      </p:pic>
      <p:pic>
        <p:nvPicPr>
          <p:cNvPr id="9" name="Remembered frost" descr="Remembered frost">
            <a:extLst>
              <a:ext uri="{FF2B5EF4-FFF2-40B4-BE49-F238E27FC236}">
                <a16:creationId xmlns:a16="http://schemas.microsoft.com/office/drawing/2014/main" id="{A618008D-DE6C-4C0D-8B58-7998A0814127}"/>
              </a:ext>
            </a:extLst>
          </p:cNvPr>
          <p:cNvPicPr>
            <a:picLocks noChangeAspect="1"/>
          </p:cNvPicPr>
          <p:nvPr/>
        </p:nvPicPr>
        <p:blipFill>
          <a:blip r:embed="rId7"/>
          <a:stretch/>
        </p:blipFill>
        <p:spPr>
          <a:xfrm>
            <a:off x="5715000" y="3762375"/>
            <a:ext cx="1381125" cy="1381125"/>
          </a:xfrm>
          <a:prstGeom prst="rect">
            <a:avLst/>
          </a:prstGeom>
        </p:spPr>
      </p:pic>
      <p:sp>
        <p:nvSpPr>
          <p:cNvPr id="10" name="Thought prompt">
            <a:extLst>
              <a:ext uri="{FF2B5EF4-FFF2-40B4-BE49-F238E27FC236}">
                <a16:creationId xmlns:a16="http://schemas.microsoft.com/office/drawing/2014/main" id="{E25EA83B-CBB5-465F-AD50-009EDF67FB7F}"/>
              </a:ext>
            </a:extLst>
          </p:cNvPr>
          <p:cNvSpPr>
            <a:spLocks noGrp="1"/>
          </p:cNvSpPr>
          <p:nvPr/>
        </p:nvSpPr>
        <p:spPr>
          <a:xfrm>
            <a:off x="2381250" y="5334000"/>
            <a:ext cx="5715000" cy="571500"/>
          </a:xfrm>
          <a:prstGeom prst="rect">
            <a:avLst/>
          </a:prstGeom>
          <a:noFill/>
          <a:ln w="0">
            <a:noFill/>
          </a:ln>
        </p:spPr>
        <p:txBody>
          <a:bodyPr wrap="none" lIns="0" tIns="0" rIns="0" bIns="0" anchor="t">
            <a:noAutofit/>
          </a:bodyPr>
          <a:lstStyle>
            <a:defPPr algn="l">
              <a:defRPr sz="3000" b="0">
                <a:solidFill>
                  <a:srgbClr val="FFFFFF"/>
                </a:solidFill>
                <a:latin typeface="Open Sans"/>
                <a:ea typeface="Open Sans"/>
                <a:cs typeface="Open Sans"/>
              </a:defRPr>
            </a:defPPr>
            <a:lvl1pPr algn="l">
              <a:defRPr sz="3000" b="0">
                <a:solidFill>
                  <a:srgbClr val="FFFFFF"/>
                </a:solidFill>
                <a:latin typeface="Open Sans"/>
                <a:ea typeface="Open Sans"/>
                <a:cs typeface="Open Sans"/>
              </a:defRPr>
            </a:lvl1pPr>
            <a:lvl2pPr algn="l">
              <a:defRPr sz="3000" b="0">
                <a:solidFill>
                  <a:srgbClr val="FFFFFF"/>
                </a:solidFill>
                <a:latin typeface="Open Sans"/>
                <a:ea typeface="Open Sans"/>
                <a:cs typeface="Open Sans"/>
              </a:defRPr>
            </a:lvl2pPr>
            <a:lvl3pPr algn="l">
              <a:defRPr sz="3000" b="0">
                <a:solidFill>
                  <a:srgbClr val="FFFFFF"/>
                </a:solidFill>
                <a:latin typeface="Open Sans"/>
                <a:ea typeface="Open Sans"/>
                <a:cs typeface="Open Sans"/>
              </a:defRPr>
            </a:lvl3pPr>
            <a:lvl4pPr algn="l">
              <a:defRPr sz="3000" b="0">
                <a:solidFill>
                  <a:srgbClr val="FFFFFF"/>
                </a:solidFill>
                <a:latin typeface="Open Sans"/>
                <a:ea typeface="Open Sans"/>
                <a:cs typeface="Open Sans"/>
              </a:defRPr>
            </a:lvl4pPr>
            <a:lvl5pPr algn="l">
              <a:defRPr sz="3000" b="0">
                <a:solidFill>
                  <a:srgbClr val="FFFFFF"/>
                </a:solidFill>
                <a:latin typeface="Open Sans"/>
                <a:ea typeface="Open Sans"/>
                <a:cs typeface="Open Sans"/>
              </a:defRPr>
            </a:lvl5pPr>
            <a:lvl6pPr algn="l">
              <a:defRPr sz="3000" b="0">
                <a:solidFill>
                  <a:srgbClr val="FFFFFF"/>
                </a:solidFill>
                <a:latin typeface="Open Sans"/>
                <a:ea typeface="Open Sans"/>
                <a:cs typeface="Open Sans"/>
              </a:defRPr>
            </a:lvl6pPr>
            <a:lvl7pPr algn="l">
              <a:defRPr sz="3000" b="0">
                <a:solidFill>
                  <a:srgbClr val="FFFFFF"/>
                </a:solidFill>
                <a:latin typeface="Open Sans"/>
                <a:ea typeface="Open Sans"/>
                <a:cs typeface="Open Sans"/>
              </a:defRPr>
            </a:lvl7pPr>
            <a:lvl8pPr algn="l">
              <a:defRPr sz="3000" b="0">
                <a:solidFill>
                  <a:srgbClr val="FFFFFF"/>
                </a:solidFill>
                <a:latin typeface="Open Sans"/>
                <a:ea typeface="Open Sans"/>
                <a:cs typeface="Open Sans"/>
              </a:defRPr>
            </a:lvl8pPr>
            <a:lvl9pPr algn="l">
              <a:defRPr sz="3000" b="0">
                <a:solidFill>
                  <a:srgbClr val="FFFFFF"/>
                </a:solidFill>
                <a:latin typeface="Open Sans"/>
                <a:ea typeface="Open Sans"/>
                <a:cs typeface="Open Sans"/>
              </a:defRPr>
            </a:lvl9pPr>
          </a:lstStyle>
          <a:p>
            <a:pPr algn="l">
              <a:defRPr sz="3000" b="0">
                <a:solidFill>
                  <a:srgbClr val="FFFFFF"/>
                </a:solidFill>
                <a:latin typeface="Open Sans"/>
                <a:ea typeface="Open Sans"/>
                <a:cs typeface="Open Sans"/>
              </a:defRPr>
            </a:pPr>
            <a:r>
              <a:rPr sz="3000" b="0">
                <a:solidFill>
                  <a:srgbClr val="FFFFFF"/>
                </a:solidFill>
                <a:latin typeface="Open Sans"/>
                <a:ea typeface="Open Sans"/>
                <a:cs typeface="Open Sans"/>
              </a:rPr>
              <a:t>Try frost dash?</a:t>
            </a:r>
          </a:p>
        </p:txBody>
      </p:sp>
      <p:pic>
        <p:nvPicPr>
          <p:cNvPr id="11" name="Play control" descr="Play control">
            <a:extLst>
              <a:ext uri="{FF2B5EF4-FFF2-40B4-BE49-F238E27FC236}">
                <a16:creationId xmlns:a16="http://schemas.microsoft.com/office/drawing/2014/main" id="{0CAE30C0-DA5A-495A-97DC-E6B2F4CD9271}"/>
              </a:ext>
            </a:extLst>
          </p:cNvPr>
          <p:cNvPicPr>
            <a:picLocks noChangeAspect="1"/>
          </p:cNvPicPr>
          <p:nvPr/>
        </p:nvPicPr>
        <p:blipFill>
          <a:blip r:embed="rId8"/>
          <a:stretch/>
        </p:blipFill>
        <p:spPr>
          <a:xfrm>
            <a:off x="12763500" y="3714750"/>
            <a:ext cx="1476375" cy="1476375"/>
          </a:xfrm>
          <a:prstGeom prst="rect">
            <a:avLst/>
          </a:prstGeom>
        </p:spPr>
      </p:pic>
      <p:sp>
        <p:nvSpPr>
          <p:cNvPr id="12" name="Play action">
            <a:extLst>
              <a:ext uri="{FF2B5EF4-FFF2-40B4-BE49-F238E27FC236}">
                <a16:creationId xmlns:a16="http://schemas.microsoft.com/office/drawing/2014/main" id="{32D413BA-C68C-4088-A6FC-912F6B717691}"/>
              </a:ext>
            </a:extLst>
          </p:cNvPr>
          <p:cNvSpPr>
            <a:spLocks noGrp="1"/>
          </p:cNvSpPr>
          <p:nvPr/>
        </p:nvSpPr>
        <p:spPr>
          <a:xfrm>
            <a:off x="11334750" y="5334000"/>
            <a:ext cx="5715000" cy="571500"/>
          </a:xfrm>
          <a:prstGeom prst="rect">
            <a:avLst/>
          </a:prstGeom>
          <a:noFill/>
          <a:ln w="0">
            <a:noFill/>
          </a:ln>
        </p:spPr>
        <p:txBody>
          <a:bodyPr wrap="none" lIns="0" tIns="0" rIns="0" bIns="0" anchor="t">
            <a:noAutofit/>
          </a:bodyPr>
          <a:lstStyle>
            <a:defPPr algn="l">
              <a:defRPr sz="3000" b="0">
                <a:solidFill>
                  <a:srgbClr val="FFFFFF"/>
                </a:solidFill>
                <a:latin typeface="Open Sans"/>
                <a:ea typeface="Open Sans"/>
                <a:cs typeface="Open Sans"/>
              </a:defRPr>
            </a:defPPr>
            <a:lvl1pPr algn="l">
              <a:defRPr sz="3000" b="0">
                <a:solidFill>
                  <a:srgbClr val="FFFFFF"/>
                </a:solidFill>
                <a:latin typeface="Open Sans"/>
                <a:ea typeface="Open Sans"/>
                <a:cs typeface="Open Sans"/>
              </a:defRPr>
            </a:lvl1pPr>
            <a:lvl2pPr algn="l">
              <a:defRPr sz="3000" b="0">
                <a:solidFill>
                  <a:srgbClr val="FFFFFF"/>
                </a:solidFill>
                <a:latin typeface="Open Sans"/>
                <a:ea typeface="Open Sans"/>
                <a:cs typeface="Open Sans"/>
              </a:defRPr>
            </a:lvl2pPr>
            <a:lvl3pPr algn="l">
              <a:defRPr sz="3000" b="0">
                <a:solidFill>
                  <a:srgbClr val="FFFFFF"/>
                </a:solidFill>
                <a:latin typeface="Open Sans"/>
                <a:ea typeface="Open Sans"/>
                <a:cs typeface="Open Sans"/>
              </a:defRPr>
            </a:lvl3pPr>
            <a:lvl4pPr algn="l">
              <a:defRPr sz="3000" b="0">
                <a:solidFill>
                  <a:srgbClr val="FFFFFF"/>
                </a:solidFill>
                <a:latin typeface="Open Sans"/>
                <a:ea typeface="Open Sans"/>
                <a:cs typeface="Open Sans"/>
              </a:defRPr>
            </a:lvl4pPr>
            <a:lvl5pPr algn="l">
              <a:defRPr sz="3000" b="0">
                <a:solidFill>
                  <a:srgbClr val="FFFFFF"/>
                </a:solidFill>
                <a:latin typeface="Open Sans"/>
                <a:ea typeface="Open Sans"/>
                <a:cs typeface="Open Sans"/>
              </a:defRPr>
            </a:lvl5pPr>
            <a:lvl6pPr algn="l">
              <a:defRPr sz="3000" b="0">
                <a:solidFill>
                  <a:srgbClr val="FFFFFF"/>
                </a:solidFill>
                <a:latin typeface="Open Sans"/>
                <a:ea typeface="Open Sans"/>
                <a:cs typeface="Open Sans"/>
              </a:defRPr>
            </a:lvl6pPr>
            <a:lvl7pPr algn="l">
              <a:defRPr sz="3000" b="0">
                <a:solidFill>
                  <a:srgbClr val="FFFFFF"/>
                </a:solidFill>
                <a:latin typeface="Open Sans"/>
                <a:ea typeface="Open Sans"/>
                <a:cs typeface="Open Sans"/>
              </a:defRPr>
            </a:lvl7pPr>
            <a:lvl8pPr algn="l">
              <a:defRPr sz="3000" b="0">
                <a:solidFill>
                  <a:srgbClr val="FFFFFF"/>
                </a:solidFill>
                <a:latin typeface="Open Sans"/>
                <a:ea typeface="Open Sans"/>
                <a:cs typeface="Open Sans"/>
              </a:defRPr>
            </a:lvl8pPr>
            <a:lvl9pPr algn="l">
              <a:defRPr sz="3000" b="0">
                <a:solidFill>
                  <a:srgbClr val="FFFFFF"/>
                </a:solidFill>
                <a:latin typeface="Open Sans"/>
                <a:ea typeface="Open Sans"/>
                <a:cs typeface="Open Sans"/>
              </a:defRPr>
            </a:lvl9pPr>
          </a:lstStyle>
          <a:p>
            <a:pPr algn="l">
              <a:defRPr sz="3000" b="0">
                <a:solidFill>
                  <a:srgbClr val="FFFFFF"/>
                </a:solidFill>
                <a:latin typeface="Open Sans"/>
                <a:ea typeface="Open Sans"/>
                <a:cs typeface="Open Sans"/>
              </a:defRPr>
            </a:pPr>
            <a:r>
              <a:rPr sz="3000" b="0">
                <a:solidFill>
                  <a:srgbClr val="FFFFFF"/>
                </a:solidFill>
                <a:latin typeface="Open Sans"/>
                <a:ea typeface="Open Sans"/>
                <a:cs typeface="Open Sans"/>
              </a:rPr>
              <a:t>Play one run</a:t>
            </a:r>
          </a:p>
        </p:txBody>
      </p:sp>
      <p:pic>
        <p:nvPicPr>
          <p:cNvPr id="13" name="s21-investment image" descr="s21-investment image">
            <a:extLst>
              <a:ext uri="{FF2B5EF4-FFF2-40B4-BE49-F238E27FC236}">
                <a16:creationId xmlns:a16="http://schemas.microsoft.com/office/drawing/2014/main" id="{082131B7-3C6C-41DD-96A9-1D1BA4961F39}"/>
              </a:ext>
            </a:extLst>
          </p:cNvPr>
          <p:cNvPicPr>
            <a:picLocks noChangeAspect="1"/>
          </p:cNvPicPr>
          <p:nvPr/>
        </p:nvPicPr>
        <p:blipFill>
          <a:blip r:embed="rId9"/>
          <a:stretch/>
        </p:blipFill>
        <p:spPr>
          <a:xfrm>
            <a:off x="2333625" y="6477000"/>
            <a:ext cx="5810250" cy="2412291"/>
          </a:xfrm>
          <a:prstGeom prst="rect">
            <a:avLst/>
          </a:prstGeom>
        </p:spPr>
      </p:pic>
      <p:sp>
        <p:nvSpPr>
          <p:cNvPr id="14" name="s21-investment text 23">
            <a:extLst>
              <a:ext uri="{FF2B5EF4-FFF2-40B4-BE49-F238E27FC236}">
                <a16:creationId xmlns:a16="http://schemas.microsoft.com/office/drawing/2014/main" id="{FBEFF6D8-8BC6-4857-8A12-B3812C91D6AA}"/>
              </a:ext>
            </a:extLst>
          </p:cNvPr>
          <p:cNvSpPr>
            <a:spLocks noGrp="1"/>
          </p:cNvSpPr>
          <p:nvPr/>
        </p:nvSpPr>
        <p:spPr>
          <a:xfrm>
            <a:off x="2579973" y="8138966"/>
            <a:ext cx="1167376"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Dash</a:t>
            </a:r>
          </a:p>
        </p:txBody>
      </p:sp>
      <p:sp>
        <p:nvSpPr>
          <p:cNvPr id="15" name="s21-investment text 24">
            <a:extLst>
              <a:ext uri="{FF2B5EF4-FFF2-40B4-BE49-F238E27FC236}">
                <a16:creationId xmlns:a16="http://schemas.microsoft.com/office/drawing/2014/main" id="{F73940AA-D2FF-4D52-B2E3-0DF764E1D597}"/>
              </a:ext>
            </a:extLst>
          </p:cNvPr>
          <p:cNvSpPr>
            <a:spLocks noGrp="1"/>
          </p:cNvSpPr>
          <p:nvPr/>
        </p:nvSpPr>
        <p:spPr>
          <a:xfrm>
            <a:off x="5658263" y="7184425"/>
            <a:ext cx="1402070"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Frost</a:t>
            </a:r>
          </a:p>
        </p:txBody>
      </p:sp>
      <p:sp>
        <p:nvSpPr>
          <p:cNvPr id="16" name="s21-investment text 25">
            <a:extLst>
              <a:ext uri="{FF2B5EF4-FFF2-40B4-BE49-F238E27FC236}">
                <a16:creationId xmlns:a16="http://schemas.microsoft.com/office/drawing/2014/main" id="{7491D8DC-FC63-4042-8061-3FD0F3D164D2}"/>
              </a:ext>
            </a:extLst>
          </p:cNvPr>
          <p:cNvSpPr>
            <a:spLocks noGrp="1"/>
          </p:cNvSpPr>
          <p:nvPr/>
        </p:nvSpPr>
        <p:spPr>
          <a:xfrm>
            <a:off x="6744468" y="7184425"/>
            <a:ext cx="1636763"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Shield</a:t>
            </a:r>
          </a:p>
        </p:txBody>
      </p:sp>
      <p:sp>
        <p:nvSpPr>
          <p:cNvPr id="17" name="s21-investment text 26">
            <a:extLst>
              <a:ext uri="{FF2B5EF4-FFF2-40B4-BE49-F238E27FC236}">
                <a16:creationId xmlns:a16="http://schemas.microsoft.com/office/drawing/2014/main" id="{366B182D-A0FD-4213-99F7-7496580A4560}"/>
              </a:ext>
            </a:extLst>
          </p:cNvPr>
          <p:cNvSpPr>
            <a:spLocks noGrp="1"/>
          </p:cNvSpPr>
          <p:nvPr/>
        </p:nvSpPr>
        <p:spPr>
          <a:xfrm>
            <a:off x="6377386" y="8276440"/>
            <a:ext cx="1167376"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Save</a:t>
            </a:r>
          </a:p>
        </p:txBody>
      </p:sp>
      <p:pic>
        <p:nvPicPr>
          <p:cNvPr id="18" name="s21-variable-reward image" descr="s21-variable-reward image">
            <a:extLst>
              <a:ext uri="{FF2B5EF4-FFF2-40B4-BE49-F238E27FC236}">
                <a16:creationId xmlns:a16="http://schemas.microsoft.com/office/drawing/2014/main" id="{047B8E93-6A34-4A1B-83FF-38ACF43533DB}"/>
              </a:ext>
            </a:extLst>
          </p:cNvPr>
          <p:cNvPicPr>
            <a:picLocks noChangeAspect="1"/>
          </p:cNvPicPr>
          <p:nvPr/>
        </p:nvPicPr>
        <p:blipFill>
          <a:blip r:embed="rId10"/>
          <a:stretch/>
        </p:blipFill>
        <p:spPr>
          <a:xfrm>
            <a:off x="11334750" y="6477000"/>
            <a:ext cx="5524500" cy="2416969"/>
          </a:xfrm>
          <a:prstGeom prst="rect">
            <a:avLst/>
          </a:prstGeom>
        </p:spPr>
      </p:pic>
      <p:sp>
        <p:nvSpPr>
          <p:cNvPr id="19" name="Realized reward">
            <a:extLst>
              <a:ext uri="{FF2B5EF4-FFF2-40B4-BE49-F238E27FC236}">
                <a16:creationId xmlns:a16="http://schemas.microsoft.com/office/drawing/2014/main" id="{4DC40D96-CB9F-40E3-9BEF-286EBCF8AF58}"/>
              </a:ext>
            </a:extLst>
          </p:cNvPr>
          <p:cNvSpPr>
            <a:spLocks noGrp="1"/>
          </p:cNvSpPr>
          <p:nvPr/>
        </p:nvSpPr>
        <p:spPr>
          <a:xfrm>
            <a:off x="11572875" y="6429375"/>
            <a:ext cx="2286000" cy="523875"/>
          </a:xfrm>
          <a:prstGeom prst="rect">
            <a:avLst/>
          </a:prstGeom>
          <a:noFill/>
          <a:ln w="0">
            <a:noFill/>
          </a:ln>
        </p:spPr>
        <p:txBody>
          <a:bodyPr wrap="none" lIns="0" tIns="0" rIns="0" bIns="0" anchor="t">
            <a:noAutofit/>
          </a:bodyPr>
          <a:lstStyle>
            <a:defPPr algn="ctr">
              <a:defRPr sz="2800" b="1">
                <a:solidFill>
                  <a:srgbClr val="9AFFD2"/>
                </a:solidFill>
                <a:latin typeface="Open Sans"/>
                <a:ea typeface="Open Sans"/>
                <a:cs typeface="Open Sans"/>
              </a:defRPr>
            </a:defPPr>
            <a:lvl1pPr algn="ctr">
              <a:defRPr sz="2800" b="1">
                <a:solidFill>
                  <a:srgbClr val="9AFFD2"/>
                </a:solidFill>
                <a:latin typeface="Open Sans"/>
                <a:ea typeface="Open Sans"/>
                <a:cs typeface="Open Sans"/>
              </a:defRPr>
            </a:lvl1pPr>
            <a:lvl2pPr algn="ctr">
              <a:defRPr sz="2800" b="1">
                <a:solidFill>
                  <a:srgbClr val="9AFFD2"/>
                </a:solidFill>
                <a:latin typeface="Open Sans"/>
                <a:ea typeface="Open Sans"/>
                <a:cs typeface="Open Sans"/>
              </a:defRPr>
            </a:lvl2pPr>
            <a:lvl3pPr algn="ctr">
              <a:defRPr sz="2800" b="1">
                <a:solidFill>
                  <a:srgbClr val="9AFFD2"/>
                </a:solidFill>
                <a:latin typeface="Open Sans"/>
                <a:ea typeface="Open Sans"/>
                <a:cs typeface="Open Sans"/>
              </a:defRPr>
            </a:lvl3pPr>
            <a:lvl4pPr algn="ctr">
              <a:defRPr sz="2800" b="1">
                <a:solidFill>
                  <a:srgbClr val="9AFFD2"/>
                </a:solidFill>
                <a:latin typeface="Open Sans"/>
                <a:ea typeface="Open Sans"/>
                <a:cs typeface="Open Sans"/>
              </a:defRPr>
            </a:lvl4pPr>
            <a:lvl5pPr algn="ctr">
              <a:defRPr sz="2800" b="1">
                <a:solidFill>
                  <a:srgbClr val="9AFFD2"/>
                </a:solidFill>
                <a:latin typeface="Open Sans"/>
                <a:ea typeface="Open Sans"/>
                <a:cs typeface="Open Sans"/>
              </a:defRPr>
            </a:lvl5pPr>
            <a:lvl6pPr algn="ctr">
              <a:defRPr sz="2800" b="1">
                <a:solidFill>
                  <a:srgbClr val="9AFFD2"/>
                </a:solidFill>
                <a:latin typeface="Open Sans"/>
                <a:ea typeface="Open Sans"/>
                <a:cs typeface="Open Sans"/>
              </a:defRPr>
            </a:lvl6pPr>
            <a:lvl7pPr algn="ctr">
              <a:defRPr sz="2800" b="1">
                <a:solidFill>
                  <a:srgbClr val="9AFFD2"/>
                </a:solidFill>
                <a:latin typeface="Open Sans"/>
                <a:ea typeface="Open Sans"/>
                <a:cs typeface="Open Sans"/>
              </a:defRPr>
            </a:lvl7pPr>
            <a:lvl8pPr algn="ctr">
              <a:defRPr sz="2800" b="1">
                <a:solidFill>
                  <a:srgbClr val="9AFFD2"/>
                </a:solidFill>
                <a:latin typeface="Open Sans"/>
                <a:ea typeface="Open Sans"/>
                <a:cs typeface="Open Sans"/>
              </a:defRPr>
            </a:lvl8pPr>
            <a:lvl9pPr algn="ctr">
              <a:defRPr sz="2800" b="1">
                <a:solidFill>
                  <a:srgbClr val="9AFFD2"/>
                </a:solidFill>
                <a:latin typeface="Open Sans"/>
                <a:ea typeface="Open Sans"/>
                <a:cs typeface="Open Sans"/>
              </a:defRPr>
            </a:lvl9pPr>
          </a:lstStyle>
          <a:p>
            <a:pPr algn="ctr">
              <a:defRPr sz="2800" b="1">
                <a:solidFill>
                  <a:srgbClr val="9AFFD2"/>
                </a:solidFill>
                <a:latin typeface="Open Sans"/>
                <a:ea typeface="Open Sans"/>
                <a:cs typeface="Open Sans"/>
              </a:defRPr>
            </a:pPr>
            <a:r>
              <a:rPr sz="2800" b="1">
                <a:solidFill>
                  <a:srgbClr val="9AFFD2"/>
                </a:solidFill>
                <a:latin typeface="Open Sans"/>
                <a:ea typeface="Open Sans"/>
                <a:cs typeface="Open Sans"/>
              </a:rPr>
              <a:t>Found</a:t>
            </a:r>
          </a:p>
        </p:txBody>
      </p:sp>
      <p:sp>
        <p:nvSpPr>
          <p:cNvPr id="20" name="Possible reward">
            <a:extLst>
              <a:ext uri="{FF2B5EF4-FFF2-40B4-BE49-F238E27FC236}">
                <a16:creationId xmlns:a16="http://schemas.microsoft.com/office/drawing/2014/main" id="{68AD4E28-214F-4823-B470-973892CB61A2}"/>
              </a:ext>
            </a:extLst>
          </p:cNvPr>
          <p:cNvSpPr>
            <a:spLocks noGrp="1"/>
          </p:cNvSpPr>
          <p:nvPr/>
        </p:nvSpPr>
        <p:spPr>
          <a:xfrm>
            <a:off x="14573250" y="6429375"/>
            <a:ext cx="2286000" cy="52387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Possible</a:t>
            </a:r>
          </a:p>
        </p:txBody>
      </p:sp>
      <p:sp>
        <p:nvSpPr>
          <p:cNvPr id="21" name="Trigger to action">
            <a:extLst>
              <a:ext uri="{FF2B5EF4-FFF2-40B4-BE49-F238E27FC236}">
                <a16:creationId xmlns:a16="http://schemas.microsoft.com/office/drawing/2014/main" id="{D00169B2-386D-4D2C-B233-8773E7B96AFE}"/>
              </a:ext>
            </a:extLst>
          </p:cNvPr>
          <p:cNvSpPr>
            <a:spLocks noGrp="1"/>
          </p:cNvSpPr>
          <p:nvPr/>
        </p:nvSpPr>
        <p:spPr>
          <a:xfrm>
            <a:off x="8048625" y="4286250"/>
            <a:ext cx="2857500" cy="285750"/>
          </a:xfrm>
          <a:custGeom>
            <a:avLst/>
            <a:gdLst/>
            <a:ahLst/>
            <a:cxnLst/>
            <a:rect l="0" t="0" r="0" b="0"/>
            <a:pathLst>
              <a:path w="2857500" h="285750">
                <a:moveTo>
                  <a:pt x="142875" y="142875"/>
                </a:moveTo>
                <a:lnTo>
                  <a:pt x="2714625" y="142875"/>
                </a:lnTo>
                <a:moveTo>
                  <a:pt x="2571750" y="221456"/>
                </a:moveTo>
                <a:lnTo>
                  <a:pt x="2714625" y="142875"/>
                </a:lnTo>
                <a:lnTo>
                  <a:pt x="2571750" y="64294"/>
                </a:lnTo>
              </a:path>
            </a:pathLst>
          </a:custGeom>
          <a:noFill/>
          <a:ln w="38100">
            <a:solidFill>
              <a:srgbClr val="FFFFFF"/>
            </a:solidFill>
          </a:ln>
        </p:spPr>
      </p:sp>
      <p:sp>
        <p:nvSpPr>
          <p:cNvPr id="22" name="Action to reward">
            <a:extLst>
              <a:ext uri="{FF2B5EF4-FFF2-40B4-BE49-F238E27FC236}">
                <a16:creationId xmlns:a16="http://schemas.microsoft.com/office/drawing/2014/main" id="{11C89CB4-BB1B-4A12-9860-C03ABC0F770B}"/>
              </a:ext>
            </a:extLst>
          </p:cNvPr>
          <p:cNvSpPr>
            <a:spLocks noGrp="1"/>
          </p:cNvSpPr>
          <p:nvPr/>
        </p:nvSpPr>
        <p:spPr>
          <a:xfrm>
            <a:off x="17192625" y="4667250"/>
            <a:ext cx="285750" cy="1952625"/>
          </a:xfrm>
          <a:custGeom>
            <a:avLst/>
            <a:gdLst/>
            <a:ahLst/>
            <a:cxnLst/>
            <a:rect l="0" t="0" r="0" b="0"/>
            <a:pathLst>
              <a:path w="285750" h="1952625">
                <a:moveTo>
                  <a:pt x="142875" y="142875"/>
                </a:moveTo>
                <a:lnTo>
                  <a:pt x="142875" y="1809750"/>
                </a:lnTo>
                <a:moveTo>
                  <a:pt x="64294" y="1666875"/>
                </a:moveTo>
                <a:lnTo>
                  <a:pt x="142875" y="1809750"/>
                </a:lnTo>
                <a:lnTo>
                  <a:pt x="221456" y="1666875"/>
                </a:lnTo>
              </a:path>
            </a:pathLst>
          </a:custGeom>
          <a:noFill/>
          <a:ln w="38100">
            <a:solidFill>
              <a:srgbClr val="FFFFFF"/>
            </a:solidFill>
          </a:ln>
        </p:spPr>
      </p:sp>
      <p:sp>
        <p:nvSpPr>
          <p:cNvPr id="23" name="Reward to investment">
            <a:extLst>
              <a:ext uri="{FF2B5EF4-FFF2-40B4-BE49-F238E27FC236}">
                <a16:creationId xmlns:a16="http://schemas.microsoft.com/office/drawing/2014/main" id="{EAFA40C8-9D44-4A9F-9414-148DA8FB63CA}"/>
              </a:ext>
            </a:extLst>
          </p:cNvPr>
          <p:cNvSpPr>
            <a:spLocks noGrp="1"/>
          </p:cNvSpPr>
          <p:nvPr/>
        </p:nvSpPr>
        <p:spPr>
          <a:xfrm>
            <a:off x="8620125" y="7524750"/>
            <a:ext cx="2286000" cy="285750"/>
          </a:xfrm>
          <a:custGeom>
            <a:avLst/>
            <a:gdLst/>
            <a:ahLst/>
            <a:cxnLst/>
            <a:rect l="0" t="0" r="0" b="0"/>
            <a:pathLst>
              <a:path w="2286000" h="285750">
                <a:moveTo>
                  <a:pt x="2143125" y="142875"/>
                </a:moveTo>
                <a:lnTo>
                  <a:pt x="142875" y="142875"/>
                </a:lnTo>
                <a:moveTo>
                  <a:pt x="285750" y="64294"/>
                </a:moveTo>
                <a:lnTo>
                  <a:pt x="142875" y="142875"/>
                </a:lnTo>
                <a:lnTo>
                  <a:pt x="285750" y="221456"/>
                </a:lnTo>
              </a:path>
            </a:pathLst>
          </a:custGeom>
          <a:noFill/>
          <a:ln w="38100">
            <a:solidFill>
              <a:srgbClr val="FFFFFF"/>
            </a:solidFill>
          </a:ln>
        </p:spPr>
      </p:sp>
      <p:sp>
        <p:nvSpPr>
          <p:cNvPr id="24" name="Investment to next trigger">
            <a:extLst>
              <a:ext uri="{FF2B5EF4-FFF2-40B4-BE49-F238E27FC236}">
                <a16:creationId xmlns:a16="http://schemas.microsoft.com/office/drawing/2014/main" id="{B135FBE2-5DE3-46C5-833C-9813C51B685A}"/>
              </a:ext>
            </a:extLst>
          </p:cNvPr>
          <p:cNvSpPr>
            <a:spLocks noGrp="1"/>
          </p:cNvSpPr>
          <p:nvPr/>
        </p:nvSpPr>
        <p:spPr>
          <a:xfrm>
            <a:off x="1095375" y="4143375"/>
            <a:ext cx="285750" cy="3762375"/>
          </a:xfrm>
          <a:custGeom>
            <a:avLst/>
            <a:gdLst/>
            <a:ahLst/>
            <a:cxnLst/>
            <a:rect l="0" t="0" r="0" b="0"/>
            <a:pathLst>
              <a:path w="285750" h="3762375">
                <a:moveTo>
                  <a:pt x="142875" y="3619500"/>
                </a:moveTo>
                <a:lnTo>
                  <a:pt x="142875" y="142875"/>
                </a:lnTo>
                <a:moveTo>
                  <a:pt x="221456" y="285750"/>
                </a:moveTo>
                <a:lnTo>
                  <a:pt x="142875" y="142875"/>
                </a:lnTo>
                <a:lnTo>
                  <a:pt x="64294" y="285750"/>
                </a:lnTo>
              </a:path>
            </a:pathLst>
          </a:custGeom>
          <a:noFill/>
          <a:ln w="38100">
            <a:solidFill>
              <a:srgbClr val="FFFFFF"/>
            </a:solidFill>
          </a:ln>
        </p:spPr>
      </p:sp>
      <p:sp>
        <p:nvSpPr>
          <p:cNvPr id="25" name="Session divider">
            <a:extLst>
              <a:ext uri="{FF2B5EF4-FFF2-40B4-BE49-F238E27FC236}">
                <a16:creationId xmlns:a16="http://schemas.microsoft.com/office/drawing/2014/main" id="{44F9A647-635D-44EF-A27A-89FC96B8A99F}"/>
              </a:ext>
            </a:extLst>
          </p:cNvPr>
          <p:cNvSpPr>
            <a:spLocks noGrp="1"/>
          </p:cNvSpPr>
          <p:nvPr/>
        </p:nvSpPr>
        <p:spPr>
          <a:xfrm>
            <a:off x="809625" y="5934075"/>
            <a:ext cx="1095375" cy="19050"/>
          </a:xfrm>
          <a:prstGeom prst="rect">
            <a:avLst/>
          </a:prstGeom>
          <a:solidFill>
            <a:srgbClr val="9AFFD2"/>
          </a:solidFill>
          <a:ln w="0">
            <a:solidFill>
              <a:srgbClr val="9AFFD2"/>
            </a:solidFill>
          </a:ln>
        </p:spPr>
      </p:sp>
      <p:sp>
        <p:nvSpPr>
          <p:cNvPr id="26" name="Later session">
            <a:extLst>
              <a:ext uri="{FF2B5EF4-FFF2-40B4-BE49-F238E27FC236}">
                <a16:creationId xmlns:a16="http://schemas.microsoft.com/office/drawing/2014/main" id="{C41E2FA5-0FC8-4F85-A2C3-0386FE51EB74}"/>
              </a:ext>
            </a:extLst>
          </p:cNvPr>
          <p:cNvSpPr>
            <a:spLocks noGrp="1"/>
          </p:cNvSpPr>
          <p:nvPr/>
        </p:nvSpPr>
        <p:spPr>
          <a:xfrm>
            <a:off x="762000" y="6191250"/>
            <a:ext cx="1428750" cy="1238250"/>
          </a:xfrm>
          <a:prstGeom prst="rect">
            <a:avLst/>
          </a:prstGeom>
          <a:noFill/>
          <a:ln w="0">
            <a:noFill/>
          </a:ln>
        </p:spPr>
        <p:txBody>
          <a:bodyPr wrap="none" lIns="0" tIns="0" rIns="0" bIns="0" anchor="t">
            <a:noAutofit/>
          </a:bodyPr>
          <a:lstStyle>
            <a:defPPr algn="l">
              <a:defRPr sz="2800" b="1">
                <a:solidFill>
                  <a:srgbClr val="9AFFD2"/>
                </a:solidFill>
                <a:latin typeface="Open Sans"/>
                <a:ea typeface="Open Sans"/>
                <a:cs typeface="Open Sans"/>
              </a:defRPr>
            </a:defPPr>
            <a:lvl1pPr algn="l">
              <a:defRPr sz="2800" b="1">
                <a:solidFill>
                  <a:srgbClr val="9AFFD2"/>
                </a:solidFill>
                <a:latin typeface="Open Sans"/>
                <a:ea typeface="Open Sans"/>
                <a:cs typeface="Open Sans"/>
              </a:defRPr>
            </a:lvl1pPr>
            <a:lvl2pPr algn="l">
              <a:defRPr sz="2800" b="1">
                <a:solidFill>
                  <a:srgbClr val="9AFFD2"/>
                </a:solidFill>
                <a:latin typeface="Open Sans"/>
                <a:ea typeface="Open Sans"/>
                <a:cs typeface="Open Sans"/>
              </a:defRPr>
            </a:lvl2pPr>
            <a:lvl3pPr algn="l">
              <a:defRPr sz="2800" b="1">
                <a:solidFill>
                  <a:srgbClr val="9AFFD2"/>
                </a:solidFill>
                <a:latin typeface="Open Sans"/>
                <a:ea typeface="Open Sans"/>
                <a:cs typeface="Open Sans"/>
              </a:defRPr>
            </a:lvl3pPr>
            <a:lvl4pPr algn="l">
              <a:defRPr sz="2800" b="1">
                <a:solidFill>
                  <a:srgbClr val="9AFFD2"/>
                </a:solidFill>
                <a:latin typeface="Open Sans"/>
                <a:ea typeface="Open Sans"/>
                <a:cs typeface="Open Sans"/>
              </a:defRPr>
            </a:lvl4pPr>
            <a:lvl5pPr algn="l">
              <a:defRPr sz="2800" b="1">
                <a:solidFill>
                  <a:srgbClr val="9AFFD2"/>
                </a:solidFill>
                <a:latin typeface="Open Sans"/>
                <a:ea typeface="Open Sans"/>
                <a:cs typeface="Open Sans"/>
              </a:defRPr>
            </a:lvl5pPr>
            <a:lvl6pPr algn="l">
              <a:defRPr sz="2800" b="1">
                <a:solidFill>
                  <a:srgbClr val="9AFFD2"/>
                </a:solidFill>
                <a:latin typeface="Open Sans"/>
                <a:ea typeface="Open Sans"/>
                <a:cs typeface="Open Sans"/>
              </a:defRPr>
            </a:lvl6pPr>
            <a:lvl7pPr algn="l">
              <a:defRPr sz="2800" b="1">
                <a:solidFill>
                  <a:srgbClr val="9AFFD2"/>
                </a:solidFill>
                <a:latin typeface="Open Sans"/>
                <a:ea typeface="Open Sans"/>
                <a:cs typeface="Open Sans"/>
              </a:defRPr>
            </a:lvl7pPr>
            <a:lvl8pPr algn="l">
              <a:defRPr sz="2800" b="1">
                <a:solidFill>
                  <a:srgbClr val="9AFFD2"/>
                </a:solidFill>
                <a:latin typeface="Open Sans"/>
                <a:ea typeface="Open Sans"/>
                <a:cs typeface="Open Sans"/>
              </a:defRPr>
            </a:lvl8pPr>
            <a:lvl9pPr algn="l">
              <a:defRPr sz="2800" b="1">
                <a:solidFill>
                  <a:srgbClr val="9AFFD2"/>
                </a:solidFill>
                <a:latin typeface="Open Sans"/>
                <a:ea typeface="Open Sans"/>
                <a:cs typeface="Open Sans"/>
              </a:defRPr>
            </a:lvl9pPr>
          </a:lstStyle>
          <a:p>
            <a:pPr algn="l">
              <a:defRPr sz="2800" b="1">
                <a:solidFill>
                  <a:srgbClr val="9AFFD2"/>
                </a:solidFill>
                <a:latin typeface="Open Sans"/>
                <a:ea typeface="Open Sans"/>
                <a:cs typeface="Open Sans"/>
              </a:defRPr>
            </a:pPr>
            <a:r>
              <a:rPr sz="2800" b="1">
                <a:solidFill>
                  <a:srgbClr val="9AFFD2"/>
                </a:solidFill>
                <a:latin typeface="Open Sans"/>
                <a:ea typeface="Open Sans"/>
                <a:cs typeface="Open Sans"/>
              </a:rPr>
              <a:t>Later</a:t>
            </a:r>
          </a:p>
          <a:p>
            <a:pPr algn="l">
              <a:defRPr sz="2800" b="1">
                <a:solidFill>
                  <a:srgbClr val="9AFFD2"/>
                </a:solidFill>
                <a:latin typeface="Open Sans"/>
                <a:ea typeface="Open Sans"/>
                <a:cs typeface="Open Sans"/>
              </a:defRPr>
            </a:pPr>
            <a:r>
              <a:rPr sz="2800" b="1">
                <a:solidFill>
                  <a:srgbClr val="9AFFD2"/>
                </a:solidFill>
                <a:latin typeface="Open Sans"/>
                <a:ea typeface="Open Sans"/>
                <a:cs typeface="Open Sans"/>
              </a:rPr>
              <a:t>session</a:t>
            </a:r>
          </a:p>
        </p:txBody>
      </p:sp>
    </p:spTree>
    <p:extLst>
      <p:ext uri="{BB962C8B-B14F-4D97-AF65-F5344CB8AC3E}">
        <p14:creationId xmlns:p14="http://schemas.microsoft.com/office/powerpoint/2010/main" val="1625943014"/>
      </p:ext>
    </p:extLst>
  </p:cSld>
  <p:clrMapOvr>
    <a:masterClrMapping/>
  </p:clrMapOvr>
</p:sld>
</file>

<file path=ppt/slides/book_slide8.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14" name="Template clouds 14"/>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13" name="Template clouds 13"/>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2" name="Template grass 12"/>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1" name="Template grass 11"/>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0" name="Template grass 10"/>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9" name="Slide title">
            <a:extLst>
              <a:ext uri="{FF2B5EF4-FFF2-40B4-BE49-F238E27FC236}">
                <a16:creationId xmlns:a16="http://schemas.microsoft.com/office/drawing/2014/main" id="{D69FB178-E049-4DFD-B6EA-EFBAE4183876}"/>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WHAT FEELS REWARDING?</a:t>
            </a:r>
          </a:p>
        </p:txBody>
      </p:sp>
      <p:sp>
        <p:nvSpPr>
          <p:cNvPr id="2" name="Source credit">
            <a:extLst>
              <a:ext uri="{FF2B5EF4-FFF2-40B4-BE49-F238E27FC236}">
                <a16:creationId xmlns:a16="http://schemas.microsoft.com/office/drawing/2014/main" id="{4A3075FD-C135-4BAD-9A02-76A5F366DE54}"/>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1">
                <a:solidFill>
                  <a:srgbClr val="9AFFD2"/>
                </a:solidFill>
                <a:latin typeface="Open Sans"/>
                <a:ea typeface="Open Sans"/>
                <a:cs typeface="Open Sans"/>
              </a:rPr>
              <a:t>Book: </a:t>
            </a:r>
            <a:r>
              <a:rPr sz="2000" b="0">
                <a:solidFill>
                  <a:srgbClr val="FFFFFF"/>
                </a:solidFill>
                <a:latin typeface="Open Sans"/>
                <a:ea typeface="Open Sans"/>
                <a:cs typeface="Open Sans"/>
              </a:rPr>
              <a:t>Hooked / Eyal with Hoover     ·     Hazelight / EA; Isometricorp / Finji; Maddy Makes Games</a:t>
            </a:r>
          </a:p>
        </p:txBody>
      </p:sp>
      <p:pic>
        <p:nvPicPr>
          <p:cNvPr id="3" name="Connection gameplay" descr="Connection gameplay">
            <a:extLst>
              <a:ext uri="{FF2B5EF4-FFF2-40B4-BE49-F238E27FC236}">
                <a16:creationId xmlns:a16="http://schemas.microsoft.com/office/drawing/2014/main" id="{BF3FE966-B6DB-4018-A9D5-B4D4D548033E}"/>
              </a:ext>
            </a:extLst>
          </p:cNvPr>
          <p:cNvPicPr>
            <a:picLocks noChangeAspect="1"/>
          </p:cNvPicPr>
          <p:nvPr/>
        </p:nvPicPr>
        <p:blipFill>
          <a:blip r:embed="rId5"/>
          <a:stretch/>
        </p:blipFill>
        <p:spPr>
          <a:xfrm>
            <a:off x="762000" y="3573661"/>
            <a:ext cx="5429250" cy="3053953"/>
          </a:xfrm>
          <a:prstGeom prst="rect">
            <a:avLst/>
          </a:prstGeom>
        </p:spPr>
      </p:pic>
      <p:sp>
        <p:nvSpPr>
          <p:cNvPr id="4" name="Connection caption">
            <a:extLst>
              <a:ext uri="{FF2B5EF4-FFF2-40B4-BE49-F238E27FC236}">
                <a16:creationId xmlns:a16="http://schemas.microsoft.com/office/drawing/2014/main" id="{DEED8D28-640E-4F1F-8DFC-FE37E24AC8FC}"/>
              </a:ext>
            </a:extLst>
          </p:cNvPr>
          <p:cNvSpPr>
            <a:spLocks noGrp="1"/>
          </p:cNvSpPr>
          <p:nvPr/>
        </p:nvSpPr>
        <p:spPr>
          <a:xfrm>
            <a:off x="762000" y="7096125"/>
            <a:ext cx="5429250" cy="666750"/>
          </a:xfrm>
          <a:prstGeom prst="rect">
            <a:avLst/>
          </a:prstGeom>
          <a:noFill/>
          <a:ln w="0">
            <a:noFill/>
          </a:ln>
        </p:spPr>
        <p:txBody>
          <a:bodyPr wrap="none" lIns="0" tIns="0" rIns="0" bIns="0" anchor="t">
            <a:noAutofit/>
          </a:bodyPr>
          <a:lstStyle>
            <a:defPPr algn="ctr">
              <a:defRPr sz="3600" b="1">
                <a:solidFill>
                  <a:srgbClr val="9AFFD2"/>
                </a:solidFill>
                <a:latin typeface="Open Sans"/>
                <a:ea typeface="Open Sans"/>
                <a:cs typeface="Open Sans"/>
              </a:defRPr>
            </a:defPPr>
            <a:lvl1pPr algn="ctr">
              <a:defRPr sz="3600" b="1">
                <a:solidFill>
                  <a:srgbClr val="9AFFD2"/>
                </a:solidFill>
                <a:latin typeface="Open Sans"/>
                <a:ea typeface="Open Sans"/>
                <a:cs typeface="Open Sans"/>
              </a:defRPr>
            </a:lvl1pPr>
            <a:lvl2pPr algn="ctr">
              <a:defRPr sz="3600" b="1">
                <a:solidFill>
                  <a:srgbClr val="9AFFD2"/>
                </a:solidFill>
                <a:latin typeface="Open Sans"/>
                <a:ea typeface="Open Sans"/>
                <a:cs typeface="Open Sans"/>
              </a:defRPr>
            </a:lvl2pPr>
            <a:lvl3pPr algn="ctr">
              <a:defRPr sz="3600" b="1">
                <a:solidFill>
                  <a:srgbClr val="9AFFD2"/>
                </a:solidFill>
                <a:latin typeface="Open Sans"/>
                <a:ea typeface="Open Sans"/>
                <a:cs typeface="Open Sans"/>
              </a:defRPr>
            </a:lvl3pPr>
            <a:lvl4pPr algn="ctr">
              <a:defRPr sz="3600" b="1">
                <a:solidFill>
                  <a:srgbClr val="9AFFD2"/>
                </a:solidFill>
                <a:latin typeface="Open Sans"/>
                <a:ea typeface="Open Sans"/>
                <a:cs typeface="Open Sans"/>
              </a:defRPr>
            </a:lvl4pPr>
            <a:lvl5pPr algn="ctr">
              <a:defRPr sz="3600" b="1">
                <a:solidFill>
                  <a:srgbClr val="9AFFD2"/>
                </a:solidFill>
                <a:latin typeface="Open Sans"/>
                <a:ea typeface="Open Sans"/>
                <a:cs typeface="Open Sans"/>
              </a:defRPr>
            </a:lvl5pPr>
            <a:lvl6pPr algn="ctr">
              <a:defRPr sz="3600" b="1">
                <a:solidFill>
                  <a:srgbClr val="9AFFD2"/>
                </a:solidFill>
                <a:latin typeface="Open Sans"/>
                <a:ea typeface="Open Sans"/>
                <a:cs typeface="Open Sans"/>
              </a:defRPr>
            </a:lvl6pPr>
            <a:lvl7pPr algn="ctr">
              <a:defRPr sz="3600" b="1">
                <a:solidFill>
                  <a:srgbClr val="9AFFD2"/>
                </a:solidFill>
                <a:latin typeface="Open Sans"/>
                <a:ea typeface="Open Sans"/>
                <a:cs typeface="Open Sans"/>
              </a:defRPr>
            </a:lvl7pPr>
            <a:lvl8pPr algn="ctr">
              <a:defRPr sz="3600" b="1">
                <a:solidFill>
                  <a:srgbClr val="9AFFD2"/>
                </a:solidFill>
                <a:latin typeface="Open Sans"/>
                <a:ea typeface="Open Sans"/>
                <a:cs typeface="Open Sans"/>
              </a:defRPr>
            </a:lvl8pPr>
            <a:lvl9pPr algn="ctr">
              <a:defRPr sz="3600" b="1">
                <a:solidFill>
                  <a:srgbClr val="9AFFD2"/>
                </a:solidFill>
                <a:latin typeface="Open Sans"/>
                <a:ea typeface="Open Sans"/>
                <a:cs typeface="Open Sans"/>
              </a:defRPr>
            </a:lvl9pPr>
          </a:lstStyle>
          <a:p>
            <a:pPr algn="ctr">
              <a:defRPr sz="3600" b="1">
                <a:solidFill>
                  <a:srgbClr val="9AFFD2"/>
                </a:solidFill>
                <a:latin typeface="Open Sans"/>
                <a:ea typeface="Open Sans"/>
                <a:cs typeface="Open Sans"/>
              </a:defRPr>
            </a:pPr>
            <a:r>
              <a:rPr sz="3600" b="1">
                <a:solidFill>
                  <a:srgbClr val="9AFFD2"/>
                </a:solidFill>
                <a:latin typeface="Open Sans"/>
                <a:ea typeface="Open Sans"/>
                <a:cs typeface="Open Sans"/>
              </a:rPr>
              <a:t>Connection</a:t>
            </a:r>
          </a:p>
        </p:txBody>
      </p:sp>
      <p:pic>
        <p:nvPicPr>
          <p:cNvPr id="5" name="Discovery gameplay" descr="Discovery gameplay">
            <a:extLst>
              <a:ext uri="{FF2B5EF4-FFF2-40B4-BE49-F238E27FC236}">
                <a16:creationId xmlns:a16="http://schemas.microsoft.com/office/drawing/2014/main" id="{15A894E7-E240-41F1-B271-F55FE1764803}"/>
              </a:ext>
            </a:extLst>
          </p:cNvPr>
          <p:cNvPicPr>
            <a:picLocks noChangeAspect="1"/>
          </p:cNvPicPr>
          <p:nvPr/>
        </p:nvPicPr>
        <p:blipFill>
          <a:blip r:embed="rId6"/>
          <a:stretch/>
        </p:blipFill>
        <p:spPr>
          <a:xfrm>
            <a:off x="6429375" y="3573661"/>
            <a:ext cx="5429250" cy="3053953"/>
          </a:xfrm>
          <a:prstGeom prst="rect">
            <a:avLst/>
          </a:prstGeom>
        </p:spPr>
      </p:pic>
      <p:sp>
        <p:nvSpPr>
          <p:cNvPr id="6" name="Discovery caption">
            <a:extLst>
              <a:ext uri="{FF2B5EF4-FFF2-40B4-BE49-F238E27FC236}">
                <a16:creationId xmlns:a16="http://schemas.microsoft.com/office/drawing/2014/main" id="{061F264C-3DEC-4CEE-B43E-D449A7BDA6F9}"/>
              </a:ext>
            </a:extLst>
          </p:cNvPr>
          <p:cNvSpPr>
            <a:spLocks noGrp="1"/>
          </p:cNvSpPr>
          <p:nvPr/>
        </p:nvSpPr>
        <p:spPr>
          <a:xfrm>
            <a:off x="6429375" y="7096125"/>
            <a:ext cx="5429250" cy="666750"/>
          </a:xfrm>
          <a:prstGeom prst="rect">
            <a:avLst/>
          </a:prstGeom>
          <a:noFill/>
          <a:ln w="0">
            <a:noFill/>
          </a:ln>
        </p:spPr>
        <p:txBody>
          <a:bodyPr wrap="none" lIns="0" tIns="0" rIns="0" bIns="0" anchor="t">
            <a:noAutofit/>
          </a:bodyPr>
          <a:lstStyle>
            <a:defPPr algn="ctr">
              <a:defRPr sz="3600" b="1">
                <a:solidFill>
                  <a:srgbClr val="9AFFD2"/>
                </a:solidFill>
                <a:latin typeface="Open Sans"/>
                <a:ea typeface="Open Sans"/>
                <a:cs typeface="Open Sans"/>
              </a:defRPr>
            </a:defPPr>
            <a:lvl1pPr algn="ctr">
              <a:defRPr sz="3600" b="1">
                <a:solidFill>
                  <a:srgbClr val="9AFFD2"/>
                </a:solidFill>
                <a:latin typeface="Open Sans"/>
                <a:ea typeface="Open Sans"/>
                <a:cs typeface="Open Sans"/>
              </a:defRPr>
            </a:lvl1pPr>
            <a:lvl2pPr algn="ctr">
              <a:defRPr sz="3600" b="1">
                <a:solidFill>
                  <a:srgbClr val="9AFFD2"/>
                </a:solidFill>
                <a:latin typeface="Open Sans"/>
                <a:ea typeface="Open Sans"/>
                <a:cs typeface="Open Sans"/>
              </a:defRPr>
            </a:lvl2pPr>
            <a:lvl3pPr algn="ctr">
              <a:defRPr sz="3600" b="1">
                <a:solidFill>
                  <a:srgbClr val="9AFFD2"/>
                </a:solidFill>
                <a:latin typeface="Open Sans"/>
                <a:ea typeface="Open Sans"/>
                <a:cs typeface="Open Sans"/>
              </a:defRPr>
            </a:lvl3pPr>
            <a:lvl4pPr algn="ctr">
              <a:defRPr sz="3600" b="1">
                <a:solidFill>
                  <a:srgbClr val="9AFFD2"/>
                </a:solidFill>
                <a:latin typeface="Open Sans"/>
                <a:ea typeface="Open Sans"/>
                <a:cs typeface="Open Sans"/>
              </a:defRPr>
            </a:lvl4pPr>
            <a:lvl5pPr algn="ctr">
              <a:defRPr sz="3600" b="1">
                <a:solidFill>
                  <a:srgbClr val="9AFFD2"/>
                </a:solidFill>
                <a:latin typeface="Open Sans"/>
                <a:ea typeface="Open Sans"/>
                <a:cs typeface="Open Sans"/>
              </a:defRPr>
            </a:lvl5pPr>
            <a:lvl6pPr algn="ctr">
              <a:defRPr sz="3600" b="1">
                <a:solidFill>
                  <a:srgbClr val="9AFFD2"/>
                </a:solidFill>
                <a:latin typeface="Open Sans"/>
                <a:ea typeface="Open Sans"/>
                <a:cs typeface="Open Sans"/>
              </a:defRPr>
            </a:lvl6pPr>
            <a:lvl7pPr algn="ctr">
              <a:defRPr sz="3600" b="1">
                <a:solidFill>
                  <a:srgbClr val="9AFFD2"/>
                </a:solidFill>
                <a:latin typeface="Open Sans"/>
                <a:ea typeface="Open Sans"/>
                <a:cs typeface="Open Sans"/>
              </a:defRPr>
            </a:lvl7pPr>
            <a:lvl8pPr algn="ctr">
              <a:defRPr sz="3600" b="1">
                <a:solidFill>
                  <a:srgbClr val="9AFFD2"/>
                </a:solidFill>
                <a:latin typeface="Open Sans"/>
                <a:ea typeface="Open Sans"/>
                <a:cs typeface="Open Sans"/>
              </a:defRPr>
            </a:lvl8pPr>
            <a:lvl9pPr algn="ctr">
              <a:defRPr sz="3600" b="1">
                <a:solidFill>
                  <a:srgbClr val="9AFFD2"/>
                </a:solidFill>
                <a:latin typeface="Open Sans"/>
                <a:ea typeface="Open Sans"/>
                <a:cs typeface="Open Sans"/>
              </a:defRPr>
            </a:lvl9pPr>
          </a:lstStyle>
          <a:p>
            <a:pPr algn="ctr">
              <a:defRPr sz="3600" b="1">
                <a:solidFill>
                  <a:srgbClr val="9AFFD2"/>
                </a:solidFill>
                <a:latin typeface="Open Sans"/>
                <a:ea typeface="Open Sans"/>
                <a:cs typeface="Open Sans"/>
              </a:defRPr>
            </a:pPr>
            <a:r>
              <a:rPr sz="3600" b="1">
                <a:solidFill>
                  <a:srgbClr val="9AFFD2"/>
                </a:solidFill>
                <a:latin typeface="Open Sans"/>
                <a:ea typeface="Open Sans"/>
                <a:cs typeface="Open Sans"/>
              </a:rPr>
              <a:t>Discovery</a:t>
            </a:r>
          </a:p>
        </p:txBody>
      </p:sp>
      <p:pic>
        <p:nvPicPr>
          <p:cNvPr id="7" name="Mastery gameplay" descr="Mastery gameplay">
            <a:extLst>
              <a:ext uri="{FF2B5EF4-FFF2-40B4-BE49-F238E27FC236}">
                <a16:creationId xmlns:a16="http://schemas.microsoft.com/office/drawing/2014/main" id="{4C7EF6BD-1A98-492E-9F85-1D8C61B307EB}"/>
              </a:ext>
            </a:extLst>
          </p:cNvPr>
          <p:cNvPicPr>
            <a:picLocks noChangeAspect="1"/>
          </p:cNvPicPr>
          <p:nvPr/>
        </p:nvPicPr>
        <p:blipFill>
          <a:blip r:embed="rId7"/>
          <a:stretch/>
        </p:blipFill>
        <p:spPr>
          <a:xfrm>
            <a:off x="12096750" y="3573661"/>
            <a:ext cx="5429250" cy="3053953"/>
          </a:xfrm>
          <a:prstGeom prst="rect">
            <a:avLst/>
          </a:prstGeom>
        </p:spPr>
      </p:pic>
      <p:sp>
        <p:nvSpPr>
          <p:cNvPr id="8" name="Mastery caption">
            <a:extLst>
              <a:ext uri="{FF2B5EF4-FFF2-40B4-BE49-F238E27FC236}">
                <a16:creationId xmlns:a16="http://schemas.microsoft.com/office/drawing/2014/main" id="{76D3CC1F-DFEE-4354-9A24-2F4A85120B96}"/>
              </a:ext>
            </a:extLst>
          </p:cNvPr>
          <p:cNvSpPr>
            <a:spLocks noGrp="1"/>
          </p:cNvSpPr>
          <p:nvPr/>
        </p:nvSpPr>
        <p:spPr>
          <a:xfrm>
            <a:off x="12096750" y="7096125"/>
            <a:ext cx="5429250" cy="666750"/>
          </a:xfrm>
          <a:prstGeom prst="rect">
            <a:avLst/>
          </a:prstGeom>
          <a:noFill/>
          <a:ln w="0">
            <a:noFill/>
          </a:ln>
        </p:spPr>
        <p:txBody>
          <a:bodyPr wrap="none" lIns="0" tIns="0" rIns="0" bIns="0" anchor="t">
            <a:noAutofit/>
          </a:bodyPr>
          <a:lstStyle>
            <a:defPPr algn="ctr">
              <a:defRPr sz="3600" b="1">
                <a:solidFill>
                  <a:srgbClr val="9AFFD2"/>
                </a:solidFill>
                <a:latin typeface="Open Sans"/>
                <a:ea typeface="Open Sans"/>
                <a:cs typeface="Open Sans"/>
              </a:defRPr>
            </a:defPPr>
            <a:lvl1pPr algn="ctr">
              <a:defRPr sz="3600" b="1">
                <a:solidFill>
                  <a:srgbClr val="9AFFD2"/>
                </a:solidFill>
                <a:latin typeface="Open Sans"/>
                <a:ea typeface="Open Sans"/>
                <a:cs typeface="Open Sans"/>
              </a:defRPr>
            </a:lvl1pPr>
            <a:lvl2pPr algn="ctr">
              <a:defRPr sz="3600" b="1">
                <a:solidFill>
                  <a:srgbClr val="9AFFD2"/>
                </a:solidFill>
                <a:latin typeface="Open Sans"/>
                <a:ea typeface="Open Sans"/>
                <a:cs typeface="Open Sans"/>
              </a:defRPr>
            </a:lvl2pPr>
            <a:lvl3pPr algn="ctr">
              <a:defRPr sz="3600" b="1">
                <a:solidFill>
                  <a:srgbClr val="9AFFD2"/>
                </a:solidFill>
                <a:latin typeface="Open Sans"/>
                <a:ea typeface="Open Sans"/>
                <a:cs typeface="Open Sans"/>
              </a:defRPr>
            </a:lvl3pPr>
            <a:lvl4pPr algn="ctr">
              <a:defRPr sz="3600" b="1">
                <a:solidFill>
                  <a:srgbClr val="9AFFD2"/>
                </a:solidFill>
                <a:latin typeface="Open Sans"/>
                <a:ea typeface="Open Sans"/>
                <a:cs typeface="Open Sans"/>
              </a:defRPr>
            </a:lvl4pPr>
            <a:lvl5pPr algn="ctr">
              <a:defRPr sz="3600" b="1">
                <a:solidFill>
                  <a:srgbClr val="9AFFD2"/>
                </a:solidFill>
                <a:latin typeface="Open Sans"/>
                <a:ea typeface="Open Sans"/>
                <a:cs typeface="Open Sans"/>
              </a:defRPr>
            </a:lvl5pPr>
            <a:lvl6pPr algn="ctr">
              <a:defRPr sz="3600" b="1">
                <a:solidFill>
                  <a:srgbClr val="9AFFD2"/>
                </a:solidFill>
                <a:latin typeface="Open Sans"/>
                <a:ea typeface="Open Sans"/>
                <a:cs typeface="Open Sans"/>
              </a:defRPr>
            </a:lvl6pPr>
            <a:lvl7pPr algn="ctr">
              <a:defRPr sz="3600" b="1">
                <a:solidFill>
                  <a:srgbClr val="9AFFD2"/>
                </a:solidFill>
                <a:latin typeface="Open Sans"/>
                <a:ea typeface="Open Sans"/>
                <a:cs typeface="Open Sans"/>
              </a:defRPr>
            </a:lvl7pPr>
            <a:lvl8pPr algn="ctr">
              <a:defRPr sz="3600" b="1">
                <a:solidFill>
                  <a:srgbClr val="9AFFD2"/>
                </a:solidFill>
                <a:latin typeface="Open Sans"/>
                <a:ea typeface="Open Sans"/>
                <a:cs typeface="Open Sans"/>
              </a:defRPr>
            </a:lvl8pPr>
            <a:lvl9pPr algn="ctr">
              <a:defRPr sz="3600" b="1">
                <a:solidFill>
                  <a:srgbClr val="9AFFD2"/>
                </a:solidFill>
                <a:latin typeface="Open Sans"/>
                <a:ea typeface="Open Sans"/>
                <a:cs typeface="Open Sans"/>
              </a:defRPr>
            </a:lvl9pPr>
          </a:lstStyle>
          <a:p>
            <a:pPr algn="ctr">
              <a:defRPr sz="3600" b="1">
                <a:solidFill>
                  <a:srgbClr val="9AFFD2"/>
                </a:solidFill>
                <a:latin typeface="Open Sans"/>
                <a:ea typeface="Open Sans"/>
                <a:cs typeface="Open Sans"/>
              </a:defRPr>
            </a:pPr>
            <a:r>
              <a:rPr sz="3600" b="1">
                <a:solidFill>
                  <a:srgbClr val="9AFFD2"/>
                </a:solidFill>
                <a:latin typeface="Open Sans"/>
                <a:ea typeface="Open Sans"/>
                <a:cs typeface="Open Sans"/>
              </a:rPr>
              <a:t>Mastery</a:t>
            </a:r>
          </a:p>
        </p:txBody>
      </p:sp>
    </p:spTree>
    <p:extLst>
      <p:ext uri="{BB962C8B-B14F-4D97-AF65-F5344CB8AC3E}">
        <p14:creationId xmlns:p14="http://schemas.microsoft.com/office/powerpoint/2010/main" val="725897335"/>
      </p:ext>
    </p:extLst>
  </p:cSld>
  <p:clrMapOvr>
    <a:masterClrMapping/>
  </p:clrMapOvr>
</p:sld>
</file>

<file path=ppt/slides/book_slide9.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3" name="Template clouds 23"/>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22" name="Template clouds 22"/>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21" name="Template grass 21"/>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20" name="Template grass 20"/>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9" name="Template grass 19"/>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8" name="Slide title">
            <a:extLst>
              <a:ext uri="{FF2B5EF4-FFF2-40B4-BE49-F238E27FC236}">
                <a16:creationId xmlns:a16="http://schemas.microsoft.com/office/drawing/2014/main" id="{ABFC3161-7473-42B2-A297-7E405EBA4678}"/>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WHAT CARRIES FORWARD?</a:t>
            </a:r>
          </a:p>
        </p:txBody>
      </p:sp>
      <p:sp>
        <p:nvSpPr>
          <p:cNvPr id="2" name="Source credit">
            <a:extLst>
              <a:ext uri="{FF2B5EF4-FFF2-40B4-BE49-F238E27FC236}">
                <a16:creationId xmlns:a16="http://schemas.microsoft.com/office/drawing/2014/main" id="{EA41F96A-2139-4FF5-AF41-E44984998D91}"/>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1">
                <a:solidFill>
                  <a:srgbClr val="9AFFD2"/>
                </a:solidFill>
                <a:latin typeface="Open Sans"/>
                <a:ea typeface="Open Sans"/>
                <a:cs typeface="Open Sans"/>
              </a:rPr>
              <a:t>Book: </a:t>
            </a:r>
            <a:r>
              <a:rPr sz="2000" b="0">
                <a:solidFill>
                  <a:srgbClr val="FFFFFF"/>
                </a:solidFill>
                <a:latin typeface="Open Sans"/>
                <a:ea typeface="Open Sans"/>
                <a:cs typeface="Open Sans"/>
              </a:rPr>
              <a:t>Hooked / Nir Eyal with Ryan Hoover     ·     Illustrative mockup</a:t>
            </a:r>
          </a:p>
        </p:txBody>
      </p:sp>
      <p:sp>
        <p:nvSpPr>
          <p:cNvPr id="3" name="Reward label">
            <a:extLst>
              <a:ext uri="{FF2B5EF4-FFF2-40B4-BE49-F238E27FC236}">
                <a16:creationId xmlns:a16="http://schemas.microsoft.com/office/drawing/2014/main" id="{4B3C79E6-B595-4182-A30B-D88E9D176EBA}"/>
              </a:ext>
            </a:extLst>
          </p:cNvPr>
          <p:cNvSpPr>
            <a:spLocks noGrp="1"/>
          </p:cNvSpPr>
          <p:nvPr/>
        </p:nvSpPr>
        <p:spPr>
          <a:xfrm>
            <a:off x="762000" y="2857500"/>
            <a:ext cx="4286250" cy="571500"/>
          </a:xfrm>
          <a:prstGeom prst="rect">
            <a:avLst/>
          </a:prstGeom>
          <a:noFill/>
          <a:ln w="0">
            <a:noFill/>
          </a:ln>
        </p:spPr>
        <p:txBody>
          <a:bodyPr wrap="none" lIns="0" tIns="0" rIns="0" bIns="0" anchor="t">
            <a:noAutofit/>
          </a:bodyPr>
          <a:lstStyle>
            <a:defPPr algn="l">
              <a:defRPr sz="3300" b="1">
                <a:solidFill>
                  <a:srgbClr val="9AFFD2"/>
                </a:solidFill>
                <a:latin typeface="Open Sans"/>
                <a:ea typeface="Open Sans"/>
                <a:cs typeface="Open Sans"/>
              </a:defRPr>
            </a:defPPr>
            <a:lvl1pPr algn="l">
              <a:defRPr sz="3300" b="1">
                <a:solidFill>
                  <a:srgbClr val="9AFFD2"/>
                </a:solidFill>
                <a:latin typeface="Open Sans"/>
                <a:ea typeface="Open Sans"/>
                <a:cs typeface="Open Sans"/>
              </a:defRPr>
            </a:lvl1pPr>
            <a:lvl2pPr algn="l">
              <a:defRPr sz="3300" b="1">
                <a:solidFill>
                  <a:srgbClr val="9AFFD2"/>
                </a:solidFill>
                <a:latin typeface="Open Sans"/>
                <a:ea typeface="Open Sans"/>
                <a:cs typeface="Open Sans"/>
              </a:defRPr>
            </a:lvl2pPr>
            <a:lvl3pPr algn="l">
              <a:defRPr sz="3300" b="1">
                <a:solidFill>
                  <a:srgbClr val="9AFFD2"/>
                </a:solidFill>
                <a:latin typeface="Open Sans"/>
                <a:ea typeface="Open Sans"/>
                <a:cs typeface="Open Sans"/>
              </a:defRPr>
            </a:lvl3pPr>
            <a:lvl4pPr algn="l">
              <a:defRPr sz="3300" b="1">
                <a:solidFill>
                  <a:srgbClr val="9AFFD2"/>
                </a:solidFill>
                <a:latin typeface="Open Sans"/>
                <a:ea typeface="Open Sans"/>
                <a:cs typeface="Open Sans"/>
              </a:defRPr>
            </a:lvl4pPr>
            <a:lvl5pPr algn="l">
              <a:defRPr sz="3300" b="1">
                <a:solidFill>
                  <a:srgbClr val="9AFFD2"/>
                </a:solidFill>
                <a:latin typeface="Open Sans"/>
                <a:ea typeface="Open Sans"/>
                <a:cs typeface="Open Sans"/>
              </a:defRPr>
            </a:lvl5pPr>
            <a:lvl6pPr algn="l">
              <a:defRPr sz="3300" b="1">
                <a:solidFill>
                  <a:srgbClr val="9AFFD2"/>
                </a:solidFill>
                <a:latin typeface="Open Sans"/>
                <a:ea typeface="Open Sans"/>
                <a:cs typeface="Open Sans"/>
              </a:defRPr>
            </a:lvl6pPr>
            <a:lvl7pPr algn="l">
              <a:defRPr sz="3300" b="1">
                <a:solidFill>
                  <a:srgbClr val="9AFFD2"/>
                </a:solidFill>
                <a:latin typeface="Open Sans"/>
                <a:ea typeface="Open Sans"/>
                <a:cs typeface="Open Sans"/>
              </a:defRPr>
            </a:lvl7pPr>
            <a:lvl8pPr algn="l">
              <a:defRPr sz="3300" b="1">
                <a:solidFill>
                  <a:srgbClr val="9AFFD2"/>
                </a:solidFill>
                <a:latin typeface="Open Sans"/>
                <a:ea typeface="Open Sans"/>
                <a:cs typeface="Open Sans"/>
              </a:defRPr>
            </a:lvl8pPr>
            <a:lvl9pPr algn="l">
              <a:defRPr sz="3300" b="1">
                <a:solidFill>
                  <a:srgbClr val="9AFFD2"/>
                </a:solidFill>
                <a:latin typeface="Open Sans"/>
                <a:ea typeface="Open Sans"/>
                <a:cs typeface="Open Sans"/>
              </a:defRPr>
            </a:lvl9pPr>
          </a:lstStyle>
          <a:p>
            <a:pPr algn="l">
              <a:defRPr sz="3300" b="1">
                <a:solidFill>
                  <a:srgbClr val="9AFFD2"/>
                </a:solidFill>
                <a:latin typeface="Open Sans"/>
                <a:ea typeface="Open Sans"/>
                <a:cs typeface="Open Sans"/>
              </a:defRPr>
            </a:pPr>
            <a:r>
              <a:rPr sz="3300" b="1">
                <a:solidFill>
                  <a:srgbClr val="9AFFD2"/>
                </a:solidFill>
                <a:latin typeface="Open Sans"/>
                <a:ea typeface="Open Sans"/>
                <a:cs typeface="Open Sans"/>
              </a:rPr>
              <a:t>Reward now</a:t>
            </a:r>
          </a:p>
        </p:txBody>
      </p:sp>
      <p:sp>
        <p:nvSpPr>
          <p:cNvPr id="4" name="Investment label">
            <a:extLst>
              <a:ext uri="{FF2B5EF4-FFF2-40B4-BE49-F238E27FC236}">
                <a16:creationId xmlns:a16="http://schemas.microsoft.com/office/drawing/2014/main" id="{7797CB41-AFB7-4D59-96EE-27707E8A3201}"/>
              </a:ext>
            </a:extLst>
          </p:cNvPr>
          <p:cNvSpPr>
            <a:spLocks noGrp="1"/>
          </p:cNvSpPr>
          <p:nvPr/>
        </p:nvSpPr>
        <p:spPr>
          <a:xfrm>
            <a:off x="5429250" y="2857500"/>
            <a:ext cx="8001000" cy="571500"/>
          </a:xfrm>
          <a:prstGeom prst="rect">
            <a:avLst/>
          </a:prstGeom>
          <a:noFill/>
          <a:ln w="0">
            <a:noFill/>
          </a:ln>
        </p:spPr>
        <p:txBody>
          <a:bodyPr wrap="none" lIns="0" tIns="0" rIns="0" bIns="0" anchor="t">
            <a:noAutofit/>
          </a:bodyPr>
          <a:lstStyle>
            <a:defPPr algn="l">
              <a:defRPr sz="3300" b="1">
                <a:solidFill>
                  <a:srgbClr val="9AFFD2"/>
                </a:solidFill>
                <a:latin typeface="Open Sans"/>
                <a:ea typeface="Open Sans"/>
                <a:cs typeface="Open Sans"/>
              </a:defRPr>
            </a:defPPr>
            <a:lvl1pPr algn="l">
              <a:defRPr sz="3300" b="1">
                <a:solidFill>
                  <a:srgbClr val="9AFFD2"/>
                </a:solidFill>
                <a:latin typeface="Open Sans"/>
                <a:ea typeface="Open Sans"/>
                <a:cs typeface="Open Sans"/>
              </a:defRPr>
            </a:lvl1pPr>
            <a:lvl2pPr algn="l">
              <a:defRPr sz="3300" b="1">
                <a:solidFill>
                  <a:srgbClr val="9AFFD2"/>
                </a:solidFill>
                <a:latin typeface="Open Sans"/>
                <a:ea typeface="Open Sans"/>
                <a:cs typeface="Open Sans"/>
              </a:defRPr>
            </a:lvl2pPr>
            <a:lvl3pPr algn="l">
              <a:defRPr sz="3300" b="1">
                <a:solidFill>
                  <a:srgbClr val="9AFFD2"/>
                </a:solidFill>
                <a:latin typeface="Open Sans"/>
                <a:ea typeface="Open Sans"/>
                <a:cs typeface="Open Sans"/>
              </a:defRPr>
            </a:lvl3pPr>
            <a:lvl4pPr algn="l">
              <a:defRPr sz="3300" b="1">
                <a:solidFill>
                  <a:srgbClr val="9AFFD2"/>
                </a:solidFill>
                <a:latin typeface="Open Sans"/>
                <a:ea typeface="Open Sans"/>
                <a:cs typeface="Open Sans"/>
              </a:defRPr>
            </a:lvl4pPr>
            <a:lvl5pPr algn="l">
              <a:defRPr sz="3300" b="1">
                <a:solidFill>
                  <a:srgbClr val="9AFFD2"/>
                </a:solidFill>
                <a:latin typeface="Open Sans"/>
                <a:ea typeface="Open Sans"/>
                <a:cs typeface="Open Sans"/>
              </a:defRPr>
            </a:lvl5pPr>
            <a:lvl6pPr algn="l">
              <a:defRPr sz="3300" b="1">
                <a:solidFill>
                  <a:srgbClr val="9AFFD2"/>
                </a:solidFill>
                <a:latin typeface="Open Sans"/>
                <a:ea typeface="Open Sans"/>
                <a:cs typeface="Open Sans"/>
              </a:defRPr>
            </a:lvl6pPr>
            <a:lvl7pPr algn="l">
              <a:defRPr sz="3300" b="1">
                <a:solidFill>
                  <a:srgbClr val="9AFFD2"/>
                </a:solidFill>
                <a:latin typeface="Open Sans"/>
                <a:ea typeface="Open Sans"/>
                <a:cs typeface="Open Sans"/>
              </a:defRPr>
            </a:lvl7pPr>
            <a:lvl8pPr algn="l">
              <a:defRPr sz="3300" b="1">
                <a:solidFill>
                  <a:srgbClr val="9AFFD2"/>
                </a:solidFill>
                <a:latin typeface="Open Sans"/>
                <a:ea typeface="Open Sans"/>
                <a:cs typeface="Open Sans"/>
              </a:defRPr>
            </a:lvl8pPr>
            <a:lvl9pPr algn="l">
              <a:defRPr sz="3300" b="1">
                <a:solidFill>
                  <a:srgbClr val="9AFFD2"/>
                </a:solidFill>
                <a:latin typeface="Open Sans"/>
                <a:ea typeface="Open Sans"/>
                <a:cs typeface="Open Sans"/>
              </a:defRPr>
            </a:lvl9pPr>
          </a:lstStyle>
          <a:p>
            <a:pPr algn="l">
              <a:defRPr sz="3300" b="1">
                <a:solidFill>
                  <a:srgbClr val="9AFFD2"/>
                </a:solidFill>
                <a:latin typeface="Open Sans"/>
                <a:ea typeface="Open Sans"/>
                <a:cs typeface="Open Sans"/>
              </a:defRPr>
            </a:pPr>
            <a:r>
              <a:rPr sz="3300" b="1">
                <a:solidFill>
                  <a:srgbClr val="9AFFD2"/>
                </a:solidFill>
                <a:latin typeface="Open Sans"/>
                <a:ea typeface="Open Sans"/>
                <a:cs typeface="Open Sans"/>
              </a:rPr>
              <a:t>Invest for later</a:t>
            </a:r>
          </a:p>
        </p:txBody>
      </p:sp>
      <p:sp>
        <p:nvSpPr>
          <p:cNvPr id="5" name="Next run label">
            <a:extLst>
              <a:ext uri="{FF2B5EF4-FFF2-40B4-BE49-F238E27FC236}">
                <a16:creationId xmlns:a16="http://schemas.microsoft.com/office/drawing/2014/main" id="{98061DB1-E6CF-4B53-86CD-921A4B7A62E9}"/>
              </a:ext>
            </a:extLst>
          </p:cNvPr>
          <p:cNvSpPr>
            <a:spLocks noGrp="1"/>
          </p:cNvSpPr>
          <p:nvPr/>
        </p:nvSpPr>
        <p:spPr>
          <a:xfrm>
            <a:off x="14097000" y="2857500"/>
            <a:ext cx="3429000" cy="571500"/>
          </a:xfrm>
          <a:prstGeom prst="rect">
            <a:avLst/>
          </a:prstGeom>
          <a:noFill/>
          <a:ln w="0">
            <a:noFill/>
          </a:ln>
        </p:spPr>
        <p:txBody>
          <a:bodyPr wrap="none" lIns="0" tIns="0" rIns="0" bIns="0" anchor="t">
            <a:noAutofit/>
          </a:bodyPr>
          <a:lstStyle>
            <a:defPPr algn="l">
              <a:defRPr sz="3300" b="1">
                <a:solidFill>
                  <a:srgbClr val="9AFFD2"/>
                </a:solidFill>
                <a:latin typeface="Open Sans"/>
                <a:ea typeface="Open Sans"/>
                <a:cs typeface="Open Sans"/>
              </a:defRPr>
            </a:defPPr>
            <a:lvl1pPr algn="l">
              <a:defRPr sz="3300" b="1">
                <a:solidFill>
                  <a:srgbClr val="9AFFD2"/>
                </a:solidFill>
                <a:latin typeface="Open Sans"/>
                <a:ea typeface="Open Sans"/>
                <a:cs typeface="Open Sans"/>
              </a:defRPr>
            </a:lvl1pPr>
            <a:lvl2pPr algn="l">
              <a:defRPr sz="3300" b="1">
                <a:solidFill>
                  <a:srgbClr val="9AFFD2"/>
                </a:solidFill>
                <a:latin typeface="Open Sans"/>
                <a:ea typeface="Open Sans"/>
                <a:cs typeface="Open Sans"/>
              </a:defRPr>
            </a:lvl2pPr>
            <a:lvl3pPr algn="l">
              <a:defRPr sz="3300" b="1">
                <a:solidFill>
                  <a:srgbClr val="9AFFD2"/>
                </a:solidFill>
                <a:latin typeface="Open Sans"/>
                <a:ea typeface="Open Sans"/>
                <a:cs typeface="Open Sans"/>
              </a:defRPr>
            </a:lvl3pPr>
            <a:lvl4pPr algn="l">
              <a:defRPr sz="3300" b="1">
                <a:solidFill>
                  <a:srgbClr val="9AFFD2"/>
                </a:solidFill>
                <a:latin typeface="Open Sans"/>
                <a:ea typeface="Open Sans"/>
                <a:cs typeface="Open Sans"/>
              </a:defRPr>
            </a:lvl4pPr>
            <a:lvl5pPr algn="l">
              <a:defRPr sz="3300" b="1">
                <a:solidFill>
                  <a:srgbClr val="9AFFD2"/>
                </a:solidFill>
                <a:latin typeface="Open Sans"/>
                <a:ea typeface="Open Sans"/>
                <a:cs typeface="Open Sans"/>
              </a:defRPr>
            </a:lvl5pPr>
            <a:lvl6pPr algn="l">
              <a:defRPr sz="3300" b="1">
                <a:solidFill>
                  <a:srgbClr val="9AFFD2"/>
                </a:solidFill>
                <a:latin typeface="Open Sans"/>
                <a:ea typeface="Open Sans"/>
                <a:cs typeface="Open Sans"/>
              </a:defRPr>
            </a:lvl6pPr>
            <a:lvl7pPr algn="l">
              <a:defRPr sz="3300" b="1">
                <a:solidFill>
                  <a:srgbClr val="9AFFD2"/>
                </a:solidFill>
                <a:latin typeface="Open Sans"/>
                <a:ea typeface="Open Sans"/>
                <a:cs typeface="Open Sans"/>
              </a:defRPr>
            </a:lvl7pPr>
            <a:lvl8pPr algn="l">
              <a:defRPr sz="3300" b="1">
                <a:solidFill>
                  <a:srgbClr val="9AFFD2"/>
                </a:solidFill>
                <a:latin typeface="Open Sans"/>
                <a:ea typeface="Open Sans"/>
                <a:cs typeface="Open Sans"/>
              </a:defRPr>
            </a:lvl8pPr>
            <a:lvl9pPr algn="l">
              <a:defRPr sz="3300" b="1">
                <a:solidFill>
                  <a:srgbClr val="9AFFD2"/>
                </a:solidFill>
                <a:latin typeface="Open Sans"/>
                <a:ea typeface="Open Sans"/>
                <a:cs typeface="Open Sans"/>
              </a:defRPr>
            </a:lvl9pPr>
          </a:lstStyle>
          <a:p>
            <a:pPr algn="l">
              <a:defRPr sz="3300" b="1">
                <a:solidFill>
                  <a:srgbClr val="9AFFD2"/>
                </a:solidFill>
                <a:latin typeface="Open Sans"/>
                <a:ea typeface="Open Sans"/>
                <a:cs typeface="Open Sans"/>
              </a:defRPr>
            </a:pPr>
            <a:r>
              <a:rPr sz="3300" b="1">
                <a:solidFill>
                  <a:srgbClr val="9AFFD2"/>
                </a:solidFill>
                <a:latin typeface="Open Sans"/>
                <a:ea typeface="Open Sans"/>
                <a:cs typeface="Open Sans"/>
              </a:rPr>
              <a:t>Next run</a:t>
            </a:r>
          </a:p>
        </p:txBody>
      </p:sp>
      <p:pic>
        <p:nvPicPr>
          <p:cNvPr id="6" name="s23-reward-now image" descr="s23-reward-now image">
            <a:extLst>
              <a:ext uri="{FF2B5EF4-FFF2-40B4-BE49-F238E27FC236}">
                <a16:creationId xmlns:a16="http://schemas.microsoft.com/office/drawing/2014/main" id="{1421253C-F84E-43FE-9E15-0625C8878784}"/>
              </a:ext>
            </a:extLst>
          </p:cNvPr>
          <p:cNvPicPr>
            <a:picLocks noChangeAspect="1"/>
          </p:cNvPicPr>
          <p:nvPr/>
        </p:nvPicPr>
        <p:blipFill>
          <a:blip r:embed="rId5"/>
          <a:stretch/>
        </p:blipFill>
        <p:spPr>
          <a:xfrm>
            <a:off x="762000" y="4524375"/>
            <a:ext cx="4286250" cy="2098477"/>
          </a:xfrm>
          <a:prstGeom prst="rect">
            <a:avLst/>
          </a:prstGeom>
        </p:spPr>
      </p:pic>
      <p:sp>
        <p:nvSpPr>
          <p:cNvPr id="7" name="s23-reward-now text 27">
            <a:extLst>
              <a:ext uri="{FF2B5EF4-FFF2-40B4-BE49-F238E27FC236}">
                <a16:creationId xmlns:a16="http://schemas.microsoft.com/office/drawing/2014/main" id="{025592E2-9593-4AE6-8C08-BA78D77BDFD2}"/>
              </a:ext>
            </a:extLst>
          </p:cNvPr>
          <p:cNvSpPr>
            <a:spLocks noGrp="1"/>
          </p:cNvSpPr>
          <p:nvPr/>
        </p:nvSpPr>
        <p:spPr>
          <a:xfrm>
            <a:off x="2927395" y="5956295"/>
            <a:ext cx="1402070"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Frost</a:t>
            </a:r>
          </a:p>
        </p:txBody>
      </p:sp>
      <p:pic>
        <p:nvPicPr>
          <p:cNvPr id="8" name="s23-choice image" descr="s23-choice image">
            <a:extLst>
              <a:ext uri="{FF2B5EF4-FFF2-40B4-BE49-F238E27FC236}">
                <a16:creationId xmlns:a16="http://schemas.microsoft.com/office/drawing/2014/main" id="{D92A8C07-9714-4A26-B37C-7CB08F7755C6}"/>
              </a:ext>
            </a:extLst>
          </p:cNvPr>
          <p:cNvPicPr>
            <a:picLocks noChangeAspect="1"/>
          </p:cNvPicPr>
          <p:nvPr/>
        </p:nvPicPr>
        <p:blipFill>
          <a:blip r:embed="rId6"/>
          <a:stretch/>
        </p:blipFill>
        <p:spPr>
          <a:xfrm>
            <a:off x="5524500" y="3952875"/>
            <a:ext cx="7810500" cy="3234035"/>
          </a:xfrm>
          <a:prstGeom prst="rect">
            <a:avLst/>
          </a:prstGeom>
        </p:spPr>
      </p:pic>
      <p:sp>
        <p:nvSpPr>
          <p:cNvPr id="9" name="s23-choice text 28">
            <a:extLst>
              <a:ext uri="{FF2B5EF4-FFF2-40B4-BE49-F238E27FC236}">
                <a16:creationId xmlns:a16="http://schemas.microsoft.com/office/drawing/2014/main" id="{CD65AC44-612C-489A-B68E-98D3083C7649}"/>
              </a:ext>
            </a:extLst>
          </p:cNvPr>
          <p:cNvSpPr>
            <a:spLocks noGrp="1"/>
          </p:cNvSpPr>
          <p:nvPr/>
        </p:nvSpPr>
        <p:spPr>
          <a:xfrm>
            <a:off x="6405281" y="6206326"/>
            <a:ext cx="1167376"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Dash</a:t>
            </a:r>
          </a:p>
        </p:txBody>
      </p:sp>
      <p:sp>
        <p:nvSpPr>
          <p:cNvPr id="10" name="s23-choice text 29">
            <a:extLst>
              <a:ext uri="{FF2B5EF4-FFF2-40B4-BE49-F238E27FC236}">
                <a16:creationId xmlns:a16="http://schemas.microsoft.com/office/drawing/2014/main" id="{F5600B93-82B6-448F-8F50-D3E60B524889}"/>
              </a:ext>
            </a:extLst>
          </p:cNvPr>
          <p:cNvSpPr>
            <a:spLocks noGrp="1"/>
          </p:cNvSpPr>
          <p:nvPr/>
        </p:nvSpPr>
        <p:spPr>
          <a:xfrm>
            <a:off x="10046737" y="5083567"/>
            <a:ext cx="1402070"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Frost</a:t>
            </a:r>
          </a:p>
        </p:txBody>
      </p:sp>
      <p:sp>
        <p:nvSpPr>
          <p:cNvPr id="11" name="s23-choice text 30">
            <a:extLst>
              <a:ext uri="{FF2B5EF4-FFF2-40B4-BE49-F238E27FC236}">
                <a16:creationId xmlns:a16="http://schemas.microsoft.com/office/drawing/2014/main" id="{6B4B8F09-7124-45BE-9817-9B7EA01DA95A}"/>
              </a:ext>
            </a:extLst>
          </p:cNvPr>
          <p:cNvSpPr>
            <a:spLocks noGrp="1"/>
          </p:cNvSpPr>
          <p:nvPr/>
        </p:nvSpPr>
        <p:spPr>
          <a:xfrm>
            <a:off x="11345043" y="5083567"/>
            <a:ext cx="1636763"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Shield</a:t>
            </a:r>
          </a:p>
        </p:txBody>
      </p:sp>
      <p:sp>
        <p:nvSpPr>
          <p:cNvPr id="12" name="s23-choice text 31">
            <a:extLst>
              <a:ext uri="{FF2B5EF4-FFF2-40B4-BE49-F238E27FC236}">
                <a16:creationId xmlns:a16="http://schemas.microsoft.com/office/drawing/2014/main" id="{39AC5E7B-955D-4ED8-8682-1014080659D2}"/>
              </a:ext>
            </a:extLst>
          </p:cNvPr>
          <p:cNvSpPr>
            <a:spLocks noGrp="1"/>
          </p:cNvSpPr>
          <p:nvPr/>
        </p:nvSpPr>
        <p:spPr>
          <a:xfrm>
            <a:off x="10871911" y="6368028"/>
            <a:ext cx="1167376"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Save</a:t>
            </a:r>
          </a:p>
        </p:txBody>
      </p:sp>
      <p:pic>
        <p:nvPicPr>
          <p:cNvPr id="13" name="s23-next-run image" descr="s23-next-run image">
            <a:extLst>
              <a:ext uri="{FF2B5EF4-FFF2-40B4-BE49-F238E27FC236}">
                <a16:creationId xmlns:a16="http://schemas.microsoft.com/office/drawing/2014/main" id="{260C796F-9258-4F59-ABF7-D570C8B1666C}"/>
              </a:ext>
            </a:extLst>
          </p:cNvPr>
          <p:cNvPicPr>
            <a:picLocks noChangeAspect="1"/>
          </p:cNvPicPr>
          <p:nvPr/>
        </p:nvPicPr>
        <p:blipFill>
          <a:blip r:embed="rId7"/>
          <a:stretch/>
        </p:blipFill>
        <p:spPr>
          <a:xfrm>
            <a:off x="13811250" y="4381500"/>
            <a:ext cx="3714750" cy="2089547"/>
          </a:xfrm>
          <a:prstGeom prst="rect">
            <a:avLst/>
          </a:prstGeom>
        </p:spPr>
      </p:pic>
      <p:pic>
        <p:nvPicPr>
          <p:cNvPr id="14" name="Next run saved dash" descr="Next run saved dash">
            <a:extLst>
              <a:ext uri="{FF2B5EF4-FFF2-40B4-BE49-F238E27FC236}">
                <a16:creationId xmlns:a16="http://schemas.microsoft.com/office/drawing/2014/main" id="{476B550C-6EBF-41FA-A1C8-3BEC193E2B71}"/>
              </a:ext>
            </a:extLst>
          </p:cNvPr>
          <p:cNvPicPr>
            <a:picLocks noChangeAspect="1"/>
          </p:cNvPicPr>
          <p:nvPr/>
        </p:nvPicPr>
        <p:blipFill>
          <a:blip r:embed="rId8"/>
          <a:stretch/>
        </p:blipFill>
        <p:spPr>
          <a:xfrm>
            <a:off x="14382750" y="7000875"/>
            <a:ext cx="1047750" cy="1047750"/>
          </a:xfrm>
          <a:prstGeom prst="rect">
            <a:avLst/>
          </a:prstGeom>
        </p:spPr>
      </p:pic>
      <p:pic>
        <p:nvPicPr>
          <p:cNvPr id="15" name="Next run saved frost" descr="Next run saved frost">
            <a:extLst>
              <a:ext uri="{FF2B5EF4-FFF2-40B4-BE49-F238E27FC236}">
                <a16:creationId xmlns:a16="http://schemas.microsoft.com/office/drawing/2014/main" id="{282C34AC-6D0C-43FD-9038-D2D3AEE6F721}"/>
              </a:ext>
            </a:extLst>
          </p:cNvPr>
          <p:cNvPicPr>
            <a:picLocks noChangeAspect="1"/>
          </p:cNvPicPr>
          <p:nvPr/>
        </p:nvPicPr>
        <p:blipFill>
          <a:blip r:embed="rId9"/>
          <a:stretch/>
        </p:blipFill>
        <p:spPr>
          <a:xfrm>
            <a:off x="15906750" y="7000875"/>
            <a:ext cx="1047750" cy="1047750"/>
          </a:xfrm>
          <a:prstGeom prst="rect">
            <a:avLst/>
          </a:prstGeom>
        </p:spPr>
      </p:pic>
      <p:sp>
        <p:nvSpPr>
          <p:cNvPr id="16" name="Reward to investment">
            <a:extLst>
              <a:ext uri="{FF2B5EF4-FFF2-40B4-BE49-F238E27FC236}">
                <a16:creationId xmlns:a16="http://schemas.microsoft.com/office/drawing/2014/main" id="{54733CF1-2616-44F8-A7D7-BE971C89EAA0}"/>
              </a:ext>
            </a:extLst>
          </p:cNvPr>
          <p:cNvSpPr>
            <a:spLocks noGrp="1"/>
          </p:cNvSpPr>
          <p:nvPr/>
        </p:nvSpPr>
        <p:spPr>
          <a:xfrm>
            <a:off x="4619625" y="6191250"/>
            <a:ext cx="857250" cy="285750"/>
          </a:xfrm>
          <a:custGeom>
            <a:avLst/>
            <a:gdLst/>
            <a:ahLst/>
            <a:cxnLst/>
            <a:rect l="0" t="0" r="0" b="0"/>
            <a:pathLst>
              <a:path w="857250" h="285750">
                <a:moveTo>
                  <a:pt x="142875" y="142875"/>
                </a:moveTo>
                <a:lnTo>
                  <a:pt x="714375" y="142875"/>
                </a:lnTo>
                <a:moveTo>
                  <a:pt x="571500" y="221456"/>
                </a:moveTo>
                <a:lnTo>
                  <a:pt x="714375" y="142875"/>
                </a:lnTo>
                <a:lnTo>
                  <a:pt x="571500" y="64294"/>
                </a:lnTo>
              </a:path>
            </a:pathLst>
          </a:custGeom>
          <a:noFill/>
          <a:ln w="38100">
            <a:solidFill>
              <a:srgbClr val="FFFFFF"/>
            </a:solidFill>
          </a:ln>
        </p:spPr>
      </p:sp>
      <p:sp>
        <p:nvSpPr>
          <p:cNvPr id="17" name="Investment to future">
            <a:extLst>
              <a:ext uri="{FF2B5EF4-FFF2-40B4-BE49-F238E27FC236}">
                <a16:creationId xmlns:a16="http://schemas.microsoft.com/office/drawing/2014/main" id="{7A89E4E5-274F-4AE7-BFA8-D94F18B8C432}"/>
              </a:ext>
            </a:extLst>
          </p:cNvPr>
          <p:cNvSpPr>
            <a:spLocks noGrp="1"/>
          </p:cNvSpPr>
          <p:nvPr/>
        </p:nvSpPr>
        <p:spPr>
          <a:xfrm>
            <a:off x="13049250" y="6191250"/>
            <a:ext cx="762000" cy="285750"/>
          </a:xfrm>
          <a:custGeom>
            <a:avLst/>
            <a:gdLst/>
            <a:ahLst/>
            <a:cxnLst/>
            <a:rect l="0" t="0" r="0" b="0"/>
            <a:pathLst>
              <a:path w="762000" h="285750">
                <a:moveTo>
                  <a:pt x="142875" y="142875"/>
                </a:moveTo>
                <a:lnTo>
                  <a:pt x="619125" y="142875"/>
                </a:lnTo>
                <a:moveTo>
                  <a:pt x="476250" y="221456"/>
                </a:moveTo>
                <a:lnTo>
                  <a:pt x="619125" y="142875"/>
                </a:lnTo>
                <a:lnTo>
                  <a:pt x="476250" y="64294"/>
                </a:lnTo>
              </a:path>
            </a:pathLst>
          </a:custGeom>
          <a:noFill/>
          <a:ln w="38100">
            <a:solidFill>
              <a:srgbClr val="FFFFFF"/>
            </a:solidFill>
          </a:ln>
        </p:spPr>
      </p:sp>
    </p:spTree>
    <p:extLst>
      <p:ext uri="{BB962C8B-B14F-4D97-AF65-F5344CB8AC3E}">
        <p14:creationId xmlns:p14="http://schemas.microsoft.com/office/powerpoint/2010/main" val="500682924"/>
      </p:ext>
    </p:extLst>
  </p:cSld>
  <p:clrMapOvr>
    <a:masterClrMapping/>
  </p:clrMapOvr>
</p:sld>
</file>

<file path=ppt/slides/book_slide10.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3" name="Template clouds 23"/>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22" name="Template clouds 22"/>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21" name="Template grass 21"/>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20" name="Template grass 20"/>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9" name="Template grass 19"/>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8" name="Slide title">
            <a:extLst>
              <a:ext uri="{FF2B5EF4-FFF2-40B4-BE49-F238E27FC236}">
                <a16:creationId xmlns:a16="http://schemas.microsoft.com/office/drawing/2014/main" id="{C3FEABB2-43FC-4A8C-A306-A1765E277279}"/>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SMALL DETAILS. BIG FEEL.</a:t>
            </a:r>
          </a:p>
        </p:txBody>
      </p:sp>
      <p:sp>
        <p:nvSpPr>
          <p:cNvPr id="2" name="Source credit">
            <a:extLst>
              <a:ext uri="{FF2B5EF4-FFF2-40B4-BE49-F238E27FC236}">
                <a16:creationId xmlns:a16="http://schemas.microsoft.com/office/drawing/2014/main" id="{85FFDC74-9374-4095-B98B-F400456D8763}"/>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0">
                <a:solidFill>
                  <a:srgbClr val="FFFFFF"/>
                </a:solidFill>
                <a:latin typeface="Open Sans"/>
                <a:ea typeface="Open Sans"/>
                <a:cs typeface="Open Sans"/>
              </a:rPr>
              <a:t>Masahiro Sakurai on Creating Games     ·     Click a preview to open YouTube</a:t>
            </a:r>
          </a:p>
        </p:txBody>
      </p:sp>
      <p:pic>
        <p:nvPicPr>
          <p:cNvPr id="3" name="Video 1 thumbnail" descr="Video 1 thumbnail">
            <a:hlinkClick r:id="rId5" tooltip="Open YouTube video"/>
            <a:extLst>
              <a:ext uri="{FF2B5EF4-FFF2-40B4-BE49-F238E27FC236}">
                <a16:creationId xmlns:a16="http://schemas.microsoft.com/office/drawing/2014/main" id="{867ECCA7-3F28-47AB-B828-F57F5573B860}"/>
              </a:ext>
            </a:extLst>
          </p:cNvPr>
          <p:cNvPicPr>
            <a:picLocks noChangeAspect="1"/>
          </p:cNvPicPr>
          <p:nvPr/>
        </p:nvPicPr>
        <p:blipFill>
          <a:blip r:embed="rId6"/>
          <a:stretch/>
        </p:blipFill>
        <p:spPr>
          <a:xfrm>
            <a:off x="762000" y="3286125"/>
            <a:ext cx="5429250" cy="3053953"/>
          </a:xfrm>
          <a:prstGeom prst="rect">
            <a:avLst/>
          </a:prstGeom>
        </p:spPr>
      </p:pic>
      <p:sp>
        <p:nvSpPr>
          <p:cNvPr id="4" name="Video 1 play">
            <a:hlinkClick r:id="rId5" tooltip="Open YouTube video"/>
            <a:extLst>
              <a:ext uri="{FF2B5EF4-FFF2-40B4-BE49-F238E27FC236}">
                <a16:creationId xmlns:a16="http://schemas.microsoft.com/office/drawing/2014/main" id="{765DA89A-9D02-4616-8AF7-71407A6572D5}"/>
              </a:ext>
            </a:extLst>
          </p:cNvPr>
          <p:cNvSpPr>
            <a:spLocks noGrp="1"/>
          </p:cNvSpPr>
          <p:nvPr/>
        </p:nvSpPr>
        <p:spPr>
          <a:xfrm rot="5400000">
            <a:off x="3124200" y="4410075"/>
            <a:ext cx="704850" cy="781050"/>
          </a:xfrm>
          <a:prstGeom prst="triangle">
            <a:avLst/>
          </a:prstGeom>
          <a:solidFill>
            <a:srgbClr val="9AFFD2"/>
          </a:solidFill>
          <a:ln w="19050">
            <a:solidFill>
              <a:srgbClr val="FFFFFF"/>
            </a:solidFill>
          </a:ln>
        </p:spPr>
      </p:sp>
      <p:sp>
        <p:nvSpPr>
          <p:cNvPr id="5" name="Video 1 title">
            <a:hlinkClick r:id="rId5" tooltip="Open YouTube video"/>
            <a:extLst>
              <a:ext uri="{FF2B5EF4-FFF2-40B4-BE49-F238E27FC236}">
                <a16:creationId xmlns:a16="http://schemas.microsoft.com/office/drawing/2014/main" id="{6847C787-5C77-4E01-A03B-D073AA0E389C}"/>
              </a:ext>
            </a:extLst>
          </p:cNvPr>
          <p:cNvSpPr>
            <a:spLocks noGrp="1"/>
          </p:cNvSpPr>
          <p:nvPr/>
        </p:nvSpPr>
        <p:spPr>
          <a:xfrm>
            <a:off x="762000" y="6667500"/>
            <a:ext cx="5429250" cy="1047750"/>
          </a:xfrm>
          <a:prstGeom prst="rect">
            <a:avLst/>
          </a:prstGeom>
          <a:noFill/>
          <a:ln w="0">
            <a:noFill/>
          </a:ln>
        </p:spPr>
        <p:txBody>
          <a:bodyPr wrap="none" lIns="0" tIns="0" rIns="0" bIns="0" anchor="t">
            <a:noAutofit/>
          </a:bodyPr>
          <a:lstStyle>
            <a:defPPr algn="l">
              <a:defRPr sz="3000" b="1">
                <a:solidFill>
                  <a:srgbClr val="FFFFFF"/>
                </a:solidFill>
                <a:latin typeface="Open Sans"/>
                <a:ea typeface="Open Sans"/>
                <a:cs typeface="Open Sans"/>
              </a:defRPr>
            </a:defPPr>
            <a:lvl1pPr algn="l">
              <a:defRPr sz="3000" b="1">
                <a:solidFill>
                  <a:srgbClr val="FFFFFF"/>
                </a:solidFill>
                <a:latin typeface="Open Sans"/>
                <a:ea typeface="Open Sans"/>
                <a:cs typeface="Open Sans"/>
              </a:defRPr>
            </a:lvl1pPr>
            <a:lvl2pPr algn="l">
              <a:defRPr sz="3000" b="1">
                <a:solidFill>
                  <a:srgbClr val="FFFFFF"/>
                </a:solidFill>
                <a:latin typeface="Open Sans"/>
                <a:ea typeface="Open Sans"/>
                <a:cs typeface="Open Sans"/>
              </a:defRPr>
            </a:lvl2pPr>
            <a:lvl3pPr algn="l">
              <a:defRPr sz="3000" b="1">
                <a:solidFill>
                  <a:srgbClr val="FFFFFF"/>
                </a:solidFill>
                <a:latin typeface="Open Sans"/>
                <a:ea typeface="Open Sans"/>
                <a:cs typeface="Open Sans"/>
              </a:defRPr>
            </a:lvl3pPr>
            <a:lvl4pPr algn="l">
              <a:defRPr sz="3000" b="1">
                <a:solidFill>
                  <a:srgbClr val="FFFFFF"/>
                </a:solidFill>
                <a:latin typeface="Open Sans"/>
                <a:ea typeface="Open Sans"/>
                <a:cs typeface="Open Sans"/>
              </a:defRPr>
            </a:lvl4pPr>
            <a:lvl5pPr algn="l">
              <a:defRPr sz="3000" b="1">
                <a:solidFill>
                  <a:srgbClr val="FFFFFF"/>
                </a:solidFill>
                <a:latin typeface="Open Sans"/>
                <a:ea typeface="Open Sans"/>
                <a:cs typeface="Open Sans"/>
              </a:defRPr>
            </a:lvl5pPr>
            <a:lvl6pPr algn="l">
              <a:defRPr sz="3000" b="1">
                <a:solidFill>
                  <a:srgbClr val="FFFFFF"/>
                </a:solidFill>
                <a:latin typeface="Open Sans"/>
                <a:ea typeface="Open Sans"/>
                <a:cs typeface="Open Sans"/>
              </a:defRPr>
            </a:lvl6pPr>
            <a:lvl7pPr algn="l">
              <a:defRPr sz="3000" b="1">
                <a:solidFill>
                  <a:srgbClr val="FFFFFF"/>
                </a:solidFill>
                <a:latin typeface="Open Sans"/>
                <a:ea typeface="Open Sans"/>
                <a:cs typeface="Open Sans"/>
              </a:defRPr>
            </a:lvl7pPr>
            <a:lvl8pPr algn="l">
              <a:defRPr sz="3000" b="1">
                <a:solidFill>
                  <a:srgbClr val="FFFFFF"/>
                </a:solidFill>
                <a:latin typeface="Open Sans"/>
                <a:ea typeface="Open Sans"/>
                <a:cs typeface="Open Sans"/>
              </a:defRPr>
            </a:lvl8pPr>
            <a:lvl9pPr algn="l">
              <a:defRPr sz="3000" b="1">
                <a:solidFill>
                  <a:srgbClr val="FFFFFF"/>
                </a:solidFill>
                <a:latin typeface="Open Sans"/>
                <a:ea typeface="Open Sans"/>
                <a:cs typeface="Open Sans"/>
              </a:defRPr>
            </a:lvl9pPr>
          </a:lstStyle>
          <a:p>
            <a:pPr algn="l">
              <a:defRPr sz="3000" b="1">
                <a:solidFill>
                  <a:srgbClr val="FFFFFF"/>
                </a:solidFill>
                <a:latin typeface="Open Sans"/>
                <a:ea typeface="Open Sans"/>
                <a:cs typeface="Open Sans"/>
              </a:defRPr>
            </a:pPr>
            <a:r>
              <a:rPr sz="3000" b="1">
                <a:solidFill>
                  <a:srgbClr val="FFFFFF"/>
                </a:solidFill>
                <a:latin typeface="Open Sans"/>
                <a:ea typeface="Open Sans"/>
                <a:cs typeface="Open Sans"/>
              </a:rPr>
              <a:t>Stop for Big Moments!</a:t>
            </a:r>
          </a:p>
        </p:txBody>
      </p:sp>
      <p:sp>
        <p:nvSpPr>
          <p:cNvPr id="6" name="Video 1 lesson">
            <a:extLst>
              <a:ext uri="{FF2B5EF4-FFF2-40B4-BE49-F238E27FC236}">
                <a16:creationId xmlns:a16="http://schemas.microsoft.com/office/drawing/2014/main" id="{A1076412-6FB4-4083-A032-B317181D7F57}"/>
              </a:ext>
            </a:extLst>
          </p:cNvPr>
          <p:cNvSpPr>
            <a:spLocks noGrp="1"/>
          </p:cNvSpPr>
          <p:nvPr/>
        </p:nvSpPr>
        <p:spPr>
          <a:xfrm>
            <a:off x="762000" y="7524750"/>
            <a:ext cx="5429250" cy="571500"/>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Impact &amp; feedback</a:t>
            </a:r>
          </a:p>
        </p:txBody>
      </p:sp>
      <p:sp>
        <p:nvSpPr>
          <p:cNvPr id="7" name="Video 1 runtime">
            <a:hlinkClick r:id="rId5" tooltip="Open YouTube video"/>
            <a:extLst>
              <a:ext uri="{FF2B5EF4-FFF2-40B4-BE49-F238E27FC236}">
                <a16:creationId xmlns:a16="http://schemas.microsoft.com/office/drawing/2014/main" id="{D8D8105B-7389-44E7-B62A-01BDD3D98671}"/>
              </a:ext>
            </a:extLst>
          </p:cNvPr>
          <p:cNvSpPr>
            <a:spLocks noGrp="1"/>
          </p:cNvSpPr>
          <p:nvPr/>
        </p:nvSpPr>
        <p:spPr>
          <a:xfrm>
            <a:off x="762000" y="8305800"/>
            <a:ext cx="5429250" cy="571500"/>
          </a:xfrm>
          <a:prstGeom prst="rect">
            <a:avLst/>
          </a:prstGeom>
          <a:noFill/>
          <a:ln w="0">
            <a:noFill/>
          </a:ln>
        </p:spPr>
        <p:txBody>
          <a:bodyPr wrap="none" lIns="0" tIns="0" rIns="0" bIns="0" anchor="t">
            <a:noAutofit/>
          </a:bodyPr>
          <a:lstStyle>
            <a:defPPr algn="l">
              <a:defRPr sz="3000" b="1">
                <a:solidFill>
                  <a:srgbClr val="FFFFFF"/>
                </a:solidFill>
                <a:latin typeface="Open Sans"/>
                <a:ea typeface="Open Sans"/>
                <a:cs typeface="Open Sans"/>
              </a:defRPr>
            </a:defPPr>
            <a:lvl1pPr algn="l">
              <a:defRPr sz="3000" b="1">
                <a:solidFill>
                  <a:srgbClr val="FFFFFF"/>
                </a:solidFill>
                <a:latin typeface="Open Sans"/>
                <a:ea typeface="Open Sans"/>
                <a:cs typeface="Open Sans"/>
              </a:defRPr>
            </a:lvl1pPr>
            <a:lvl2pPr algn="l">
              <a:defRPr sz="3000" b="1">
                <a:solidFill>
                  <a:srgbClr val="FFFFFF"/>
                </a:solidFill>
                <a:latin typeface="Open Sans"/>
                <a:ea typeface="Open Sans"/>
                <a:cs typeface="Open Sans"/>
              </a:defRPr>
            </a:lvl2pPr>
            <a:lvl3pPr algn="l">
              <a:defRPr sz="3000" b="1">
                <a:solidFill>
                  <a:srgbClr val="FFFFFF"/>
                </a:solidFill>
                <a:latin typeface="Open Sans"/>
                <a:ea typeface="Open Sans"/>
                <a:cs typeface="Open Sans"/>
              </a:defRPr>
            </a:lvl3pPr>
            <a:lvl4pPr algn="l">
              <a:defRPr sz="3000" b="1">
                <a:solidFill>
                  <a:srgbClr val="FFFFFF"/>
                </a:solidFill>
                <a:latin typeface="Open Sans"/>
                <a:ea typeface="Open Sans"/>
                <a:cs typeface="Open Sans"/>
              </a:defRPr>
            </a:lvl4pPr>
            <a:lvl5pPr algn="l">
              <a:defRPr sz="3000" b="1">
                <a:solidFill>
                  <a:srgbClr val="FFFFFF"/>
                </a:solidFill>
                <a:latin typeface="Open Sans"/>
                <a:ea typeface="Open Sans"/>
                <a:cs typeface="Open Sans"/>
              </a:defRPr>
            </a:lvl5pPr>
            <a:lvl6pPr algn="l">
              <a:defRPr sz="3000" b="1">
                <a:solidFill>
                  <a:srgbClr val="FFFFFF"/>
                </a:solidFill>
                <a:latin typeface="Open Sans"/>
                <a:ea typeface="Open Sans"/>
                <a:cs typeface="Open Sans"/>
              </a:defRPr>
            </a:lvl6pPr>
            <a:lvl7pPr algn="l">
              <a:defRPr sz="3000" b="1">
                <a:solidFill>
                  <a:srgbClr val="FFFFFF"/>
                </a:solidFill>
                <a:latin typeface="Open Sans"/>
                <a:ea typeface="Open Sans"/>
                <a:cs typeface="Open Sans"/>
              </a:defRPr>
            </a:lvl7pPr>
            <a:lvl8pPr algn="l">
              <a:defRPr sz="3000" b="1">
                <a:solidFill>
                  <a:srgbClr val="FFFFFF"/>
                </a:solidFill>
                <a:latin typeface="Open Sans"/>
                <a:ea typeface="Open Sans"/>
                <a:cs typeface="Open Sans"/>
              </a:defRPr>
            </a:lvl8pPr>
            <a:lvl9pPr algn="l">
              <a:defRPr sz="3000" b="1">
                <a:solidFill>
                  <a:srgbClr val="FFFFFF"/>
                </a:solidFill>
                <a:latin typeface="Open Sans"/>
                <a:ea typeface="Open Sans"/>
                <a:cs typeface="Open Sans"/>
              </a:defRPr>
            </a:lvl9pPr>
          </a:lstStyle>
          <a:p>
            <a:pPr algn="l">
              <a:defRPr sz="3000" b="1">
                <a:solidFill>
                  <a:srgbClr val="FFFFFF"/>
                </a:solidFill>
                <a:latin typeface="Open Sans"/>
                <a:ea typeface="Open Sans"/>
                <a:cs typeface="Open Sans"/>
              </a:defRPr>
            </a:pPr>
            <a:r>
              <a:rPr sz="3000" b="1">
                <a:solidFill>
                  <a:srgbClr val="FFFFFF"/>
                </a:solidFill>
                <a:latin typeface="Open Sans"/>
                <a:ea typeface="Open Sans"/>
                <a:cs typeface="Open Sans"/>
              </a:rPr>
              <a:t>4:19</a:t>
            </a:r>
          </a:p>
        </p:txBody>
      </p:sp>
      <p:pic>
        <p:nvPicPr>
          <p:cNvPr id="8" name="Video 2 thumbnail" descr="Video 2 thumbnail">
            <a:hlinkClick r:id="rId7" tooltip="Open YouTube video"/>
            <a:extLst>
              <a:ext uri="{FF2B5EF4-FFF2-40B4-BE49-F238E27FC236}">
                <a16:creationId xmlns:a16="http://schemas.microsoft.com/office/drawing/2014/main" id="{4F803F2D-C6A0-4F7E-BAE8-09CD72B55B19}"/>
              </a:ext>
            </a:extLst>
          </p:cNvPr>
          <p:cNvPicPr>
            <a:picLocks noChangeAspect="1"/>
          </p:cNvPicPr>
          <p:nvPr/>
        </p:nvPicPr>
        <p:blipFill>
          <a:blip r:embed="rId8"/>
          <a:stretch/>
        </p:blipFill>
        <p:spPr>
          <a:xfrm>
            <a:off x="6429375" y="3286125"/>
            <a:ext cx="5429250" cy="3053953"/>
          </a:xfrm>
          <a:prstGeom prst="rect">
            <a:avLst/>
          </a:prstGeom>
        </p:spPr>
      </p:pic>
      <p:sp>
        <p:nvSpPr>
          <p:cNvPr id="9" name="Video 2 play">
            <a:hlinkClick r:id="rId7" tooltip="Open YouTube video"/>
            <a:extLst>
              <a:ext uri="{FF2B5EF4-FFF2-40B4-BE49-F238E27FC236}">
                <a16:creationId xmlns:a16="http://schemas.microsoft.com/office/drawing/2014/main" id="{0034F79A-8B65-4703-8C0C-57030222340F}"/>
              </a:ext>
            </a:extLst>
          </p:cNvPr>
          <p:cNvSpPr>
            <a:spLocks noGrp="1"/>
          </p:cNvSpPr>
          <p:nvPr/>
        </p:nvSpPr>
        <p:spPr>
          <a:xfrm rot="5400000">
            <a:off x="8791575" y="4410075"/>
            <a:ext cx="704850" cy="781050"/>
          </a:xfrm>
          <a:prstGeom prst="triangle">
            <a:avLst/>
          </a:prstGeom>
          <a:solidFill>
            <a:srgbClr val="9AFFD2"/>
          </a:solidFill>
          <a:ln w="19050">
            <a:solidFill>
              <a:srgbClr val="FFFFFF"/>
            </a:solidFill>
          </a:ln>
        </p:spPr>
      </p:sp>
      <p:sp>
        <p:nvSpPr>
          <p:cNvPr id="10" name="Video 2 title">
            <a:hlinkClick r:id="rId7" tooltip="Open YouTube video"/>
            <a:extLst>
              <a:ext uri="{FF2B5EF4-FFF2-40B4-BE49-F238E27FC236}">
                <a16:creationId xmlns:a16="http://schemas.microsoft.com/office/drawing/2014/main" id="{B7654F96-8BD1-4C1A-AA12-78883B050CB5}"/>
              </a:ext>
            </a:extLst>
          </p:cNvPr>
          <p:cNvSpPr>
            <a:spLocks noGrp="1"/>
          </p:cNvSpPr>
          <p:nvPr/>
        </p:nvSpPr>
        <p:spPr>
          <a:xfrm>
            <a:off x="6429375" y="6667500"/>
            <a:ext cx="5429250" cy="1047750"/>
          </a:xfrm>
          <a:prstGeom prst="rect">
            <a:avLst/>
          </a:prstGeom>
          <a:noFill/>
          <a:ln w="0">
            <a:noFill/>
          </a:ln>
        </p:spPr>
        <p:txBody>
          <a:bodyPr wrap="none" lIns="0" tIns="0" rIns="0" bIns="0" anchor="t">
            <a:noAutofit/>
          </a:bodyPr>
          <a:lstStyle>
            <a:defPPr algn="l">
              <a:defRPr sz="3000" b="1">
                <a:solidFill>
                  <a:srgbClr val="FFFFFF"/>
                </a:solidFill>
                <a:latin typeface="Open Sans"/>
                <a:ea typeface="Open Sans"/>
                <a:cs typeface="Open Sans"/>
              </a:defRPr>
            </a:defPPr>
            <a:lvl1pPr algn="l">
              <a:defRPr sz="3000" b="1">
                <a:solidFill>
                  <a:srgbClr val="FFFFFF"/>
                </a:solidFill>
                <a:latin typeface="Open Sans"/>
                <a:ea typeface="Open Sans"/>
                <a:cs typeface="Open Sans"/>
              </a:defRPr>
            </a:lvl1pPr>
            <a:lvl2pPr algn="l">
              <a:defRPr sz="3000" b="1">
                <a:solidFill>
                  <a:srgbClr val="FFFFFF"/>
                </a:solidFill>
                <a:latin typeface="Open Sans"/>
                <a:ea typeface="Open Sans"/>
                <a:cs typeface="Open Sans"/>
              </a:defRPr>
            </a:lvl2pPr>
            <a:lvl3pPr algn="l">
              <a:defRPr sz="3000" b="1">
                <a:solidFill>
                  <a:srgbClr val="FFFFFF"/>
                </a:solidFill>
                <a:latin typeface="Open Sans"/>
                <a:ea typeface="Open Sans"/>
                <a:cs typeface="Open Sans"/>
              </a:defRPr>
            </a:lvl3pPr>
            <a:lvl4pPr algn="l">
              <a:defRPr sz="3000" b="1">
                <a:solidFill>
                  <a:srgbClr val="FFFFFF"/>
                </a:solidFill>
                <a:latin typeface="Open Sans"/>
                <a:ea typeface="Open Sans"/>
                <a:cs typeface="Open Sans"/>
              </a:defRPr>
            </a:lvl4pPr>
            <a:lvl5pPr algn="l">
              <a:defRPr sz="3000" b="1">
                <a:solidFill>
                  <a:srgbClr val="FFFFFF"/>
                </a:solidFill>
                <a:latin typeface="Open Sans"/>
                <a:ea typeface="Open Sans"/>
                <a:cs typeface="Open Sans"/>
              </a:defRPr>
            </a:lvl5pPr>
            <a:lvl6pPr algn="l">
              <a:defRPr sz="3000" b="1">
                <a:solidFill>
                  <a:srgbClr val="FFFFFF"/>
                </a:solidFill>
                <a:latin typeface="Open Sans"/>
                <a:ea typeface="Open Sans"/>
                <a:cs typeface="Open Sans"/>
              </a:defRPr>
            </a:lvl6pPr>
            <a:lvl7pPr algn="l">
              <a:defRPr sz="3000" b="1">
                <a:solidFill>
                  <a:srgbClr val="FFFFFF"/>
                </a:solidFill>
                <a:latin typeface="Open Sans"/>
                <a:ea typeface="Open Sans"/>
                <a:cs typeface="Open Sans"/>
              </a:defRPr>
            </a:lvl7pPr>
            <a:lvl8pPr algn="l">
              <a:defRPr sz="3000" b="1">
                <a:solidFill>
                  <a:srgbClr val="FFFFFF"/>
                </a:solidFill>
                <a:latin typeface="Open Sans"/>
                <a:ea typeface="Open Sans"/>
                <a:cs typeface="Open Sans"/>
              </a:defRPr>
            </a:lvl8pPr>
            <a:lvl9pPr algn="l">
              <a:defRPr sz="3000" b="1">
                <a:solidFill>
                  <a:srgbClr val="FFFFFF"/>
                </a:solidFill>
                <a:latin typeface="Open Sans"/>
                <a:ea typeface="Open Sans"/>
                <a:cs typeface="Open Sans"/>
              </a:defRPr>
            </a:lvl9pPr>
          </a:lstStyle>
          <a:p>
            <a:pPr algn="l">
              <a:defRPr sz="3000" b="1">
                <a:solidFill>
                  <a:srgbClr val="FFFFFF"/>
                </a:solidFill>
                <a:latin typeface="Open Sans"/>
                <a:ea typeface="Open Sans"/>
                <a:cs typeface="Open Sans"/>
              </a:defRPr>
            </a:pPr>
            <a:r>
              <a:rPr sz="3000" b="1">
                <a:solidFill>
                  <a:srgbClr val="FFFFFF"/>
                </a:solidFill>
                <a:latin typeface="Open Sans"/>
                <a:ea typeface="Open Sans"/>
                <a:cs typeface="Open Sans"/>
              </a:rPr>
              <a:t>Clarity vs. Style</a:t>
            </a:r>
          </a:p>
        </p:txBody>
      </p:sp>
      <p:sp>
        <p:nvSpPr>
          <p:cNvPr id="11" name="Video 2 lesson">
            <a:extLst>
              <a:ext uri="{FF2B5EF4-FFF2-40B4-BE49-F238E27FC236}">
                <a16:creationId xmlns:a16="http://schemas.microsoft.com/office/drawing/2014/main" id="{A96030CD-A681-4076-806A-B692CB724D75}"/>
              </a:ext>
            </a:extLst>
          </p:cNvPr>
          <p:cNvSpPr>
            <a:spLocks noGrp="1"/>
          </p:cNvSpPr>
          <p:nvPr/>
        </p:nvSpPr>
        <p:spPr>
          <a:xfrm>
            <a:off x="6429375" y="7524750"/>
            <a:ext cx="5429250" cy="571500"/>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Readable style</a:t>
            </a:r>
          </a:p>
        </p:txBody>
      </p:sp>
      <p:sp>
        <p:nvSpPr>
          <p:cNvPr id="12" name="Video 2 runtime">
            <a:hlinkClick r:id="rId7" tooltip="Open YouTube video"/>
            <a:extLst>
              <a:ext uri="{FF2B5EF4-FFF2-40B4-BE49-F238E27FC236}">
                <a16:creationId xmlns:a16="http://schemas.microsoft.com/office/drawing/2014/main" id="{AFD39B3B-35E2-47EF-B83A-B9D41E4B6DF4}"/>
              </a:ext>
            </a:extLst>
          </p:cNvPr>
          <p:cNvSpPr>
            <a:spLocks noGrp="1"/>
          </p:cNvSpPr>
          <p:nvPr/>
        </p:nvSpPr>
        <p:spPr>
          <a:xfrm>
            <a:off x="6429375" y="8305800"/>
            <a:ext cx="5429250" cy="571500"/>
          </a:xfrm>
          <a:prstGeom prst="rect">
            <a:avLst/>
          </a:prstGeom>
          <a:noFill/>
          <a:ln w="0">
            <a:noFill/>
          </a:ln>
        </p:spPr>
        <p:txBody>
          <a:bodyPr wrap="none" lIns="0" tIns="0" rIns="0" bIns="0" anchor="t">
            <a:noAutofit/>
          </a:bodyPr>
          <a:lstStyle>
            <a:defPPr algn="l">
              <a:defRPr sz="3000" b="1">
                <a:solidFill>
                  <a:srgbClr val="FFFFFF"/>
                </a:solidFill>
                <a:latin typeface="Open Sans"/>
                <a:ea typeface="Open Sans"/>
                <a:cs typeface="Open Sans"/>
              </a:defRPr>
            </a:defPPr>
            <a:lvl1pPr algn="l">
              <a:defRPr sz="3000" b="1">
                <a:solidFill>
                  <a:srgbClr val="FFFFFF"/>
                </a:solidFill>
                <a:latin typeface="Open Sans"/>
                <a:ea typeface="Open Sans"/>
                <a:cs typeface="Open Sans"/>
              </a:defRPr>
            </a:lvl1pPr>
            <a:lvl2pPr algn="l">
              <a:defRPr sz="3000" b="1">
                <a:solidFill>
                  <a:srgbClr val="FFFFFF"/>
                </a:solidFill>
                <a:latin typeface="Open Sans"/>
                <a:ea typeface="Open Sans"/>
                <a:cs typeface="Open Sans"/>
              </a:defRPr>
            </a:lvl2pPr>
            <a:lvl3pPr algn="l">
              <a:defRPr sz="3000" b="1">
                <a:solidFill>
                  <a:srgbClr val="FFFFFF"/>
                </a:solidFill>
                <a:latin typeface="Open Sans"/>
                <a:ea typeface="Open Sans"/>
                <a:cs typeface="Open Sans"/>
              </a:defRPr>
            </a:lvl3pPr>
            <a:lvl4pPr algn="l">
              <a:defRPr sz="3000" b="1">
                <a:solidFill>
                  <a:srgbClr val="FFFFFF"/>
                </a:solidFill>
                <a:latin typeface="Open Sans"/>
                <a:ea typeface="Open Sans"/>
                <a:cs typeface="Open Sans"/>
              </a:defRPr>
            </a:lvl4pPr>
            <a:lvl5pPr algn="l">
              <a:defRPr sz="3000" b="1">
                <a:solidFill>
                  <a:srgbClr val="FFFFFF"/>
                </a:solidFill>
                <a:latin typeface="Open Sans"/>
                <a:ea typeface="Open Sans"/>
                <a:cs typeface="Open Sans"/>
              </a:defRPr>
            </a:lvl5pPr>
            <a:lvl6pPr algn="l">
              <a:defRPr sz="3000" b="1">
                <a:solidFill>
                  <a:srgbClr val="FFFFFF"/>
                </a:solidFill>
                <a:latin typeface="Open Sans"/>
                <a:ea typeface="Open Sans"/>
                <a:cs typeface="Open Sans"/>
              </a:defRPr>
            </a:lvl6pPr>
            <a:lvl7pPr algn="l">
              <a:defRPr sz="3000" b="1">
                <a:solidFill>
                  <a:srgbClr val="FFFFFF"/>
                </a:solidFill>
                <a:latin typeface="Open Sans"/>
                <a:ea typeface="Open Sans"/>
                <a:cs typeface="Open Sans"/>
              </a:defRPr>
            </a:lvl7pPr>
            <a:lvl8pPr algn="l">
              <a:defRPr sz="3000" b="1">
                <a:solidFill>
                  <a:srgbClr val="FFFFFF"/>
                </a:solidFill>
                <a:latin typeface="Open Sans"/>
                <a:ea typeface="Open Sans"/>
                <a:cs typeface="Open Sans"/>
              </a:defRPr>
            </a:lvl8pPr>
            <a:lvl9pPr algn="l">
              <a:defRPr sz="3000" b="1">
                <a:solidFill>
                  <a:srgbClr val="FFFFFF"/>
                </a:solidFill>
                <a:latin typeface="Open Sans"/>
                <a:ea typeface="Open Sans"/>
                <a:cs typeface="Open Sans"/>
              </a:defRPr>
            </a:lvl9pPr>
          </a:lstStyle>
          <a:p>
            <a:pPr algn="l">
              <a:defRPr sz="3000" b="1">
                <a:solidFill>
                  <a:srgbClr val="FFFFFF"/>
                </a:solidFill>
                <a:latin typeface="Open Sans"/>
                <a:ea typeface="Open Sans"/>
                <a:cs typeface="Open Sans"/>
              </a:defRPr>
            </a:pPr>
            <a:r>
              <a:rPr sz="3000" b="1">
                <a:solidFill>
                  <a:srgbClr val="FFFFFF"/>
                </a:solidFill>
                <a:latin typeface="Open Sans"/>
                <a:ea typeface="Open Sans"/>
                <a:cs typeface="Open Sans"/>
              </a:rPr>
              <a:t>3:20</a:t>
            </a:r>
          </a:p>
        </p:txBody>
      </p:sp>
      <p:pic>
        <p:nvPicPr>
          <p:cNvPr id="13" name="Video 3 thumbnail" descr="Video 3 thumbnail">
            <a:hlinkClick r:id="rId9" tooltip="Open YouTube video"/>
            <a:extLst>
              <a:ext uri="{FF2B5EF4-FFF2-40B4-BE49-F238E27FC236}">
                <a16:creationId xmlns:a16="http://schemas.microsoft.com/office/drawing/2014/main" id="{18D7CC8A-D1F1-4810-A15F-4F1B361C08F8}"/>
              </a:ext>
            </a:extLst>
          </p:cNvPr>
          <p:cNvPicPr>
            <a:picLocks noChangeAspect="1"/>
          </p:cNvPicPr>
          <p:nvPr/>
        </p:nvPicPr>
        <p:blipFill>
          <a:blip r:embed="rId10"/>
          <a:stretch/>
        </p:blipFill>
        <p:spPr>
          <a:xfrm>
            <a:off x="12096750" y="3286125"/>
            <a:ext cx="5429250" cy="3053953"/>
          </a:xfrm>
          <a:prstGeom prst="rect">
            <a:avLst/>
          </a:prstGeom>
        </p:spPr>
      </p:pic>
      <p:sp>
        <p:nvSpPr>
          <p:cNvPr id="14" name="Video 3 play">
            <a:hlinkClick r:id="rId9" tooltip="Open YouTube video"/>
            <a:extLst>
              <a:ext uri="{FF2B5EF4-FFF2-40B4-BE49-F238E27FC236}">
                <a16:creationId xmlns:a16="http://schemas.microsoft.com/office/drawing/2014/main" id="{20322299-DBF7-4DF0-83F5-0F78D6293CB6}"/>
              </a:ext>
            </a:extLst>
          </p:cNvPr>
          <p:cNvSpPr>
            <a:spLocks noGrp="1"/>
          </p:cNvSpPr>
          <p:nvPr/>
        </p:nvSpPr>
        <p:spPr>
          <a:xfrm rot="5400000">
            <a:off x="14458950" y="4410075"/>
            <a:ext cx="704850" cy="781050"/>
          </a:xfrm>
          <a:prstGeom prst="triangle">
            <a:avLst/>
          </a:prstGeom>
          <a:solidFill>
            <a:srgbClr val="9AFFD2"/>
          </a:solidFill>
          <a:ln w="19050">
            <a:solidFill>
              <a:srgbClr val="FFFFFF"/>
            </a:solidFill>
          </a:ln>
        </p:spPr>
      </p:sp>
      <p:sp>
        <p:nvSpPr>
          <p:cNvPr id="15" name="Video 3 title">
            <a:hlinkClick r:id="rId9" tooltip="Open YouTube video"/>
            <a:extLst>
              <a:ext uri="{FF2B5EF4-FFF2-40B4-BE49-F238E27FC236}">
                <a16:creationId xmlns:a16="http://schemas.microsoft.com/office/drawing/2014/main" id="{B000B1EA-6681-4D9B-B09B-6B78D8A50FB0}"/>
              </a:ext>
            </a:extLst>
          </p:cNvPr>
          <p:cNvSpPr>
            <a:spLocks noGrp="1"/>
          </p:cNvSpPr>
          <p:nvPr/>
        </p:nvSpPr>
        <p:spPr>
          <a:xfrm>
            <a:off x="12096750" y="6667500"/>
            <a:ext cx="5429250" cy="1047750"/>
          </a:xfrm>
          <a:prstGeom prst="rect">
            <a:avLst/>
          </a:prstGeom>
          <a:noFill/>
          <a:ln w="0">
            <a:noFill/>
          </a:ln>
        </p:spPr>
        <p:txBody>
          <a:bodyPr wrap="none" lIns="0" tIns="0" rIns="0" bIns="0" anchor="t">
            <a:noAutofit/>
          </a:bodyPr>
          <a:lstStyle>
            <a:defPPr algn="l">
              <a:defRPr sz="3000" b="1">
                <a:solidFill>
                  <a:srgbClr val="FFFFFF"/>
                </a:solidFill>
                <a:latin typeface="Open Sans"/>
                <a:ea typeface="Open Sans"/>
                <a:cs typeface="Open Sans"/>
              </a:defRPr>
            </a:defPPr>
            <a:lvl1pPr algn="l">
              <a:defRPr sz="3000" b="1">
                <a:solidFill>
                  <a:srgbClr val="FFFFFF"/>
                </a:solidFill>
                <a:latin typeface="Open Sans"/>
                <a:ea typeface="Open Sans"/>
                <a:cs typeface="Open Sans"/>
              </a:defRPr>
            </a:lvl1pPr>
            <a:lvl2pPr algn="l">
              <a:defRPr sz="3000" b="1">
                <a:solidFill>
                  <a:srgbClr val="FFFFFF"/>
                </a:solidFill>
                <a:latin typeface="Open Sans"/>
                <a:ea typeface="Open Sans"/>
                <a:cs typeface="Open Sans"/>
              </a:defRPr>
            </a:lvl2pPr>
            <a:lvl3pPr algn="l">
              <a:defRPr sz="3000" b="1">
                <a:solidFill>
                  <a:srgbClr val="FFFFFF"/>
                </a:solidFill>
                <a:latin typeface="Open Sans"/>
                <a:ea typeface="Open Sans"/>
                <a:cs typeface="Open Sans"/>
              </a:defRPr>
            </a:lvl3pPr>
            <a:lvl4pPr algn="l">
              <a:defRPr sz="3000" b="1">
                <a:solidFill>
                  <a:srgbClr val="FFFFFF"/>
                </a:solidFill>
                <a:latin typeface="Open Sans"/>
                <a:ea typeface="Open Sans"/>
                <a:cs typeface="Open Sans"/>
              </a:defRPr>
            </a:lvl4pPr>
            <a:lvl5pPr algn="l">
              <a:defRPr sz="3000" b="1">
                <a:solidFill>
                  <a:srgbClr val="FFFFFF"/>
                </a:solidFill>
                <a:latin typeface="Open Sans"/>
                <a:ea typeface="Open Sans"/>
                <a:cs typeface="Open Sans"/>
              </a:defRPr>
            </a:lvl5pPr>
            <a:lvl6pPr algn="l">
              <a:defRPr sz="3000" b="1">
                <a:solidFill>
                  <a:srgbClr val="FFFFFF"/>
                </a:solidFill>
                <a:latin typeface="Open Sans"/>
                <a:ea typeface="Open Sans"/>
                <a:cs typeface="Open Sans"/>
              </a:defRPr>
            </a:lvl6pPr>
            <a:lvl7pPr algn="l">
              <a:defRPr sz="3000" b="1">
                <a:solidFill>
                  <a:srgbClr val="FFFFFF"/>
                </a:solidFill>
                <a:latin typeface="Open Sans"/>
                <a:ea typeface="Open Sans"/>
                <a:cs typeface="Open Sans"/>
              </a:defRPr>
            </a:lvl7pPr>
            <a:lvl8pPr algn="l">
              <a:defRPr sz="3000" b="1">
                <a:solidFill>
                  <a:srgbClr val="FFFFFF"/>
                </a:solidFill>
                <a:latin typeface="Open Sans"/>
                <a:ea typeface="Open Sans"/>
                <a:cs typeface="Open Sans"/>
              </a:defRPr>
            </a:lvl8pPr>
            <a:lvl9pPr algn="l">
              <a:defRPr sz="3000" b="1">
                <a:solidFill>
                  <a:srgbClr val="FFFFFF"/>
                </a:solidFill>
                <a:latin typeface="Open Sans"/>
                <a:ea typeface="Open Sans"/>
                <a:cs typeface="Open Sans"/>
              </a:defRPr>
            </a:lvl9pPr>
          </a:lstStyle>
          <a:p>
            <a:pPr algn="l">
              <a:defRPr sz="3000" b="1">
                <a:solidFill>
                  <a:srgbClr val="FFFFFF"/>
                </a:solidFill>
                <a:latin typeface="Open Sans"/>
                <a:ea typeface="Open Sans"/>
                <a:cs typeface="Open Sans"/>
              </a:defRPr>
            </a:pPr>
            <a:r>
              <a:rPr sz="3000" b="1">
                <a:solidFill>
                  <a:srgbClr val="FFFFFF"/>
                </a:solidFill>
                <a:latin typeface="Open Sans"/>
                <a:ea typeface="Open Sans"/>
                <a:cs typeface="Open Sans"/>
              </a:rPr>
              <a:t>Jump Physics</a:t>
            </a:r>
          </a:p>
        </p:txBody>
      </p:sp>
      <p:sp>
        <p:nvSpPr>
          <p:cNvPr id="16" name="Video 3 lesson">
            <a:extLst>
              <a:ext uri="{FF2B5EF4-FFF2-40B4-BE49-F238E27FC236}">
                <a16:creationId xmlns:a16="http://schemas.microsoft.com/office/drawing/2014/main" id="{EE95A029-7E2D-4F6D-8FF7-ADF60BFAAA4A}"/>
              </a:ext>
            </a:extLst>
          </p:cNvPr>
          <p:cNvSpPr>
            <a:spLocks noGrp="1"/>
          </p:cNvSpPr>
          <p:nvPr/>
        </p:nvSpPr>
        <p:spPr>
          <a:xfrm>
            <a:off x="12096750" y="7524750"/>
            <a:ext cx="5429250" cy="571500"/>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Movement &amp; control</a:t>
            </a:r>
          </a:p>
        </p:txBody>
      </p:sp>
      <p:sp>
        <p:nvSpPr>
          <p:cNvPr id="17" name="Video 3 runtime">
            <a:hlinkClick r:id="rId9" tooltip="Open YouTube video"/>
            <a:extLst>
              <a:ext uri="{FF2B5EF4-FFF2-40B4-BE49-F238E27FC236}">
                <a16:creationId xmlns:a16="http://schemas.microsoft.com/office/drawing/2014/main" id="{9C878F79-CFD1-4832-A777-187AE6B65F13}"/>
              </a:ext>
            </a:extLst>
          </p:cNvPr>
          <p:cNvSpPr>
            <a:spLocks noGrp="1"/>
          </p:cNvSpPr>
          <p:nvPr/>
        </p:nvSpPr>
        <p:spPr>
          <a:xfrm>
            <a:off x="12096750" y="8305800"/>
            <a:ext cx="5429250" cy="571500"/>
          </a:xfrm>
          <a:prstGeom prst="rect">
            <a:avLst/>
          </a:prstGeom>
          <a:noFill/>
          <a:ln w="0">
            <a:noFill/>
          </a:ln>
        </p:spPr>
        <p:txBody>
          <a:bodyPr wrap="none" lIns="0" tIns="0" rIns="0" bIns="0" anchor="t">
            <a:noAutofit/>
          </a:bodyPr>
          <a:lstStyle>
            <a:defPPr algn="l">
              <a:defRPr sz="3000" b="1">
                <a:solidFill>
                  <a:srgbClr val="FFFFFF"/>
                </a:solidFill>
                <a:latin typeface="Open Sans"/>
                <a:ea typeface="Open Sans"/>
                <a:cs typeface="Open Sans"/>
              </a:defRPr>
            </a:defPPr>
            <a:lvl1pPr algn="l">
              <a:defRPr sz="3000" b="1">
                <a:solidFill>
                  <a:srgbClr val="FFFFFF"/>
                </a:solidFill>
                <a:latin typeface="Open Sans"/>
                <a:ea typeface="Open Sans"/>
                <a:cs typeface="Open Sans"/>
              </a:defRPr>
            </a:lvl1pPr>
            <a:lvl2pPr algn="l">
              <a:defRPr sz="3000" b="1">
                <a:solidFill>
                  <a:srgbClr val="FFFFFF"/>
                </a:solidFill>
                <a:latin typeface="Open Sans"/>
                <a:ea typeface="Open Sans"/>
                <a:cs typeface="Open Sans"/>
              </a:defRPr>
            </a:lvl2pPr>
            <a:lvl3pPr algn="l">
              <a:defRPr sz="3000" b="1">
                <a:solidFill>
                  <a:srgbClr val="FFFFFF"/>
                </a:solidFill>
                <a:latin typeface="Open Sans"/>
                <a:ea typeface="Open Sans"/>
                <a:cs typeface="Open Sans"/>
              </a:defRPr>
            </a:lvl3pPr>
            <a:lvl4pPr algn="l">
              <a:defRPr sz="3000" b="1">
                <a:solidFill>
                  <a:srgbClr val="FFFFFF"/>
                </a:solidFill>
                <a:latin typeface="Open Sans"/>
                <a:ea typeface="Open Sans"/>
                <a:cs typeface="Open Sans"/>
              </a:defRPr>
            </a:lvl4pPr>
            <a:lvl5pPr algn="l">
              <a:defRPr sz="3000" b="1">
                <a:solidFill>
                  <a:srgbClr val="FFFFFF"/>
                </a:solidFill>
                <a:latin typeface="Open Sans"/>
                <a:ea typeface="Open Sans"/>
                <a:cs typeface="Open Sans"/>
              </a:defRPr>
            </a:lvl5pPr>
            <a:lvl6pPr algn="l">
              <a:defRPr sz="3000" b="1">
                <a:solidFill>
                  <a:srgbClr val="FFFFFF"/>
                </a:solidFill>
                <a:latin typeface="Open Sans"/>
                <a:ea typeface="Open Sans"/>
                <a:cs typeface="Open Sans"/>
              </a:defRPr>
            </a:lvl6pPr>
            <a:lvl7pPr algn="l">
              <a:defRPr sz="3000" b="1">
                <a:solidFill>
                  <a:srgbClr val="FFFFFF"/>
                </a:solidFill>
                <a:latin typeface="Open Sans"/>
                <a:ea typeface="Open Sans"/>
                <a:cs typeface="Open Sans"/>
              </a:defRPr>
            </a:lvl7pPr>
            <a:lvl8pPr algn="l">
              <a:defRPr sz="3000" b="1">
                <a:solidFill>
                  <a:srgbClr val="FFFFFF"/>
                </a:solidFill>
                <a:latin typeface="Open Sans"/>
                <a:ea typeface="Open Sans"/>
                <a:cs typeface="Open Sans"/>
              </a:defRPr>
            </a:lvl8pPr>
            <a:lvl9pPr algn="l">
              <a:defRPr sz="3000" b="1">
                <a:solidFill>
                  <a:srgbClr val="FFFFFF"/>
                </a:solidFill>
                <a:latin typeface="Open Sans"/>
                <a:ea typeface="Open Sans"/>
                <a:cs typeface="Open Sans"/>
              </a:defRPr>
            </a:lvl9pPr>
          </a:lstStyle>
          <a:p>
            <a:pPr algn="l">
              <a:defRPr sz="3000" b="1">
                <a:solidFill>
                  <a:srgbClr val="FFFFFF"/>
                </a:solidFill>
                <a:latin typeface="Open Sans"/>
                <a:ea typeface="Open Sans"/>
                <a:cs typeface="Open Sans"/>
              </a:defRPr>
            </a:pPr>
            <a:r>
              <a:rPr sz="3000" b="1">
                <a:solidFill>
                  <a:srgbClr val="FFFFFF"/>
                </a:solidFill>
                <a:latin typeface="Open Sans"/>
                <a:ea typeface="Open Sans"/>
                <a:cs typeface="Open Sans"/>
              </a:rPr>
              <a:t>4:52</a:t>
            </a:r>
          </a:p>
        </p:txBody>
      </p:sp>
    </p:spTree>
    <p:extLst>
      <p:ext uri="{BB962C8B-B14F-4D97-AF65-F5344CB8AC3E}">
        <p14:creationId xmlns:p14="http://schemas.microsoft.com/office/powerpoint/2010/main" val="1064160019"/>
      </p:ext>
    </p:extLst>
  </p:cSld>
  <p:clrMapOvr>
    <a:masterClrMapping/>
  </p:clrMapOvr>
</p:sld>
</file>

<file path=ppt/slides/book_slide11.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19" name="Template clouds 19"/>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18" name="Template clouds 18"/>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7" name="Template grass 17"/>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6" name="Template grass 16"/>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5" name="Template grass 15"/>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4" name="Slide title">
            <a:extLst>
              <a:ext uri="{FF2B5EF4-FFF2-40B4-BE49-F238E27FC236}">
                <a16:creationId xmlns:a16="http://schemas.microsoft.com/office/drawing/2014/main" id="{EDD54204-3174-4C50-8F08-9D9BC6B80D02}"/>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WHAT LOOKS DANGEROUS?</a:t>
            </a:r>
          </a:p>
        </p:txBody>
      </p:sp>
      <p:sp>
        <p:nvSpPr>
          <p:cNvPr id="2" name="Source credit">
            <a:extLst>
              <a:ext uri="{FF2B5EF4-FFF2-40B4-BE49-F238E27FC236}">
                <a16:creationId xmlns:a16="http://schemas.microsoft.com/office/drawing/2014/main" id="{FE267D6B-89EC-49AD-8080-89B5C8D34995}"/>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0">
                <a:solidFill>
                  <a:srgbClr val="FFFFFF"/>
                </a:solidFill>
                <a:latin typeface="Open Sans"/>
                <a:ea typeface="Open Sans"/>
                <a:cs typeface="Open Sans"/>
              </a:rPr>
              <a:t>Celeste / Maddy Makes Games     ·     </a:t>
            </a:r>
            <a:r>
              <a:rPr sz="2000" b="1">
                <a:solidFill>
                  <a:srgbClr val="9AFFD2"/>
                </a:solidFill>
                <a:latin typeface="Open Sans"/>
                <a:ea typeface="Open Sans"/>
                <a:cs typeface="Open Sans"/>
              </a:rPr>
              <a:t>Book idea: </a:t>
            </a:r>
            <a:r>
              <a:rPr sz="2000" b="0">
                <a:solidFill>
                  <a:srgbClr val="FFFFFF"/>
                </a:solidFill>
                <a:latin typeface="Open Sans"/>
                <a:ea typeface="Open Sans"/>
                <a:cs typeface="Open Sans"/>
              </a:rPr>
              <a:t>100 Things Every Designer Needs to Know About People</a:t>
            </a:r>
          </a:p>
        </p:txBody>
      </p:sp>
      <p:sp>
        <p:nvSpPr>
          <p:cNvPr id="3" name="Vote prompt">
            <a:extLst>
              <a:ext uri="{FF2B5EF4-FFF2-40B4-BE49-F238E27FC236}">
                <a16:creationId xmlns:a16="http://schemas.microsoft.com/office/drawing/2014/main" id="{510812E5-FF91-4018-8203-95AE13D6A248}"/>
              </a:ext>
            </a:extLst>
          </p:cNvPr>
          <p:cNvSpPr>
            <a:spLocks noGrp="1"/>
          </p:cNvSpPr>
          <p:nvPr/>
        </p:nvSpPr>
        <p:spPr>
          <a:xfrm>
            <a:off x="13144500" y="2809875"/>
            <a:ext cx="4191000" cy="619125"/>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LECTURER EXAMPLE</a:t>
            </a:r>
          </a:p>
        </p:txBody>
      </p:sp>
      <p:sp>
        <p:nvSpPr>
          <p:cNvPr id="4" name="Choice 1">
            <a:extLst>
              <a:ext uri="{FF2B5EF4-FFF2-40B4-BE49-F238E27FC236}">
                <a16:creationId xmlns:a16="http://schemas.microsoft.com/office/drawing/2014/main" id="{6FB28BC9-6B0E-441D-ADA4-3F31569D78C3}"/>
              </a:ext>
            </a:extLst>
          </p:cNvPr>
          <p:cNvSpPr>
            <a:spLocks noGrp="1"/>
          </p:cNvSpPr>
          <p:nvPr/>
        </p:nvSpPr>
        <p:spPr>
          <a:xfrm>
            <a:off x="13144500" y="381000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1  Spikes</a:t>
            </a:r>
          </a:p>
        </p:txBody>
      </p:sp>
      <p:sp>
        <p:nvSpPr>
          <p:cNvPr id="5" name="Choice 2">
            <a:extLst>
              <a:ext uri="{FF2B5EF4-FFF2-40B4-BE49-F238E27FC236}">
                <a16:creationId xmlns:a16="http://schemas.microsoft.com/office/drawing/2014/main" id="{6D1B325C-2941-449E-AA76-3136C52E8420}"/>
              </a:ext>
            </a:extLst>
          </p:cNvPr>
          <p:cNvSpPr>
            <a:spLocks noGrp="1"/>
          </p:cNvSpPr>
          <p:nvPr/>
        </p:nvSpPr>
        <p:spPr>
          <a:xfrm>
            <a:off x="13144500" y="4905375"/>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2  Snow</a:t>
            </a:r>
          </a:p>
        </p:txBody>
      </p:sp>
      <p:sp>
        <p:nvSpPr>
          <p:cNvPr id="6" name="Choice 3">
            <a:extLst>
              <a:ext uri="{FF2B5EF4-FFF2-40B4-BE49-F238E27FC236}">
                <a16:creationId xmlns:a16="http://schemas.microsoft.com/office/drawing/2014/main" id="{95DF3514-F9E2-406D-A22B-915A9465AE33}"/>
              </a:ext>
            </a:extLst>
          </p:cNvPr>
          <p:cNvSpPr>
            <a:spLocks noGrp="1"/>
          </p:cNvSpPr>
          <p:nvPr/>
        </p:nvSpPr>
        <p:spPr>
          <a:xfrm>
            <a:off x="13144500" y="600075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3  Both</a:t>
            </a:r>
          </a:p>
        </p:txBody>
      </p:sp>
      <p:pic>
        <p:nvPicPr>
          <p:cNvPr id="7" name="celeste-dash-and-spikes question image" descr="celeste-dash-and-spikes question image">
            <a:extLst>
              <a:ext uri="{FF2B5EF4-FFF2-40B4-BE49-F238E27FC236}">
                <a16:creationId xmlns:a16="http://schemas.microsoft.com/office/drawing/2014/main" id="{8064673B-D5A4-41E3-A2B4-7554BB0F1F0B}"/>
              </a:ext>
            </a:extLst>
          </p:cNvPr>
          <p:cNvPicPr>
            <a:picLocks noChangeAspect="1"/>
          </p:cNvPicPr>
          <p:nvPr/>
        </p:nvPicPr>
        <p:blipFill>
          <a:blip r:embed="rId5"/>
          <a:stretch/>
        </p:blipFill>
        <p:spPr>
          <a:xfrm>
            <a:off x="762000" y="2714625"/>
            <a:ext cx="11049000" cy="6215063"/>
          </a:xfrm>
          <a:prstGeom prst="rect">
            <a:avLst/>
          </a:prstGeom>
        </p:spPr>
      </p:pic>
      <p:sp>
        <p:nvSpPr>
          <p:cNvPr id="8" name="celeste-dash-and-spikes left-spike-row halo">
            <a:extLst>
              <a:ext uri="{FF2B5EF4-FFF2-40B4-BE49-F238E27FC236}">
                <a16:creationId xmlns:a16="http://schemas.microsoft.com/office/drawing/2014/main" id="{7F2ABC51-52C4-470E-AFD9-835B006A8D73}"/>
              </a:ext>
            </a:extLst>
          </p:cNvPr>
          <p:cNvSpPr>
            <a:spLocks noGrp="1"/>
          </p:cNvSpPr>
          <p:nvPr/>
        </p:nvSpPr>
        <p:spPr>
          <a:xfrm>
            <a:off x="3455194" y="4394994"/>
            <a:ext cx="1783953" cy="356791"/>
          </a:xfrm>
          <a:prstGeom prst="roundRect">
            <a:avLst>
              <a:gd name="adj" fmla="val 21357"/>
            </a:avLst>
          </a:prstGeom>
          <a:noFill/>
          <a:ln w="69056">
            <a:solidFill>
              <a:srgbClr val="080912"/>
            </a:solidFill>
          </a:ln>
        </p:spPr>
      </p:sp>
      <p:sp>
        <p:nvSpPr>
          <p:cNvPr id="9" name="celeste-dash-and-spikes left-spike-row focus">
            <a:extLst>
              <a:ext uri="{FF2B5EF4-FFF2-40B4-BE49-F238E27FC236}">
                <a16:creationId xmlns:a16="http://schemas.microsoft.com/office/drawing/2014/main" id="{24DD6391-F1ED-4CB2-AA40-AC6464304EF7}"/>
              </a:ext>
            </a:extLst>
          </p:cNvPr>
          <p:cNvSpPr>
            <a:spLocks noGrp="1"/>
          </p:cNvSpPr>
          <p:nvPr/>
        </p:nvSpPr>
        <p:spPr>
          <a:xfrm>
            <a:off x="3455194" y="4394994"/>
            <a:ext cx="1783953" cy="356791"/>
          </a:xfrm>
          <a:prstGeom prst="roundRect">
            <a:avLst>
              <a:gd name="adj" fmla="val 21357"/>
            </a:avLst>
          </a:prstGeom>
          <a:noFill/>
          <a:ln w="34528">
            <a:solidFill>
              <a:srgbClr val="9AFFD2"/>
            </a:solidFill>
          </a:ln>
        </p:spPr>
      </p:sp>
      <p:sp>
        <p:nvSpPr>
          <p:cNvPr id="10" name="celeste-dash-and-spikes upper-right-spike-row halo">
            <a:extLst>
              <a:ext uri="{FF2B5EF4-FFF2-40B4-BE49-F238E27FC236}">
                <a16:creationId xmlns:a16="http://schemas.microsoft.com/office/drawing/2014/main" id="{D8A5271A-7854-4768-89BF-575AC604D058}"/>
              </a:ext>
            </a:extLst>
          </p:cNvPr>
          <p:cNvSpPr>
            <a:spLocks noGrp="1"/>
          </p:cNvSpPr>
          <p:nvPr/>
        </p:nvSpPr>
        <p:spPr>
          <a:xfrm>
            <a:off x="7322344" y="3842544"/>
            <a:ext cx="1243013" cy="356791"/>
          </a:xfrm>
          <a:prstGeom prst="roundRect">
            <a:avLst>
              <a:gd name="adj" fmla="val 21357"/>
            </a:avLst>
          </a:prstGeom>
          <a:noFill/>
          <a:ln w="69056">
            <a:solidFill>
              <a:srgbClr val="080912"/>
            </a:solidFill>
          </a:ln>
        </p:spPr>
      </p:sp>
      <p:sp>
        <p:nvSpPr>
          <p:cNvPr id="11" name="celeste-dash-and-spikes upper-right-spike-row focus">
            <a:extLst>
              <a:ext uri="{FF2B5EF4-FFF2-40B4-BE49-F238E27FC236}">
                <a16:creationId xmlns:a16="http://schemas.microsoft.com/office/drawing/2014/main" id="{821BBE2A-E50C-42C6-9829-E435B8F1C9C7}"/>
              </a:ext>
            </a:extLst>
          </p:cNvPr>
          <p:cNvSpPr>
            <a:spLocks noGrp="1"/>
          </p:cNvSpPr>
          <p:nvPr/>
        </p:nvSpPr>
        <p:spPr>
          <a:xfrm>
            <a:off x="7322344" y="3842544"/>
            <a:ext cx="1243013" cy="356791"/>
          </a:xfrm>
          <a:prstGeom prst="roundRect">
            <a:avLst>
              <a:gd name="adj" fmla="val 21357"/>
            </a:avLst>
          </a:prstGeom>
          <a:noFill/>
          <a:ln w="34528">
            <a:solidFill>
              <a:srgbClr val="9AFFD2"/>
            </a:solidFill>
          </a:ln>
        </p:spPr>
      </p:sp>
      <p:sp>
        <p:nvSpPr>
          <p:cNvPr id="12" name="Answer">
            <a:extLst>
              <a:ext uri="{FF2B5EF4-FFF2-40B4-BE49-F238E27FC236}">
                <a16:creationId xmlns:a16="http://schemas.microsoft.com/office/drawing/2014/main" id="{36D8D949-B669-4D09-A9FD-54DF90D0287B}"/>
              </a:ext>
            </a:extLst>
          </p:cNvPr>
          <p:cNvSpPr>
            <a:spLocks noGrp="1"/>
          </p:cNvSpPr>
          <p:nvPr/>
        </p:nvSpPr>
        <p:spPr>
          <a:xfrm>
            <a:off x="13144500" y="7239000"/>
            <a:ext cx="4191000" cy="571500"/>
          </a:xfrm>
          <a:prstGeom prst="rect">
            <a:avLst/>
          </a:prstGeom>
          <a:noFill/>
          <a:ln w="0">
            <a:noFill/>
          </a:ln>
        </p:spPr>
        <p:txBody>
          <a:bodyPr wrap="none" lIns="0" tIns="0" rIns="0" bIns="0" anchor="t">
            <a:noAutofit/>
          </a:bodyPr>
          <a:lstStyle>
            <a:defPPr algn="l">
              <a:defRPr sz="2850" b="1">
                <a:solidFill>
                  <a:srgbClr val="9AFFD2"/>
                </a:solidFill>
                <a:latin typeface="Open Sans"/>
                <a:ea typeface="Open Sans"/>
                <a:cs typeface="Open Sans"/>
              </a:defRPr>
            </a:defPPr>
            <a:lvl1pPr algn="l">
              <a:defRPr sz="2850" b="1">
                <a:solidFill>
                  <a:srgbClr val="9AFFD2"/>
                </a:solidFill>
                <a:latin typeface="Open Sans"/>
                <a:ea typeface="Open Sans"/>
                <a:cs typeface="Open Sans"/>
              </a:defRPr>
            </a:lvl1pPr>
            <a:lvl2pPr algn="l">
              <a:defRPr sz="2850" b="1">
                <a:solidFill>
                  <a:srgbClr val="9AFFD2"/>
                </a:solidFill>
                <a:latin typeface="Open Sans"/>
                <a:ea typeface="Open Sans"/>
                <a:cs typeface="Open Sans"/>
              </a:defRPr>
            </a:lvl2pPr>
            <a:lvl3pPr algn="l">
              <a:defRPr sz="2850" b="1">
                <a:solidFill>
                  <a:srgbClr val="9AFFD2"/>
                </a:solidFill>
                <a:latin typeface="Open Sans"/>
                <a:ea typeface="Open Sans"/>
                <a:cs typeface="Open Sans"/>
              </a:defRPr>
            </a:lvl3pPr>
            <a:lvl4pPr algn="l">
              <a:defRPr sz="2850" b="1">
                <a:solidFill>
                  <a:srgbClr val="9AFFD2"/>
                </a:solidFill>
                <a:latin typeface="Open Sans"/>
                <a:ea typeface="Open Sans"/>
                <a:cs typeface="Open Sans"/>
              </a:defRPr>
            </a:lvl4pPr>
            <a:lvl5pPr algn="l">
              <a:defRPr sz="2850" b="1">
                <a:solidFill>
                  <a:srgbClr val="9AFFD2"/>
                </a:solidFill>
                <a:latin typeface="Open Sans"/>
                <a:ea typeface="Open Sans"/>
                <a:cs typeface="Open Sans"/>
              </a:defRPr>
            </a:lvl5pPr>
            <a:lvl6pPr algn="l">
              <a:defRPr sz="2850" b="1">
                <a:solidFill>
                  <a:srgbClr val="9AFFD2"/>
                </a:solidFill>
                <a:latin typeface="Open Sans"/>
                <a:ea typeface="Open Sans"/>
                <a:cs typeface="Open Sans"/>
              </a:defRPr>
            </a:lvl6pPr>
            <a:lvl7pPr algn="l">
              <a:defRPr sz="2850" b="1">
                <a:solidFill>
                  <a:srgbClr val="9AFFD2"/>
                </a:solidFill>
                <a:latin typeface="Open Sans"/>
                <a:ea typeface="Open Sans"/>
                <a:cs typeface="Open Sans"/>
              </a:defRPr>
            </a:lvl7pPr>
            <a:lvl8pPr algn="l">
              <a:defRPr sz="2850" b="1">
                <a:solidFill>
                  <a:srgbClr val="9AFFD2"/>
                </a:solidFill>
                <a:latin typeface="Open Sans"/>
                <a:ea typeface="Open Sans"/>
                <a:cs typeface="Open Sans"/>
              </a:defRPr>
            </a:lvl8pPr>
            <a:lvl9pPr algn="l">
              <a:defRPr sz="2850" b="1">
                <a:solidFill>
                  <a:srgbClr val="9AFFD2"/>
                </a:solidFill>
                <a:latin typeface="Open Sans"/>
                <a:ea typeface="Open Sans"/>
                <a:cs typeface="Open Sans"/>
              </a:defRPr>
            </a:lvl9pPr>
          </a:lstStyle>
          <a:p>
            <a:pPr algn="l">
              <a:defRPr sz="2850" b="1">
                <a:solidFill>
                  <a:srgbClr val="9AFFD2"/>
                </a:solidFill>
                <a:latin typeface="Open Sans"/>
                <a:ea typeface="Open Sans"/>
                <a:cs typeface="Open Sans"/>
              </a:defRPr>
            </a:pPr>
            <a:r>
              <a:rPr sz="2850" b="1">
                <a:solidFill>
                  <a:srgbClr val="9AFFD2"/>
                </a:solidFill>
                <a:latin typeface="Open Sans"/>
                <a:ea typeface="Open Sans"/>
                <a:cs typeface="Open Sans"/>
              </a:rPr>
              <a:t>Answer 1</a:t>
            </a:r>
          </a:p>
        </p:txBody>
      </p:sp>
      <p:sp>
        <p:nvSpPr>
          <p:cNvPr id="13" name="Reason">
            <a:extLst>
              <a:ext uri="{FF2B5EF4-FFF2-40B4-BE49-F238E27FC236}">
                <a16:creationId xmlns:a16="http://schemas.microsoft.com/office/drawing/2014/main" id="{20E879C5-C9D2-4CC2-AA86-51298C1B7CB7}"/>
              </a:ext>
            </a:extLst>
          </p:cNvPr>
          <p:cNvSpPr>
            <a:spLocks noGrp="1"/>
          </p:cNvSpPr>
          <p:nvPr/>
        </p:nvSpPr>
        <p:spPr>
          <a:xfrm>
            <a:off x="13144500" y="7924800"/>
            <a:ext cx="4191000" cy="161925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Shape reinforces</a:t>
            </a:r>
          </a:p>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danger</a:t>
            </a:r>
          </a:p>
        </p:txBody>
      </p:sp>
    </p:spTree>
    <p:extLst>
      <p:ext uri="{BB962C8B-B14F-4D97-AF65-F5344CB8AC3E}">
        <p14:creationId xmlns:p14="http://schemas.microsoft.com/office/powerpoint/2010/main" val="182202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5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5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book_slide12.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3" name="Template clouds 23"/>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22" name="Template clouds 22"/>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21" name="Template grass 21"/>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20" name="Template grass 20"/>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9" name="Template grass 19"/>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8" name="Slide title">
            <a:extLst>
              <a:ext uri="{FF2B5EF4-FFF2-40B4-BE49-F238E27FC236}">
                <a16:creationId xmlns:a16="http://schemas.microsoft.com/office/drawing/2014/main" id="{67EC371A-25C4-4C25-97A8-F3F9FB3EA5DF}"/>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IS IT ONLY COLOR?</a:t>
            </a:r>
          </a:p>
        </p:txBody>
      </p:sp>
      <p:sp>
        <p:nvSpPr>
          <p:cNvPr id="2" name="Source credit">
            <a:extLst>
              <a:ext uri="{FF2B5EF4-FFF2-40B4-BE49-F238E27FC236}">
                <a16:creationId xmlns:a16="http://schemas.microsoft.com/office/drawing/2014/main" id="{E4CD3225-06BD-4D2E-BB5B-2ED484C1CCCC}"/>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0">
                <a:solidFill>
                  <a:srgbClr val="FFFFFF"/>
                </a:solidFill>
                <a:latin typeface="Open Sans"/>
                <a:ea typeface="Open Sans"/>
                <a:cs typeface="Open Sans"/>
              </a:rPr>
              <a:t>TUNIC / Isometricorp / Finji     ·     </a:t>
            </a:r>
            <a:r>
              <a:rPr sz="2000" b="1">
                <a:solidFill>
                  <a:srgbClr val="9AFFD2"/>
                </a:solidFill>
                <a:latin typeface="Open Sans"/>
                <a:ea typeface="Open Sans"/>
                <a:cs typeface="Open Sans"/>
              </a:rPr>
              <a:t>Book idea: </a:t>
            </a:r>
            <a:r>
              <a:rPr sz="2000" b="0">
                <a:solidFill>
                  <a:srgbClr val="FFFFFF"/>
                </a:solidFill>
                <a:latin typeface="Open Sans"/>
                <a:ea typeface="Open Sans"/>
                <a:cs typeface="Open Sans"/>
              </a:rPr>
              <a:t>100 Things Every Designer Needs to Know About People</a:t>
            </a:r>
          </a:p>
        </p:txBody>
      </p:sp>
      <p:sp>
        <p:nvSpPr>
          <p:cNvPr id="3" name="Vote prompt">
            <a:extLst>
              <a:ext uri="{FF2B5EF4-FFF2-40B4-BE49-F238E27FC236}">
                <a16:creationId xmlns:a16="http://schemas.microsoft.com/office/drawing/2014/main" id="{882E0E70-61D7-4827-B2E3-544F0D4E6C95}"/>
              </a:ext>
            </a:extLst>
          </p:cNvPr>
          <p:cNvSpPr>
            <a:spLocks noGrp="1"/>
          </p:cNvSpPr>
          <p:nvPr/>
        </p:nvSpPr>
        <p:spPr>
          <a:xfrm>
            <a:off x="13144500" y="2809875"/>
            <a:ext cx="4191000" cy="619125"/>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VOTE  1 / 2 / 3</a:t>
            </a:r>
          </a:p>
        </p:txBody>
      </p:sp>
      <p:sp>
        <p:nvSpPr>
          <p:cNvPr id="4" name="Choice 1">
            <a:extLst>
              <a:ext uri="{FF2B5EF4-FFF2-40B4-BE49-F238E27FC236}">
                <a16:creationId xmlns:a16="http://schemas.microsoft.com/office/drawing/2014/main" id="{3055234B-D392-41A9-AD4C-AA5B844248F4}"/>
              </a:ext>
            </a:extLst>
          </p:cNvPr>
          <p:cNvSpPr>
            <a:spLocks noGrp="1"/>
          </p:cNvSpPr>
          <p:nvPr/>
        </p:nvSpPr>
        <p:spPr>
          <a:xfrm>
            <a:off x="13144500" y="381000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1  Yes</a:t>
            </a:r>
          </a:p>
        </p:txBody>
      </p:sp>
      <p:sp>
        <p:nvSpPr>
          <p:cNvPr id="5" name="Choice 2">
            <a:extLst>
              <a:ext uri="{FF2B5EF4-FFF2-40B4-BE49-F238E27FC236}">
                <a16:creationId xmlns:a16="http://schemas.microsoft.com/office/drawing/2014/main" id="{89260CCB-E5CD-49D9-9E77-8E8E37C3264E}"/>
              </a:ext>
            </a:extLst>
          </p:cNvPr>
          <p:cNvSpPr>
            <a:spLocks noGrp="1"/>
          </p:cNvSpPr>
          <p:nvPr/>
        </p:nvSpPr>
        <p:spPr>
          <a:xfrm>
            <a:off x="13144500" y="4905375"/>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2  No</a:t>
            </a:r>
          </a:p>
        </p:txBody>
      </p:sp>
      <p:sp>
        <p:nvSpPr>
          <p:cNvPr id="6" name="Choice 3">
            <a:extLst>
              <a:ext uri="{FF2B5EF4-FFF2-40B4-BE49-F238E27FC236}">
                <a16:creationId xmlns:a16="http://schemas.microsoft.com/office/drawing/2014/main" id="{854605DF-37A4-4E9B-A4D3-5046241F2AA0}"/>
              </a:ext>
            </a:extLst>
          </p:cNvPr>
          <p:cNvSpPr>
            <a:spLocks noGrp="1"/>
          </p:cNvSpPr>
          <p:nvPr/>
        </p:nvSpPr>
        <p:spPr>
          <a:xfrm>
            <a:off x="13144500" y="600075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3  Unclear</a:t>
            </a:r>
          </a:p>
        </p:txBody>
      </p:sp>
      <p:pic>
        <p:nvPicPr>
          <p:cNvPr id="7" name="tunic-danger-cues question image" descr="tunic-danger-cues question image">
            <a:extLst>
              <a:ext uri="{FF2B5EF4-FFF2-40B4-BE49-F238E27FC236}">
                <a16:creationId xmlns:a16="http://schemas.microsoft.com/office/drawing/2014/main" id="{EAECFE3A-3AE8-449E-899B-31FA79AECE88}"/>
              </a:ext>
            </a:extLst>
          </p:cNvPr>
          <p:cNvPicPr>
            <a:picLocks noChangeAspect="1"/>
          </p:cNvPicPr>
          <p:nvPr/>
        </p:nvPicPr>
        <p:blipFill>
          <a:blip r:embed="rId5"/>
          <a:stretch/>
        </p:blipFill>
        <p:spPr>
          <a:xfrm>
            <a:off x="762000" y="2714625"/>
            <a:ext cx="11049000" cy="6215063"/>
          </a:xfrm>
          <a:prstGeom prst="rect">
            <a:avLst/>
          </a:prstGeom>
        </p:spPr>
      </p:pic>
      <p:sp>
        <p:nvSpPr>
          <p:cNvPr id="8" name="tunic-danger-cues left-exclamation halo">
            <a:extLst>
              <a:ext uri="{FF2B5EF4-FFF2-40B4-BE49-F238E27FC236}">
                <a16:creationId xmlns:a16="http://schemas.microsoft.com/office/drawing/2014/main" id="{E87F7ABB-C146-4F68-A0A5-5122C82A473A}"/>
              </a:ext>
            </a:extLst>
          </p:cNvPr>
          <p:cNvSpPr>
            <a:spLocks noGrp="1"/>
          </p:cNvSpPr>
          <p:nvPr/>
        </p:nvSpPr>
        <p:spPr>
          <a:xfrm>
            <a:off x="2902744" y="4078486"/>
            <a:ext cx="402828" cy="633016"/>
          </a:xfrm>
          <a:prstGeom prst="ellipse">
            <a:avLst/>
          </a:prstGeom>
          <a:noFill/>
          <a:ln w="69056">
            <a:solidFill>
              <a:srgbClr val="080912"/>
            </a:solidFill>
          </a:ln>
        </p:spPr>
      </p:sp>
      <p:sp>
        <p:nvSpPr>
          <p:cNvPr id="9" name="tunic-danger-cues left-exclamation focus">
            <a:extLst>
              <a:ext uri="{FF2B5EF4-FFF2-40B4-BE49-F238E27FC236}">
                <a16:creationId xmlns:a16="http://schemas.microsoft.com/office/drawing/2014/main" id="{32643C02-B31E-492D-8080-682E55251B4E}"/>
              </a:ext>
            </a:extLst>
          </p:cNvPr>
          <p:cNvSpPr>
            <a:spLocks noGrp="1"/>
          </p:cNvSpPr>
          <p:nvPr/>
        </p:nvSpPr>
        <p:spPr>
          <a:xfrm>
            <a:off x="2902744" y="4078486"/>
            <a:ext cx="402828" cy="633016"/>
          </a:xfrm>
          <a:prstGeom prst="ellipse">
            <a:avLst/>
          </a:prstGeom>
          <a:noFill/>
          <a:ln w="34528">
            <a:solidFill>
              <a:srgbClr val="9AFFD2"/>
            </a:solidFill>
          </a:ln>
        </p:spPr>
      </p:sp>
      <p:sp>
        <p:nvSpPr>
          <p:cNvPr id="10" name="tunic-danger-cues middle-exclamation halo">
            <a:extLst>
              <a:ext uri="{FF2B5EF4-FFF2-40B4-BE49-F238E27FC236}">
                <a16:creationId xmlns:a16="http://schemas.microsoft.com/office/drawing/2014/main" id="{C9A8A261-A688-4758-BB82-4F129A11AA01}"/>
              </a:ext>
            </a:extLst>
          </p:cNvPr>
          <p:cNvSpPr>
            <a:spLocks noGrp="1"/>
          </p:cNvSpPr>
          <p:nvPr/>
        </p:nvSpPr>
        <p:spPr>
          <a:xfrm>
            <a:off x="3950097" y="4889897"/>
            <a:ext cx="368300" cy="460375"/>
          </a:xfrm>
          <a:prstGeom prst="ellipse">
            <a:avLst/>
          </a:prstGeom>
          <a:noFill/>
          <a:ln w="69056">
            <a:solidFill>
              <a:srgbClr val="080912"/>
            </a:solidFill>
          </a:ln>
        </p:spPr>
      </p:sp>
      <p:sp>
        <p:nvSpPr>
          <p:cNvPr id="11" name="tunic-danger-cues middle-exclamation focus">
            <a:extLst>
              <a:ext uri="{FF2B5EF4-FFF2-40B4-BE49-F238E27FC236}">
                <a16:creationId xmlns:a16="http://schemas.microsoft.com/office/drawing/2014/main" id="{F74CE412-2D13-44AD-A269-C83F7EE0F61C}"/>
              </a:ext>
            </a:extLst>
          </p:cNvPr>
          <p:cNvSpPr>
            <a:spLocks noGrp="1"/>
          </p:cNvSpPr>
          <p:nvPr/>
        </p:nvSpPr>
        <p:spPr>
          <a:xfrm>
            <a:off x="3950097" y="4889897"/>
            <a:ext cx="368300" cy="460375"/>
          </a:xfrm>
          <a:prstGeom prst="ellipse">
            <a:avLst/>
          </a:prstGeom>
          <a:noFill/>
          <a:ln w="34528">
            <a:solidFill>
              <a:srgbClr val="9AFFD2"/>
            </a:solidFill>
          </a:ln>
        </p:spPr>
      </p:sp>
      <p:sp>
        <p:nvSpPr>
          <p:cNvPr id="12" name="tunic-danger-cues projectile-trajectory halo">
            <a:extLst>
              <a:ext uri="{FF2B5EF4-FFF2-40B4-BE49-F238E27FC236}">
                <a16:creationId xmlns:a16="http://schemas.microsoft.com/office/drawing/2014/main" id="{CE00F658-E1D1-426F-8645-B1187FEB72A6}"/>
              </a:ext>
            </a:extLst>
          </p:cNvPr>
          <p:cNvSpPr>
            <a:spLocks noGrp="1"/>
          </p:cNvSpPr>
          <p:nvPr/>
        </p:nvSpPr>
        <p:spPr>
          <a:xfrm>
            <a:off x="4767263" y="4504333"/>
            <a:ext cx="2313384" cy="1847255"/>
          </a:xfrm>
          <a:custGeom>
            <a:avLst/>
            <a:gdLst/>
            <a:ahLst/>
            <a:cxnLst/>
            <a:rect l="0" t="0" r="0" b="0"/>
            <a:pathLst>
              <a:path w="3829050" h="3057525">
                <a:moveTo>
                  <a:pt x="238125" y="104775"/>
                </a:moveTo>
                <a:quadBezTo>
                  <a:pt x="342900" y="0"/>
                  <a:pt x="495300" y="133350"/>
                </a:quadBezTo>
                <a:lnTo>
                  <a:pt x="3629025" y="2581275"/>
                </a:lnTo>
                <a:quadBezTo>
                  <a:pt x="3829050" y="2752725"/>
                  <a:pt x="3657600" y="2943225"/>
                </a:quadBezTo>
                <a:quadBezTo>
                  <a:pt x="3543300" y="3057525"/>
                  <a:pt x="3371850" y="2943225"/>
                </a:quadBezTo>
                <a:lnTo>
                  <a:pt x="171450" y="495300"/>
                </a:lnTo>
                <a:quadBezTo>
                  <a:pt x="0" y="333375"/>
                  <a:pt x="238125" y="104775"/>
                </a:quadBezTo>
                <a:close/>
              </a:path>
            </a:pathLst>
          </a:custGeom>
          <a:noFill/>
          <a:ln w="69056">
            <a:solidFill>
              <a:srgbClr val="080912"/>
            </a:solidFill>
          </a:ln>
        </p:spPr>
      </p:sp>
      <p:sp>
        <p:nvSpPr>
          <p:cNvPr id="13" name="tunic-danger-cues projectile-trajectory halo arrow">
            <a:extLst>
              <a:ext uri="{FF2B5EF4-FFF2-40B4-BE49-F238E27FC236}">
                <a16:creationId xmlns:a16="http://schemas.microsoft.com/office/drawing/2014/main" id="{9FC0B6EE-EA0C-4372-AA3A-B85FF4FE0553}"/>
              </a:ext>
            </a:extLst>
          </p:cNvPr>
          <p:cNvSpPr>
            <a:spLocks noGrp="1"/>
          </p:cNvSpPr>
          <p:nvPr/>
        </p:nvSpPr>
        <p:spPr>
          <a:xfrm>
            <a:off x="6477397" y="4643438"/>
            <a:ext cx="1563291" cy="1177727"/>
          </a:xfrm>
          <a:custGeom>
            <a:avLst/>
            <a:gdLst/>
            <a:ahLst/>
            <a:cxnLst/>
            <a:rect l="0" t="0" r="0" b="0"/>
            <a:pathLst>
              <a:path w="1563291" h="1177727">
                <a:moveTo>
                  <a:pt x="1420416" y="142875"/>
                </a:moveTo>
                <a:lnTo>
                  <a:pt x="142875" y="1034852"/>
                </a:lnTo>
                <a:moveTo>
                  <a:pt x="215036" y="888629"/>
                </a:moveTo>
                <a:lnTo>
                  <a:pt x="142875" y="1034852"/>
                </a:lnTo>
                <a:lnTo>
                  <a:pt x="305007" y="1017491"/>
                </a:lnTo>
              </a:path>
            </a:pathLst>
          </a:custGeom>
          <a:noFill/>
          <a:ln w="69056">
            <a:solidFill>
              <a:srgbClr val="080912"/>
            </a:solidFill>
          </a:ln>
        </p:spPr>
      </p:sp>
      <p:sp>
        <p:nvSpPr>
          <p:cNvPr id="14" name="tunic-danger-cues projectile-trajectory focus">
            <a:extLst>
              <a:ext uri="{FF2B5EF4-FFF2-40B4-BE49-F238E27FC236}">
                <a16:creationId xmlns:a16="http://schemas.microsoft.com/office/drawing/2014/main" id="{FDBCF79B-6FB1-404D-9465-59099063461D}"/>
              </a:ext>
            </a:extLst>
          </p:cNvPr>
          <p:cNvSpPr>
            <a:spLocks noGrp="1"/>
          </p:cNvSpPr>
          <p:nvPr/>
        </p:nvSpPr>
        <p:spPr>
          <a:xfrm>
            <a:off x="4767263" y="4504333"/>
            <a:ext cx="2313384" cy="1847255"/>
          </a:xfrm>
          <a:custGeom>
            <a:avLst/>
            <a:gdLst/>
            <a:ahLst/>
            <a:cxnLst/>
            <a:rect l="0" t="0" r="0" b="0"/>
            <a:pathLst>
              <a:path w="3829050" h="3057525">
                <a:moveTo>
                  <a:pt x="238125" y="104775"/>
                </a:moveTo>
                <a:quadBezTo>
                  <a:pt x="342900" y="0"/>
                  <a:pt x="495300" y="133350"/>
                </a:quadBezTo>
                <a:lnTo>
                  <a:pt x="3629025" y="2581275"/>
                </a:lnTo>
                <a:quadBezTo>
                  <a:pt x="3829050" y="2752725"/>
                  <a:pt x="3657600" y="2943225"/>
                </a:quadBezTo>
                <a:quadBezTo>
                  <a:pt x="3543300" y="3057525"/>
                  <a:pt x="3371850" y="2943225"/>
                </a:quadBezTo>
                <a:lnTo>
                  <a:pt x="171450" y="495300"/>
                </a:lnTo>
                <a:quadBezTo>
                  <a:pt x="0" y="333375"/>
                  <a:pt x="238125" y="104775"/>
                </a:quadBezTo>
                <a:close/>
              </a:path>
            </a:pathLst>
          </a:custGeom>
          <a:noFill/>
          <a:ln w="34528">
            <a:solidFill>
              <a:srgbClr val="9AFFD2"/>
            </a:solidFill>
          </a:ln>
        </p:spPr>
      </p:sp>
      <p:sp>
        <p:nvSpPr>
          <p:cNvPr id="15" name="tunic-danger-cues projectile-trajectory focus arrow">
            <a:extLst>
              <a:ext uri="{FF2B5EF4-FFF2-40B4-BE49-F238E27FC236}">
                <a16:creationId xmlns:a16="http://schemas.microsoft.com/office/drawing/2014/main" id="{51154EC5-25DC-44A9-A958-0DD0D5B43045}"/>
              </a:ext>
            </a:extLst>
          </p:cNvPr>
          <p:cNvSpPr>
            <a:spLocks noGrp="1"/>
          </p:cNvSpPr>
          <p:nvPr/>
        </p:nvSpPr>
        <p:spPr>
          <a:xfrm>
            <a:off x="6477397" y="4643438"/>
            <a:ext cx="1563291" cy="1177727"/>
          </a:xfrm>
          <a:custGeom>
            <a:avLst/>
            <a:gdLst/>
            <a:ahLst/>
            <a:cxnLst/>
            <a:rect l="0" t="0" r="0" b="0"/>
            <a:pathLst>
              <a:path w="1563291" h="1177727">
                <a:moveTo>
                  <a:pt x="1420416" y="142875"/>
                </a:moveTo>
                <a:lnTo>
                  <a:pt x="142875" y="1034852"/>
                </a:lnTo>
                <a:moveTo>
                  <a:pt x="215036" y="888629"/>
                </a:moveTo>
                <a:lnTo>
                  <a:pt x="142875" y="1034852"/>
                </a:lnTo>
                <a:lnTo>
                  <a:pt x="305007" y="1017491"/>
                </a:lnTo>
              </a:path>
            </a:pathLst>
          </a:custGeom>
          <a:noFill/>
          <a:ln w="34528">
            <a:solidFill>
              <a:srgbClr val="9AFFD2"/>
            </a:solidFill>
          </a:ln>
        </p:spPr>
      </p:sp>
      <p:sp>
        <p:nvSpPr>
          <p:cNvPr id="16" name="Answer">
            <a:extLst>
              <a:ext uri="{FF2B5EF4-FFF2-40B4-BE49-F238E27FC236}">
                <a16:creationId xmlns:a16="http://schemas.microsoft.com/office/drawing/2014/main" id="{A657C579-8C6D-4A00-8A81-56AF2C7FBE0D}"/>
              </a:ext>
            </a:extLst>
          </p:cNvPr>
          <p:cNvSpPr>
            <a:spLocks noGrp="1"/>
          </p:cNvSpPr>
          <p:nvPr/>
        </p:nvSpPr>
        <p:spPr>
          <a:xfrm>
            <a:off x="13144500" y="7239000"/>
            <a:ext cx="4191000" cy="571500"/>
          </a:xfrm>
          <a:prstGeom prst="rect">
            <a:avLst/>
          </a:prstGeom>
          <a:noFill/>
          <a:ln w="0">
            <a:noFill/>
          </a:ln>
        </p:spPr>
        <p:txBody>
          <a:bodyPr wrap="none" lIns="0" tIns="0" rIns="0" bIns="0" anchor="t">
            <a:noAutofit/>
          </a:bodyPr>
          <a:lstStyle>
            <a:defPPr algn="l">
              <a:defRPr sz="2850" b="1">
                <a:solidFill>
                  <a:srgbClr val="9AFFD2"/>
                </a:solidFill>
                <a:latin typeface="Open Sans"/>
                <a:ea typeface="Open Sans"/>
                <a:cs typeface="Open Sans"/>
              </a:defRPr>
            </a:defPPr>
            <a:lvl1pPr algn="l">
              <a:defRPr sz="2850" b="1">
                <a:solidFill>
                  <a:srgbClr val="9AFFD2"/>
                </a:solidFill>
                <a:latin typeface="Open Sans"/>
                <a:ea typeface="Open Sans"/>
                <a:cs typeface="Open Sans"/>
              </a:defRPr>
            </a:lvl1pPr>
            <a:lvl2pPr algn="l">
              <a:defRPr sz="2850" b="1">
                <a:solidFill>
                  <a:srgbClr val="9AFFD2"/>
                </a:solidFill>
                <a:latin typeface="Open Sans"/>
                <a:ea typeface="Open Sans"/>
                <a:cs typeface="Open Sans"/>
              </a:defRPr>
            </a:lvl2pPr>
            <a:lvl3pPr algn="l">
              <a:defRPr sz="2850" b="1">
                <a:solidFill>
                  <a:srgbClr val="9AFFD2"/>
                </a:solidFill>
                <a:latin typeface="Open Sans"/>
                <a:ea typeface="Open Sans"/>
                <a:cs typeface="Open Sans"/>
              </a:defRPr>
            </a:lvl3pPr>
            <a:lvl4pPr algn="l">
              <a:defRPr sz="2850" b="1">
                <a:solidFill>
                  <a:srgbClr val="9AFFD2"/>
                </a:solidFill>
                <a:latin typeface="Open Sans"/>
                <a:ea typeface="Open Sans"/>
                <a:cs typeface="Open Sans"/>
              </a:defRPr>
            </a:lvl4pPr>
            <a:lvl5pPr algn="l">
              <a:defRPr sz="2850" b="1">
                <a:solidFill>
                  <a:srgbClr val="9AFFD2"/>
                </a:solidFill>
                <a:latin typeface="Open Sans"/>
                <a:ea typeface="Open Sans"/>
                <a:cs typeface="Open Sans"/>
              </a:defRPr>
            </a:lvl5pPr>
            <a:lvl6pPr algn="l">
              <a:defRPr sz="2850" b="1">
                <a:solidFill>
                  <a:srgbClr val="9AFFD2"/>
                </a:solidFill>
                <a:latin typeface="Open Sans"/>
                <a:ea typeface="Open Sans"/>
                <a:cs typeface="Open Sans"/>
              </a:defRPr>
            </a:lvl6pPr>
            <a:lvl7pPr algn="l">
              <a:defRPr sz="2850" b="1">
                <a:solidFill>
                  <a:srgbClr val="9AFFD2"/>
                </a:solidFill>
                <a:latin typeface="Open Sans"/>
                <a:ea typeface="Open Sans"/>
                <a:cs typeface="Open Sans"/>
              </a:defRPr>
            </a:lvl7pPr>
            <a:lvl8pPr algn="l">
              <a:defRPr sz="2850" b="1">
                <a:solidFill>
                  <a:srgbClr val="9AFFD2"/>
                </a:solidFill>
                <a:latin typeface="Open Sans"/>
                <a:ea typeface="Open Sans"/>
                <a:cs typeface="Open Sans"/>
              </a:defRPr>
            </a:lvl8pPr>
            <a:lvl9pPr algn="l">
              <a:defRPr sz="2850" b="1">
                <a:solidFill>
                  <a:srgbClr val="9AFFD2"/>
                </a:solidFill>
                <a:latin typeface="Open Sans"/>
                <a:ea typeface="Open Sans"/>
                <a:cs typeface="Open Sans"/>
              </a:defRPr>
            </a:lvl9pPr>
          </a:lstStyle>
          <a:p>
            <a:pPr algn="l">
              <a:defRPr sz="2850" b="1">
                <a:solidFill>
                  <a:srgbClr val="9AFFD2"/>
                </a:solidFill>
                <a:latin typeface="Open Sans"/>
                <a:ea typeface="Open Sans"/>
                <a:cs typeface="Open Sans"/>
              </a:defRPr>
            </a:pPr>
            <a:r>
              <a:rPr sz="2850" b="1">
                <a:solidFill>
                  <a:srgbClr val="9AFFD2"/>
                </a:solidFill>
                <a:latin typeface="Open Sans"/>
                <a:ea typeface="Open Sans"/>
                <a:cs typeface="Open Sans"/>
              </a:rPr>
              <a:t>Answer 2</a:t>
            </a:r>
          </a:p>
        </p:txBody>
      </p:sp>
      <p:sp>
        <p:nvSpPr>
          <p:cNvPr id="17" name="Reason">
            <a:extLst>
              <a:ext uri="{FF2B5EF4-FFF2-40B4-BE49-F238E27FC236}">
                <a16:creationId xmlns:a16="http://schemas.microsoft.com/office/drawing/2014/main" id="{070C7315-D47C-4C25-905D-2E30961CFA78}"/>
              </a:ext>
            </a:extLst>
          </p:cNvPr>
          <p:cNvSpPr>
            <a:spLocks noGrp="1"/>
          </p:cNvSpPr>
          <p:nvPr/>
        </p:nvSpPr>
        <p:spPr>
          <a:xfrm>
            <a:off x="13144500" y="7924800"/>
            <a:ext cx="4191000" cy="161925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Symbols and</a:t>
            </a:r>
          </a:p>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trajectories</a:t>
            </a:r>
          </a:p>
        </p:txBody>
      </p:sp>
    </p:spTree>
    <p:extLst>
      <p:ext uri="{BB962C8B-B14F-4D97-AF65-F5344CB8AC3E}">
        <p14:creationId xmlns:p14="http://schemas.microsoft.com/office/powerpoint/2010/main" val="64251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5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15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1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book_slide13.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18" name="Template clouds 18"/>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17" name="Template clouds 17"/>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6" name="Template grass 16"/>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5" name="Template grass 15"/>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4" name="Template grass 14"/>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3" name="Slide title">
            <a:extLst>
              <a:ext uri="{FF2B5EF4-FFF2-40B4-BE49-F238E27FC236}">
                <a16:creationId xmlns:a16="http://schemas.microsoft.com/office/drawing/2014/main" id="{83CCC66F-1199-4FB2-9CD8-2A7FDF2CE8CE}"/>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WHAT WILL E OPEN?</a:t>
            </a:r>
          </a:p>
        </p:txBody>
      </p:sp>
      <p:sp>
        <p:nvSpPr>
          <p:cNvPr id="2" name="Source credit">
            <a:extLst>
              <a:ext uri="{FF2B5EF4-FFF2-40B4-BE49-F238E27FC236}">
                <a16:creationId xmlns:a16="http://schemas.microsoft.com/office/drawing/2014/main" id="{4021358A-72AC-48C6-A590-9E579BCFA076}"/>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0">
                <a:solidFill>
                  <a:srgbClr val="FFFFFF"/>
                </a:solidFill>
                <a:latin typeface="Open Sans"/>
                <a:ea typeface="Open Sans"/>
                <a:cs typeface="Open Sans"/>
              </a:rPr>
              <a:t>Illustrative mockup     ·     </a:t>
            </a:r>
            <a:r>
              <a:rPr sz="2000" b="1">
                <a:solidFill>
                  <a:srgbClr val="9AFFD2"/>
                </a:solidFill>
                <a:latin typeface="Open Sans"/>
                <a:ea typeface="Open Sans"/>
                <a:cs typeface="Open Sans"/>
              </a:rPr>
              <a:t>Book idea: </a:t>
            </a:r>
            <a:r>
              <a:rPr sz="2000" b="0">
                <a:solidFill>
                  <a:srgbClr val="FFFFFF"/>
                </a:solidFill>
                <a:latin typeface="Open Sans"/>
                <a:ea typeface="Open Sans"/>
                <a:cs typeface="Open Sans"/>
              </a:rPr>
              <a:t>Don’t Make Me Think</a:t>
            </a:r>
          </a:p>
        </p:txBody>
      </p:sp>
      <p:sp>
        <p:nvSpPr>
          <p:cNvPr id="3" name="Vote prompt">
            <a:extLst>
              <a:ext uri="{FF2B5EF4-FFF2-40B4-BE49-F238E27FC236}">
                <a16:creationId xmlns:a16="http://schemas.microsoft.com/office/drawing/2014/main" id="{53578AFB-076B-46CA-A1AB-74A0368FB527}"/>
              </a:ext>
            </a:extLst>
          </p:cNvPr>
          <p:cNvSpPr>
            <a:spLocks noGrp="1"/>
          </p:cNvSpPr>
          <p:nvPr/>
        </p:nvSpPr>
        <p:spPr>
          <a:xfrm>
            <a:off x="13144500" y="2809875"/>
            <a:ext cx="4191000" cy="619125"/>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VOTE  1 / 2 / 3</a:t>
            </a:r>
          </a:p>
        </p:txBody>
      </p:sp>
      <p:sp>
        <p:nvSpPr>
          <p:cNvPr id="4" name="Choice 1">
            <a:extLst>
              <a:ext uri="{FF2B5EF4-FFF2-40B4-BE49-F238E27FC236}">
                <a16:creationId xmlns:a16="http://schemas.microsoft.com/office/drawing/2014/main" id="{D74F4F6A-B934-43F4-8A11-0B4F8F93D1C3}"/>
              </a:ext>
            </a:extLst>
          </p:cNvPr>
          <p:cNvSpPr>
            <a:spLocks noGrp="1"/>
          </p:cNvSpPr>
          <p:nvPr/>
        </p:nvSpPr>
        <p:spPr>
          <a:xfrm>
            <a:off x="13144500" y="381000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1  Chest</a:t>
            </a:r>
          </a:p>
        </p:txBody>
      </p:sp>
      <p:sp>
        <p:nvSpPr>
          <p:cNvPr id="5" name="Choice 2">
            <a:extLst>
              <a:ext uri="{FF2B5EF4-FFF2-40B4-BE49-F238E27FC236}">
                <a16:creationId xmlns:a16="http://schemas.microsoft.com/office/drawing/2014/main" id="{C9A2537E-54CC-4151-851F-1AA5439CAE16}"/>
              </a:ext>
            </a:extLst>
          </p:cNvPr>
          <p:cNvSpPr>
            <a:spLocks noGrp="1"/>
          </p:cNvSpPr>
          <p:nvPr/>
        </p:nvSpPr>
        <p:spPr>
          <a:xfrm>
            <a:off x="13144500" y="4905375"/>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2  Door</a:t>
            </a:r>
          </a:p>
        </p:txBody>
      </p:sp>
      <p:sp>
        <p:nvSpPr>
          <p:cNvPr id="6" name="Choice 3">
            <a:extLst>
              <a:ext uri="{FF2B5EF4-FFF2-40B4-BE49-F238E27FC236}">
                <a16:creationId xmlns:a16="http://schemas.microsoft.com/office/drawing/2014/main" id="{5E073467-83E9-4DE8-BF5D-094F7D449994}"/>
              </a:ext>
            </a:extLst>
          </p:cNvPr>
          <p:cNvSpPr>
            <a:spLocks noGrp="1"/>
          </p:cNvSpPr>
          <p:nvPr/>
        </p:nvSpPr>
        <p:spPr>
          <a:xfrm>
            <a:off x="13144500" y="600075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3  Unclear</a:t>
            </a:r>
          </a:p>
        </p:txBody>
      </p:sp>
      <p:pic>
        <p:nvPicPr>
          <p:cNvPr id="7" name="ambiguous-e clean image" descr="ambiguous-e clean image">
            <a:extLst>
              <a:ext uri="{FF2B5EF4-FFF2-40B4-BE49-F238E27FC236}">
                <a16:creationId xmlns:a16="http://schemas.microsoft.com/office/drawing/2014/main" id="{18619299-E335-4B6D-8ADF-3091BE8932C7}"/>
              </a:ext>
            </a:extLst>
          </p:cNvPr>
          <p:cNvPicPr>
            <a:picLocks noChangeAspect="1"/>
          </p:cNvPicPr>
          <p:nvPr/>
        </p:nvPicPr>
        <p:blipFill>
          <a:blip r:embed="rId5"/>
          <a:stretch/>
        </p:blipFill>
        <p:spPr>
          <a:xfrm>
            <a:off x="762000" y="2667000"/>
            <a:ext cx="11049000" cy="6215063"/>
          </a:xfrm>
          <a:prstGeom prst="rect">
            <a:avLst/>
          </a:prstGeom>
        </p:spPr>
      </p:pic>
      <p:sp>
        <p:nvSpPr>
          <p:cNvPr id="8" name="ambiguous-e clean text 32">
            <a:extLst>
              <a:ext uri="{FF2B5EF4-FFF2-40B4-BE49-F238E27FC236}">
                <a16:creationId xmlns:a16="http://schemas.microsoft.com/office/drawing/2014/main" id="{7A7176B1-97CB-4801-A760-EE8371C5CFF2}"/>
              </a:ext>
            </a:extLst>
          </p:cNvPr>
          <p:cNvSpPr>
            <a:spLocks noGrp="1"/>
          </p:cNvSpPr>
          <p:nvPr/>
        </p:nvSpPr>
        <p:spPr>
          <a:xfrm>
            <a:off x="6895058" y="4394701"/>
            <a:ext cx="854571" cy="712143"/>
          </a:xfrm>
          <a:prstGeom prst="rect">
            <a:avLst/>
          </a:prstGeom>
          <a:noFill/>
          <a:ln w="0">
            <a:noFill/>
          </a:ln>
        </p:spPr>
        <p:txBody>
          <a:bodyPr wrap="none" lIns="0" tIns="0" rIns="0" bIns="0" anchor="t">
            <a:noAutofit/>
          </a:bodyPr>
          <a:lstStyle>
            <a:defPPr algn="ctr">
              <a:defRPr sz="3738" b="1">
                <a:solidFill>
                  <a:srgbClr val="FFFFFF"/>
                </a:solidFill>
                <a:latin typeface="Open Sans"/>
                <a:ea typeface="Open Sans"/>
                <a:cs typeface="Open Sans"/>
              </a:defRPr>
            </a:defPPr>
            <a:lvl1pPr algn="ctr">
              <a:defRPr sz="3738" b="1">
                <a:solidFill>
                  <a:srgbClr val="FFFFFF"/>
                </a:solidFill>
                <a:latin typeface="Open Sans"/>
                <a:ea typeface="Open Sans"/>
                <a:cs typeface="Open Sans"/>
              </a:defRPr>
            </a:lvl1pPr>
            <a:lvl2pPr algn="ctr">
              <a:defRPr sz="3738" b="1">
                <a:solidFill>
                  <a:srgbClr val="FFFFFF"/>
                </a:solidFill>
                <a:latin typeface="Open Sans"/>
                <a:ea typeface="Open Sans"/>
                <a:cs typeface="Open Sans"/>
              </a:defRPr>
            </a:lvl2pPr>
            <a:lvl3pPr algn="ctr">
              <a:defRPr sz="3738" b="1">
                <a:solidFill>
                  <a:srgbClr val="FFFFFF"/>
                </a:solidFill>
                <a:latin typeface="Open Sans"/>
                <a:ea typeface="Open Sans"/>
                <a:cs typeface="Open Sans"/>
              </a:defRPr>
            </a:lvl3pPr>
            <a:lvl4pPr algn="ctr">
              <a:defRPr sz="3738" b="1">
                <a:solidFill>
                  <a:srgbClr val="FFFFFF"/>
                </a:solidFill>
                <a:latin typeface="Open Sans"/>
                <a:ea typeface="Open Sans"/>
                <a:cs typeface="Open Sans"/>
              </a:defRPr>
            </a:lvl4pPr>
            <a:lvl5pPr algn="ctr">
              <a:defRPr sz="3738" b="1">
                <a:solidFill>
                  <a:srgbClr val="FFFFFF"/>
                </a:solidFill>
                <a:latin typeface="Open Sans"/>
                <a:ea typeface="Open Sans"/>
                <a:cs typeface="Open Sans"/>
              </a:defRPr>
            </a:lvl5pPr>
            <a:lvl6pPr algn="ctr">
              <a:defRPr sz="3738" b="1">
                <a:solidFill>
                  <a:srgbClr val="FFFFFF"/>
                </a:solidFill>
                <a:latin typeface="Open Sans"/>
                <a:ea typeface="Open Sans"/>
                <a:cs typeface="Open Sans"/>
              </a:defRPr>
            </a:lvl6pPr>
            <a:lvl7pPr algn="ctr">
              <a:defRPr sz="3738" b="1">
                <a:solidFill>
                  <a:srgbClr val="FFFFFF"/>
                </a:solidFill>
                <a:latin typeface="Open Sans"/>
                <a:ea typeface="Open Sans"/>
                <a:cs typeface="Open Sans"/>
              </a:defRPr>
            </a:lvl7pPr>
            <a:lvl8pPr algn="ctr">
              <a:defRPr sz="3738" b="1">
                <a:solidFill>
                  <a:srgbClr val="FFFFFF"/>
                </a:solidFill>
                <a:latin typeface="Open Sans"/>
                <a:ea typeface="Open Sans"/>
                <a:cs typeface="Open Sans"/>
              </a:defRPr>
            </a:lvl8pPr>
            <a:lvl9pPr algn="ctr">
              <a:defRPr sz="3738" b="1">
                <a:solidFill>
                  <a:srgbClr val="FFFFFF"/>
                </a:solidFill>
                <a:latin typeface="Open Sans"/>
                <a:ea typeface="Open Sans"/>
                <a:cs typeface="Open Sans"/>
              </a:defRPr>
            </a:lvl9pPr>
          </a:lstStyle>
          <a:p>
            <a:pPr algn="ctr">
              <a:defRPr sz="3738" b="1">
                <a:solidFill>
                  <a:srgbClr val="FFFFFF"/>
                </a:solidFill>
                <a:latin typeface="Open Sans"/>
                <a:ea typeface="Open Sans"/>
                <a:cs typeface="Open Sans"/>
              </a:defRPr>
            </a:pPr>
            <a:r>
              <a:rPr sz="3738" b="1">
                <a:solidFill>
                  <a:srgbClr val="FFFFFF"/>
                </a:solidFill>
                <a:latin typeface="Open Sans"/>
                <a:ea typeface="Open Sans"/>
                <a:cs typeface="Open Sans"/>
              </a:rPr>
              <a:t>E</a:t>
            </a:r>
          </a:p>
        </p:txBody>
      </p:sp>
      <p:pic>
        <p:nvPicPr>
          <p:cNvPr id="9" name="ambiguous-e reveal image" descr="ambiguous-e reveal image">
            <a:extLst>
              <a:ext uri="{FF2B5EF4-FFF2-40B4-BE49-F238E27FC236}">
                <a16:creationId xmlns:a16="http://schemas.microsoft.com/office/drawing/2014/main" id="{4E97A1EA-5683-4FC1-842F-7943DBC62B63}"/>
              </a:ext>
            </a:extLst>
          </p:cNvPr>
          <p:cNvPicPr>
            <a:picLocks noChangeAspect="1"/>
          </p:cNvPicPr>
          <p:nvPr/>
        </p:nvPicPr>
        <p:blipFill>
          <a:blip r:embed="rId6"/>
          <a:stretch/>
        </p:blipFill>
        <p:spPr>
          <a:xfrm>
            <a:off x="762000" y="2667000"/>
            <a:ext cx="11049000" cy="6215063"/>
          </a:xfrm>
          <a:prstGeom prst="rect">
            <a:avLst/>
          </a:prstGeom>
        </p:spPr>
      </p:pic>
      <p:sp>
        <p:nvSpPr>
          <p:cNvPr id="10" name="ambiguous-e reveal text 33">
            <a:extLst>
              <a:ext uri="{FF2B5EF4-FFF2-40B4-BE49-F238E27FC236}">
                <a16:creationId xmlns:a16="http://schemas.microsoft.com/office/drawing/2014/main" id="{ED4982E9-CFA2-43D5-8EFC-11F93C6EFB69}"/>
              </a:ext>
            </a:extLst>
          </p:cNvPr>
          <p:cNvSpPr>
            <a:spLocks noGrp="1"/>
          </p:cNvSpPr>
          <p:nvPr/>
        </p:nvSpPr>
        <p:spPr>
          <a:xfrm>
            <a:off x="7843879" y="4142905"/>
            <a:ext cx="3635490" cy="595610"/>
          </a:xfrm>
          <a:prstGeom prst="rect">
            <a:avLst/>
          </a:prstGeom>
          <a:noFill/>
          <a:ln w="0">
            <a:noFill/>
          </a:ln>
        </p:spPr>
        <p:txBody>
          <a:bodyPr wrap="none" lIns="0" tIns="0" rIns="0" bIns="0" anchor="t">
            <a:noAutofit/>
          </a:bodyPr>
          <a:lstStyle>
            <a:defPPr algn="ctr">
              <a:defRPr sz="3127" b="1">
                <a:solidFill>
                  <a:srgbClr val="FFFFFF"/>
                </a:solidFill>
                <a:latin typeface="Open Sans"/>
                <a:ea typeface="Open Sans"/>
                <a:cs typeface="Open Sans"/>
              </a:defRPr>
            </a:defPPr>
            <a:lvl1pPr algn="ctr">
              <a:defRPr sz="3127" b="1">
                <a:solidFill>
                  <a:srgbClr val="FFFFFF"/>
                </a:solidFill>
                <a:latin typeface="Open Sans"/>
                <a:ea typeface="Open Sans"/>
                <a:cs typeface="Open Sans"/>
              </a:defRPr>
            </a:lvl1pPr>
            <a:lvl2pPr algn="ctr">
              <a:defRPr sz="3127" b="1">
                <a:solidFill>
                  <a:srgbClr val="FFFFFF"/>
                </a:solidFill>
                <a:latin typeface="Open Sans"/>
                <a:ea typeface="Open Sans"/>
                <a:cs typeface="Open Sans"/>
              </a:defRPr>
            </a:lvl2pPr>
            <a:lvl3pPr algn="ctr">
              <a:defRPr sz="3127" b="1">
                <a:solidFill>
                  <a:srgbClr val="FFFFFF"/>
                </a:solidFill>
                <a:latin typeface="Open Sans"/>
                <a:ea typeface="Open Sans"/>
                <a:cs typeface="Open Sans"/>
              </a:defRPr>
            </a:lvl3pPr>
            <a:lvl4pPr algn="ctr">
              <a:defRPr sz="3127" b="1">
                <a:solidFill>
                  <a:srgbClr val="FFFFFF"/>
                </a:solidFill>
                <a:latin typeface="Open Sans"/>
                <a:ea typeface="Open Sans"/>
                <a:cs typeface="Open Sans"/>
              </a:defRPr>
            </a:lvl4pPr>
            <a:lvl5pPr algn="ctr">
              <a:defRPr sz="3127" b="1">
                <a:solidFill>
                  <a:srgbClr val="FFFFFF"/>
                </a:solidFill>
                <a:latin typeface="Open Sans"/>
                <a:ea typeface="Open Sans"/>
                <a:cs typeface="Open Sans"/>
              </a:defRPr>
            </a:lvl5pPr>
            <a:lvl6pPr algn="ctr">
              <a:defRPr sz="3127" b="1">
                <a:solidFill>
                  <a:srgbClr val="FFFFFF"/>
                </a:solidFill>
                <a:latin typeface="Open Sans"/>
                <a:ea typeface="Open Sans"/>
                <a:cs typeface="Open Sans"/>
              </a:defRPr>
            </a:lvl6pPr>
            <a:lvl7pPr algn="ctr">
              <a:defRPr sz="3127" b="1">
                <a:solidFill>
                  <a:srgbClr val="FFFFFF"/>
                </a:solidFill>
                <a:latin typeface="Open Sans"/>
                <a:ea typeface="Open Sans"/>
                <a:cs typeface="Open Sans"/>
              </a:defRPr>
            </a:lvl7pPr>
            <a:lvl8pPr algn="ctr">
              <a:defRPr sz="3127" b="1">
                <a:solidFill>
                  <a:srgbClr val="FFFFFF"/>
                </a:solidFill>
                <a:latin typeface="Open Sans"/>
                <a:ea typeface="Open Sans"/>
                <a:cs typeface="Open Sans"/>
              </a:defRPr>
            </a:lvl8pPr>
            <a:lvl9pPr algn="ctr">
              <a:defRPr sz="3127" b="1">
                <a:solidFill>
                  <a:srgbClr val="FFFFFF"/>
                </a:solidFill>
                <a:latin typeface="Open Sans"/>
                <a:ea typeface="Open Sans"/>
                <a:cs typeface="Open Sans"/>
              </a:defRPr>
            </a:lvl9pPr>
          </a:lstStyle>
          <a:p>
            <a:pPr algn="ctr">
              <a:defRPr sz="3127" b="1">
                <a:solidFill>
                  <a:srgbClr val="FFFFFF"/>
                </a:solidFill>
                <a:latin typeface="Open Sans"/>
                <a:ea typeface="Open Sans"/>
                <a:cs typeface="Open Sans"/>
              </a:defRPr>
            </a:pPr>
            <a:r>
              <a:rPr sz="3127" b="1">
                <a:solidFill>
                  <a:srgbClr val="FFFFFF"/>
                </a:solidFill>
                <a:latin typeface="Open Sans"/>
                <a:ea typeface="Open Sans"/>
                <a:cs typeface="Open Sans"/>
              </a:rPr>
              <a:t>E: Open chest</a:t>
            </a:r>
          </a:p>
        </p:txBody>
      </p:sp>
      <p:sp>
        <p:nvSpPr>
          <p:cNvPr id="11" name="Answer">
            <a:extLst>
              <a:ext uri="{FF2B5EF4-FFF2-40B4-BE49-F238E27FC236}">
                <a16:creationId xmlns:a16="http://schemas.microsoft.com/office/drawing/2014/main" id="{BDE01F54-4CC5-437D-A62D-967E11AA9DA6}"/>
              </a:ext>
            </a:extLst>
          </p:cNvPr>
          <p:cNvSpPr>
            <a:spLocks noGrp="1"/>
          </p:cNvSpPr>
          <p:nvPr/>
        </p:nvSpPr>
        <p:spPr>
          <a:xfrm>
            <a:off x="13144500" y="7239000"/>
            <a:ext cx="4191000" cy="571500"/>
          </a:xfrm>
          <a:prstGeom prst="rect">
            <a:avLst/>
          </a:prstGeom>
          <a:noFill/>
          <a:ln w="0">
            <a:noFill/>
          </a:ln>
        </p:spPr>
        <p:txBody>
          <a:bodyPr wrap="none" lIns="0" tIns="0" rIns="0" bIns="0" anchor="t">
            <a:noAutofit/>
          </a:bodyPr>
          <a:lstStyle>
            <a:defPPr algn="l">
              <a:defRPr sz="2850" b="1">
                <a:solidFill>
                  <a:srgbClr val="9AFFD2"/>
                </a:solidFill>
                <a:latin typeface="Open Sans"/>
                <a:ea typeface="Open Sans"/>
                <a:cs typeface="Open Sans"/>
              </a:defRPr>
            </a:defPPr>
            <a:lvl1pPr algn="l">
              <a:defRPr sz="2850" b="1">
                <a:solidFill>
                  <a:srgbClr val="9AFFD2"/>
                </a:solidFill>
                <a:latin typeface="Open Sans"/>
                <a:ea typeface="Open Sans"/>
                <a:cs typeface="Open Sans"/>
              </a:defRPr>
            </a:lvl1pPr>
            <a:lvl2pPr algn="l">
              <a:defRPr sz="2850" b="1">
                <a:solidFill>
                  <a:srgbClr val="9AFFD2"/>
                </a:solidFill>
                <a:latin typeface="Open Sans"/>
                <a:ea typeface="Open Sans"/>
                <a:cs typeface="Open Sans"/>
              </a:defRPr>
            </a:lvl2pPr>
            <a:lvl3pPr algn="l">
              <a:defRPr sz="2850" b="1">
                <a:solidFill>
                  <a:srgbClr val="9AFFD2"/>
                </a:solidFill>
                <a:latin typeface="Open Sans"/>
                <a:ea typeface="Open Sans"/>
                <a:cs typeface="Open Sans"/>
              </a:defRPr>
            </a:lvl3pPr>
            <a:lvl4pPr algn="l">
              <a:defRPr sz="2850" b="1">
                <a:solidFill>
                  <a:srgbClr val="9AFFD2"/>
                </a:solidFill>
                <a:latin typeface="Open Sans"/>
                <a:ea typeface="Open Sans"/>
                <a:cs typeface="Open Sans"/>
              </a:defRPr>
            </a:lvl4pPr>
            <a:lvl5pPr algn="l">
              <a:defRPr sz="2850" b="1">
                <a:solidFill>
                  <a:srgbClr val="9AFFD2"/>
                </a:solidFill>
                <a:latin typeface="Open Sans"/>
                <a:ea typeface="Open Sans"/>
                <a:cs typeface="Open Sans"/>
              </a:defRPr>
            </a:lvl5pPr>
            <a:lvl6pPr algn="l">
              <a:defRPr sz="2850" b="1">
                <a:solidFill>
                  <a:srgbClr val="9AFFD2"/>
                </a:solidFill>
                <a:latin typeface="Open Sans"/>
                <a:ea typeface="Open Sans"/>
                <a:cs typeface="Open Sans"/>
              </a:defRPr>
            </a:lvl6pPr>
            <a:lvl7pPr algn="l">
              <a:defRPr sz="2850" b="1">
                <a:solidFill>
                  <a:srgbClr val="9AFFD2"/>
                </a:solidFill>
                <a:latin typeface="Open Sans"/>
                <a:ea typeface="Open Sans"/>
                <a:cs typeface="Open Sans"/>
              </a:defRPr>
            </a:lvl7pPr>
            <a:lvl8pPr algn="l">
              <a:defRPr sz="2850" b="1">
                <a:solidFill>
                  <a:srgbClr val="9AFFD2"/>
                </a:solidFill>
                <a:latin typeface="Open Sans"/>
                <a:ea typeface="Open Sans"/>
                <a:cs typeface="Open Sans"/>
              </a:defRPr>
            </a:lvl8pPr>
            <a:lvl9pPr algn="l">
              <a:defRPr sz="2850" b="1">
                <a:solidFill>
                  <a:srgbClr val="9AFFD2"/>
                </a:solidFill>
                <a:latin typeface="Open Sans"/>
                <a:ea typeface="Open Sans"/>
                <a:cs typeface="Open Sans"/>
              </a:defRPr>
            </a:lvl9pPr>
          </a:lstStyle>
          <a:p>
            <a:pPr algn="l">
              <a:defRPr sz="2850" b="1">
                <a:solidFill>
                  <a:srgbClr val="9AFFD2"/>
                </a:solidFill>
                <a:latin typeface="Open Sans"/>
                <a:ea typeface="Open Sans"/>
                <a:cs typeface="Open Sans"/>
              </a:defRPr>
            </a:pPr>
            <a:r>
              <a:rPr sz="2850" b="1">
                <a:solidFill>
                  <a:srgbClr val="9AFFD2"/>
                </a:solidFill>
                <a:latin typeface="Open Sans"/>
                <a:ea typeface="Open Sans"/>
                <a:cs typeface="Open Sans"/>
              </a:rPr>
              <a:t>Answer 3</a:t>
            </a:r>
          </a:p>
        </p:txBody>
      </p:sp>
      <p:sp>
        <p:nvSpPr>
          <p:cNvPr id="12" name="Reason">
            <a:extLst>
              <a:ext uri="{FF2B5EF4-FFF2-40B4-BE49-F238E27FC236}">
                <a16:creationId xmlns:a16="http://schemas.microsoft.com/office/drawing/2014/main" id="{BDBB31B4-EED6-4AA2-B327-75793EDE9EE3}"/>
              </a:ext>
            </a:extLst>
          </p:cNvPr>
          <p:cNvSpPr>
            <a:spLocks noGrp="1"/>
          </p:cNvSpPr>
          <p:nvPr/>
        </p:nvSpPr>
        <p:spPr>
          <a:xfrm>
            <a:off x="13144500" y="7924800"/>
            <a:ext cx="4191000" cy="161925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Name the target</a:t>
            </a:r>
          </a:p>
        </p:txBody>
      </p:sp>
    </p:spTree>
    <p:extLst>
      <p:ext uri="{BB962C8B-B14F-4D97-AF65-F5344CB8AC3E}">
        <p14:creationId xmlns:p14="http://schemas.microsoft.com/office/powerpoint/2010/main" val="135032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5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5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5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1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book_slide14.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19" name="Template clouds 19"/>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18" name="Template clouds 18"/>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7" name="Template grass 17"/>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6" name="Template grass 16"/>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5" name="Template grass 15"/>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4" name="Slide title">
            <a:extLst>
              <a:ext uri="{FF2B5EF4-FFF2-40B4-BE49-F238E27FC236}">
                <a16:creationId xmlns:a16="http://schemas.microsoft.com/office/drawing/2014/main" id="{9F780A87-9584-4886-9B35-9DACFB3916DC}"/>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WHICH ICON OWNS 278?</a:t>
            </a:r>
          </a:p>
        </p:txBody>
      </p:sp>
      <p:sp>
        <p:nvSpPr>
          <p:cNvPr id="2" name="Source credit">
            <a:extLst>
              <a:ext uri="{FF2B5EF4-FFF2-40B4-BE49-F238E27FC236}">
                <a16:creationId xmlns:a16="http://schemas.microsoft.com/office/drawing/2014/main" id="{65BC33FB-2019-4E0D-BCC4-530647EAAC5C}"/>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0">
                <a:solidFill>
                  <a:srgbClr val="FFFFFF"/>
                </a:solidFill>
                <a:latin typeface="Open Sans"/>
                <a:ea typeface="Open Sans"/>
                <a:cs typeface="Open Sans"/>
              </a:rPr>
              <a:t>Hollow Knight / Team Cherry     ·     </a:t>
            </a:r>
            <a:r>
              <a:rPr sz="2000" b="1">
                <a:solidFill>
                  <a:srgbClr val="9AFFD2"/>
                </a:solidFill>
                <a:latin typeface="Open Sans"/>
                <a:ea typeface="Open Sans"/>
                <a:cs typeface="Open Sans"/>
              </a:rPr>
              <a:t>Book idea: </a:t>
            </a:r>
            <a:r>
              <a:rPr sz="2000" b="0">
                <a:solidFill>
                  <a:srgbClr val="FFFFFF"/>
                </a:solidFill>
                <a:latin typeface="Open Sans"/>
                <a:ea typeface="Open Sans"/>
                <a:cs typeface="Open Sans"/>
              </a:rPr>
              <a:t>100 Things Every Designer Needs to Know About People</a:t>
            </a:r>
          </a:p>
        </p:txBody>
      </p:sp>
      <p:sp>
        <p:nvSpPr>
          <p:cNvPr id="3" name="Vote prompt">
            <a:extLst>
              <a:ext uri="{FF2B5EF4-FFF2-40B4-BE49-F238E27FC236}">
                <a16:creationId xmlns:a16="http://schemas.microsoft.com/office/drawing/2014/main" id="{FF8E78B2-6943-4732-8CFF-88765A16C992}"/>
              </a:ext>
            </a:extLst>
          </p:cNvPr>
          <p:cNvSpPr>
            <a:spLocks noGrp="1"/>
          </p:cNvSpPr>
          <p:nvPr/>
        </p:nvSpPr>
        <p:spPr>
          <a:xfrm>
            <a:off x="13144500" y="2809875"/>
            <a:ext cx="4191000" cy="619125"/>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VOTE  1 / 2 / 3</a:t>
            </a:r>
          </a:p>
        </p:txBody>
      </p:sp>
      <p:sp>
        <p:nvSpPr>
          <p:cNvPr id="4" name="Choice 1">
            <a:extLst>
              <a:ext uri="{FF2B5EF4-FFF2-40B4-BE49-F238E27FC236}">
                <a16:creationId xmlns:a16="http://schemas.microsoft.com/office/drawing/2014/main" id="{FEADFAA9-1CC1-437B-9571-E4EB3D1EA69E}"/>
              </a:ext>
            </a:extLst>
          </p:cNvPr>
          <p:cNvSpPr>
            <a:spLocks noGrp="1"/>
          </p:cNvSpPr>
          <p:nvPr/>
        </p:nvSpPr>
        <p:spPr>
          <a:xfrm>
            <a:off x="13144500" y="381000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1  Orb</a:t>
            </a:r>
          </a:p>
        </p:txBody>
      </p:sp>
      <p:sp>
        <p:nvSpPr>
          <p:cNvPr id="5" name="Choice 2">
            <a:extLst>
              <a:ext uri="{FF2B5EF4-FFF2-40B4-BE49-F238E27FC236}">
                <a16:creationId xmlns:a16="http://schemas.microsoft.com/office/drawing/2014/main" id="{2352C768-119A-4481-9BC5-EE1C27AF0D7F}"/>
              </a:ext>
            </a:extLst>
          </p:cNvPr>
          <p:cNvSpPr>
            <a:spLocks noGrp="1"/>
          </p:cNvSpPr>
          <p:nvPr/>
        </p:nvSpPr>
        <p:spPr>
          <a:xfrm>
            <a:off x="13144500" y="4905375"/>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2  Masks</a:t>
            </a:r>
          </a:p>
        </p:txBody>
      </p:sp>
      <p:sp>
        <p:nvSpPr>
          <p:cNvPr id="6" name="Choice 3">
            <a:extLst>
              <a:ext uri="{FF2B5EF4-FFF2-40B4-BE49-F238E27FC236}">
                <a16:creationId xmlns:a16="http://schemas.microsoft.com/office/drawing/2014/main" id="{4657CD1D-0022-4311-B9D2-4B295B8EB1E4}"/>
              </a:ext>
            </a:extLst>
          </p:cNvPr>
          <p:cNvSpPr>
            <a:spLocks noGrp="1"/>
          </p:cNvSpPr>
          <p:nvPr/>
        </p:nvSpPr>
        <p:spPr>
          <a:xfrm>
            <a:off x="13144500" y="600075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3  Pebbles</a:t>
            </a:r>
          </a:p>
        </p:txBody>
      </p:sp>
      <p:pic>
        <p:nvPicPr>
          <p:cNvPr id="7" name="hollow-knight-hud question image" descr="hollow-knight-hud question image">
            <a:extLst>
              <a:ext uri="{FF2B5EF4-FFF2-40B4-BE49-F238E27FC236}">
                <a16:creationId xmlns:a16="http://schemas.microsoft.com/office/drawing/2014/main" id="{3F1A6C66-E267-4A03-8A84-1FF9EC70F75F}"/>
              </a:ext>
            </a:extLst>
          </p:cNvPr>
          <p:cNvPicPr>
            <a:picLocks noChangeAspect="1"/>
          </p:cNvPicPr>
          <p:nvPr/>
        </p:nvPicPr>
        <p:blipFill>
          <a:blip r:embed="rId5"/>
          <a:stretch/>
        </p:blipFill>
        <p:spPr>
          <a:xfrm>
            <a:off x="762000" y="3143250"/>
            <a:ext cx="11049000" cy="5524500"/>
          </a:xfrm>
          <a:prstGeom prst="rect">
            <a:avLst/>
          </a:prstGeom>
        </p:spPr>
      </p:pic>
      <p:sp>
        <p:nvSpPr>
          <p:cNvPr id="8" name="hollow-knight-hud pebbles-and-counter halo">
            <a:extLst>
              <a:ext uri="{FF2B5EF4-FFF2-40B4-BE49-F238E27FC236}">
                <a16:creationId xmlns:a16="http://schemas.microsoft.com/office/drawing/2014/main" id="{8C6FE05B-15FA-445B-87F5-3063B03B9154}"/>
              </a:ext>
            </a:extLst>
          </p:cNvPr>
          <p:cNvSpPr>
            <a:spLocks noGrp="1"/>
          </p:cNvSpPr>
          <p:nvPr/>
        </p:nvSpPr>
        <p:spPr>
          <a:xfrm>
            <a:off x="4537075" y="5836444"/>
            <a:ext cx="3729038" cy="1657350"/>
          </a:xfrm>
          <a:prstGeom prst="roundRect">
            <a:avLst>
              <a:gd name="adj" fmla="val 4598"/>
            </a:avLst>
          </a:prstGeom>
          <a:noFill/>
          <a:ln w="184150">
            <a:solidFill>
              <a:srgbClr val="080912"/>
            </a:solidFill>
          </a:ln>
        </p:spPr>
      </p:sp>
      <p:sp>
        <p:nvSpPr>
          <p:cNvPr id="9" name="hollow-knight-hud pebbles-and-counter focus">
            <a:extLst>
              <a:ext uri="{FF2B5EF4-FFF2-40B4-BE49-F238E27FC236}">
                <a16:creationId xmlns:a16="http://schemas.microsoft.com/office/drawing/2014/main" id="{0069F0C5-AEC0-4477-A9DB-96884533C44D}"/>
              </a:ext>
            </a:extLst>
          </p:cNvPr>
          <p:cNvSpPr>
            <a:spLocks noGrp="1"/>
          </p:cNvSpPr>
          <p:nvPr/>
        </p:nvSpPr>
        <p:spPr>
          <a:xfrm>
            <a:off x="4537075" y="5836444"/>
            <a:ext cx="3729038" cy="1657350"/>
          </a:xfrm>
          <a:prstGeom prst="roundRect">
            <a:avLst>
              <a:gd name="adj" fmla="val 4598"/>
            </a:avLst>
          </a:prstGeom>
          <a:noFill/>
          <a:ln w="92075">
            <a:solidFill>
              <a:srgbClr val="9AFFD2"/>
            </a:solidFill>
          </a:ln>
        </p:spPr>
      </p:sp>
      <p:sp>
        <p:nvSpPr>
          <p:cNvPr id="10" name="hollow-knight-hud number halo">
            <a:extLst>
              <a:ext uri="{FF2B5EF4-FFF2-40B4-BE49-F238E27FC236}">
                <a16:creationId xmlns:a16="http://schemas.microsoft.com/office/drawing/2014/main" id="{4A95FEB4-38DD-4120-ABB4-87F3235D99E1}"/>
              </a:ext>
            </a:extLst>
          </p:cNvPr>
          <p:cNvSpPr>
            <a:spLocks noGrp="1"/>
          </p:cNvSpPr>
          <p:nvPr/>
        </p:nvSpPr>
        <p:spPr>
          <a:xfrm>
            <a:off x="8054181" y="7281863"/>
            <a:ext cx="2058194" cy="1275556"/>
          </a:xfrm>
          <a:custGeom>
            <a:avLst/>
            <a:gdLst/>
            <a:ahLst/>
            <a:cxnLst/>
            <a:rect l="0" t="0" r="0" b="0"/>
            <a:pathLst>
              <a:path w="2058194" h="1275556">
                <a:moveTo>
                  <a:pt x="1915319" y="1132681"/>
                </a:moveTo>
                <a:lnTo>
                  <a:pt x="142875" y="142875"/>
                </a:lnTo>
                <a:moveTo>
                  <a:pt x="305931" y="143928"/>
                </a:moveTo>
                <a:lnTo>
                  <a:pt x="142875" y="142875"/>
                </a:lnTo>
                <a:lnTo>
                  <a:pt x="229303" y="281144"/>
                </a:lnTo>
              </a:path>
            </a:pathLst>
          </a:custGeom>
          <a:noFill/>
          <a:ln w="184150">
            <a:solidFill>
              <a:srgbClr val="080912"/>
            </a:solidFill>
          </a:ln>
        </p:spPr>
      </p:sp>
      <p:sp>
        <p:nvSpPr>
          <p:cNvPr id="11" name="hollow-knight-hud number focus">
            <a:extLst>
              <a:ext uri="{FF2B5EF4-FFF2-40B4-BE49-F238E27FC236}">
                <a16:creationId xmlns:a16="http://schemas.microsoft.com/office/drawing/2014/main" id="{A2A6EB34-E0ED-49BA-9A29-7208A5CDF659}"/>
              </a:ext>
            </a:extLst>
          </p:cNvPr>
          <p:cNvSpPr>
            <a:spLocks noGrp="1"/>
          </p:cNvSpPr>
          <p:nvPr/>
        </p:nvSpPr>
        <p:spPr>
          <a:xfrm>
            <a:off x="8054181" y="7281863"/>
            <a:ext cx="2058194" cy="1275556"/>
          </a:xfrm>
          <a:custGeom>
            <a:avLst/>
            <a:gdLst/>
            <a:ahLst/>
            <a:cxnLst/>
            <a:rect l="0" t="0" r="0" b="0"/>
            <a:pathLst>
              <a:path w="2058194" h="1275556">
                <a:moveTo>
                  <a:pt x="1915319" y="1132681"/>
                </a:moveTo>
                <a:lnTo>
                  <a:pt x="142875" y="142875"/>
                </a:lnTo>
                <a:moveTo>
                  <a:pt x="305931" y="143928"/>
                </a:moveTo>
                <a:lnTo>
                  <a:pt x="142875" y="142875"/>
                </a:lnTo>
                <a:lnTo>
                  <a:pt x="229303" y="281144"/>
                </a:lnTo>
              </a:path>
            </a:pathLst>
          </a:custGeom>
          <a:noFill/>
          <a:ln w="92075">
            <a:solidFill>
              <a:srgbClr val="9AFFD2"/>
            </a:solidFill>
          </a:ln>
        </p:spPr>
      </p:sp>
      <p:sp>
        <p:nvSpPr>
          <p:cNvPr id="12" name="Answer">
            <a:extLst>
              <a:ext uri="{FF2B5EF4-FFF2-40B4-BE49-F238E27FC236}">
                <a16:creationId xmlns:a16="http://schemas.microsoft.com/office/drawing/2014/main" id="{EADBB4A9-6CCE-45AD-8218-B0E52E33165D}"/>
              </a:ext>
            </a:extLst>
          </p:cNvPr>
          <p:cNvSpPr>
            <a:spLocks noGrp="1"/>
          </p:cNvSpPr>
          <p:nvPr/>
        </p:nvSpPr>
        <p:spPr>
          <a:xfrm>
            <a:off x="13144500" y="7239000"/>
            <a:ext cx="4191000" cy="571500"/>
          </a:xfrm>
          <a:prstGeom prst="rect">
            <a:avLst/>
          </a:prstGeom>
          <a:noFill/>
          <a:ln w="0">
            <a:noFill/>
          </a:ln>
        </p:spPr>
        <p:txBody>
          <a:bodyPr wrap="none" lIns="0" tIns="0" rIns="0" bIns="0" anchor="t">
            <a:noAutofit/>
          </a:bodyPr>
          <a:lstStyle>
            <a:defPPr algn="l">
              <a:defRPr sz="2850" b="1">
                <a:solidFill>
                  <a:srgbClr val="9AFFD2"/>
                </a:solidFill>
                <a:latin typeface="Open Sans"/>
                <a:ea typeface="Open Sans"/>
                <a:cs typeface="Open Sans"/>
              </a:defRPr>
            </a:defPPr>
            <a:lvl1pPr algn="l">
              <a:defRPr sz="2850" b="1">
                <a:solidFill>
                  <a:srgbClr val="9AFFD2"/>
                </a:solidFill>
                <a:latin typeface="Open Sans"/>
                <a:ea typeface="Open Sans"/>
                <a:cs typeface="Open Sans"/>
              </a:defRPr>
            </a:lvl1pPr>
            <a:lvl2pPr algn="l">
              <a:defRPr sz="2850" b="1">
                <a:solidFill>
                  <a:srgbClr val="9AFFD2"/>
                </a:solidFill>
                <a:latin typeface="Open Sans"/>
                <a:ea typeface="Open Sans"/>
                <a:cs typeface="Open Sans"/>
              </a:defRPr>
            </a:lvl2pPr>
            <a:lvl3pPr algn="l">
              <a:defRPr sz="2850" b="1">
                <a:solidFill>
                  <a:srgbClr val="9AFFD2"/>
                </a:solidFill>
                <a:latin typeface="Open Sans"/>
                <a:ea typeface="Open Sans"/>
                <a:cs typeface="Open Sans"/>
              </a:defRPr>
            </a:lvl3pPr>
            <a:lvl4pPr algn="l">
              <a:defRPr sz="2850" b="1">
                <a:solidFill>
                  <a:srgbClr val="9AFFD2"/>
                </a:solidFill>
                <a:latin typeface="Open Sans"/>
                <a:ea typeface="Open Sans"/>
                <a:cs typeface="Open Sans"/>
              </a:defRPr>
            </a:lvl4pPr>
            <a:lvl5pPr algn="l">
              <a:defRPr sz="2850" b="1">
                <a:solidFill>
                  <a:srgbClr val="9AFFD2"/>
                </a:solidFill>
                <a:latin typeface="Open Sans"/>
                <a:ea typeface="Open Sans"/>
                <a:cs typeface="Open Sans"/>
              </a:defRPr>
            </a:lvl5pPr>
            <a:lvl6pPr algn="l">
              <a:defRPr sz="2850" b="1">
                <a:solidFill>
                  <a:srgbClr val="9AFFD2"/>
                </a:solidFill>
                <a:latin typeface="Open Sans"/>
                <a:ea typeface="Open Sans"/>
                <a:cs typeface="Open Sans"/>
              </a:defRPr>
            </a:lvl6pPr>
            <a:lvl7pPr algn="l">
              <a:defRPr sz="2850" b="1">
                <a:solidFill>
                  <a:srgbClr val="9AFFD2"/>
                </a:solidFill>
                <a:latin typeface="Open Sans"/>
                <a:ea typeface="Open Sans"/>
                <a:cs typeface="Open Sans"/>
              </a:defRPr>
            </a:lvl7pPr>
            <a:lvl8pPr algn="l">
              <a:defRPr sz="2850" b="1">
                <a:solidFill>
                  <a:srgbClr val="9AFFD2"/>
                </a:solidFill>
                <a:latin typeface="Open Sans"/>
                <a:ea typeface="Open Sans"/>
                <a:cs typeface="Open Sans"/>
              </a:defRPr>
            </a:lvl8pPr>
            <a:lvl9pPr algn="l">
              <a:defRPr sz="2850" b="1">
                <a:solidFill>
                  <a:srgbClr val="9AFFD2"/>
                </a:solidFill>
                <a:latin typeface="Open Sans"/>
                <a:ea typeface="Open Sans"/>
                <a:cs typeface="Open Sans"/>
              </a:defRPr>
            </a:lvl9pPr>
          </a:lstStyle>
          <a:p>
            <a:pPr algn="l">
              <a:defRPr sz="2850" b="1">
                <a:solidFill>
                  <a:srgbClr val="9AFFD2"/>
                </a:solidFill>
                <a:latin typeface="Open Sans"/>
                <a:ea typeface="Open Sans"/>
                <a:cs typeface="Open Sans"/>
              </a:defRPr>
            </a:pPr>
            <a:r>
              <a:rPr sz="2850" b="1">
                <a:solidFill>
                  <a:srgbClr val="9AFFD2"/>
                </a:solidFill>
                <a:latin typeface="Open Sans"/>
                <a:ea typeface="Open Sans"/>
                <a:cs typeface="Open Sans"/>
              </a:rPr>
              <a:t>Answer 3</a:t>
            </a:r>
          </a:p>
        </p:txBody>
      </p:sp>
      <p:sp>
        <p:nvSpPr>
          <p:cNvPr id="13" name="Reason">
            <a:extLst>
              <a:ext uri="{FF2B5EF4-FFF2-40B4-BE49-F238E27FC236}">
                <a16:creationId xmlns:a16="http://schemas.microsoft.com/office/drawing/2014/main" id="{9F898007-E051-400E-B235-A61AEBED4186}"/>
              </a:ext>
            </a:extLst>
          </p:cNvPr>
          <p:cNvSpPr>
            <a:spLocks noGrp="1"/>
          </p:cNvSpPr>
          <p:nvPr/>
        </p:nvSpPr>
        <p:spPr>
          <a:xfrm>
            <a:off x="13144500" y="7924800"/>
            <a:ext cx="4191000" cy="161925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Proximity links</a:t>
            </a:r>
          </a:p>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information</a:t>
            </a:r>
          </a:p>
        </p:txBody>
      </p:sp>
    </p:spTree>
    <p:extLst>
      <p:ext uri="{BB962C8B-B14F-4D97-AF65-F5344CB8AC3E}">
        <p14:creationId xmlns:p14="http://schemas.microsoft.com/office/powerpoint/2010/main" val="167188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5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5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book_slide15.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1" name="Template clouds 21"/>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20" name="Template clouds 20"/>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9" name="Template grass 19"/>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8" name="Template grass 18"/>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7" name="Template grass 17"/>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6" name="Slide title">
            <a:extLst>
              <a:ext uri="{FF2B5EF4-FFF2-40B4-BE49-F238E27FC236}">
                <a16:creationId xmlns:a16="http://schemas.microsoft.com/office/drawing/2014/main" id="{C823447A-C856-4600-A8EB-39ABDAAC5DF1}"/>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WHY TWO HALVES?</a:t>
            </a:r>
          </a:p>
        </p:txBody>
      </p:sp>
      <p:sp>
        <p:nvSpPr>
          <p:cNvPr id="2" name="Source credit">
            <a:extLst>
              <a:ext uri="{FF2B5EF4-FFF2-40B4-BE49-F238E27FC236}">
                <a16:creationId xmlns:a16="http://schemas.microsoft.com/office/drawing/2014/main" id="{FDA20586-F833-4992-8273-75E1354D965E}"/>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0">
                <a:solidFill>
                  <a:srgbClr val="FFFFFF"/>
                </a:solidFill>
                <a:latin typeface="Open Sans"/>
                <a:ea typeface="Open Sans"/>
                <a:cs typeface="Open Sans"/>
              </a:rPr>
              <a:t>It Takes Two / Hazelight / EA     ·     </a:t>
            </a:r>
            <a:r>
              <a:rPr sz="2000" b="1">
                <a:solidFill>
                  <a:srgbClr val="9AFFD2"/>
                </a:solidFill>
                <a:latin typeface="Open Sans"/>
                <a:ea typeface="Open Sans"/>
                <a:cs typeface="Open Sans"/>
              </a:rPr>
              <a:t>Book idea: </a:t>
            </a:r>
            <a:r>
              <a:rPr sz="2000" b="0">
                <a:solidFill>
                  <a:srgbClr val="FFFFFF"/>
                </a:solidFill>
                <a:latin typeface="Open Sans"/>
                <a:ea typeface="Open Sans"/>
                <a:cs typeface="Open Sans"/>
              </a:rPr>
              <a:t>Hooked</a:t>
            </a:r>
          </a:p>
        </p:txBody>
      </p:sp>
      <p:sp>
        <p:nvSpPr>
          <p:cNvPr id="3" name="Vote prompt">
            <a:extLst>
              <a:ext uri="{FF2B5EF4-FFF2-40B4-BE49-F238E27FC236}">
                <a16:creationId xmlns:a16="http://schemas.microsoft.com/office/drawing/2014/main" id="{0091EEDD-11D9-4547-B00E-52E1D029A0F5}"/>
              </a:ext>
            </a:extLst>
          </p:cNvPr>
          <p:cNvSpPr>
            <a:spLocks noGrp="1"/>
          </p:cNvSpPr>
          <p:nvPr/>
        </p:nvSpPr>
        <p:spPr>
          <a:xfrm>
            <a:off x="13144500" y="2809875"/>
            <a:ext cx="4191000" cy="619125"/>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VOTE  1 / 2 / 3</a:t>
            </a:r>
          </a:p>
        </p:txBody>
      </p:sp>
      <p:sp>
        <p:nvSpPr>
          <p:cNvPr id="4" name="Choice 1">
            <a:extLst>
              <a:ext uri="{FF2B5EF4-FFF2-40B4-BE49-F238E27FC236}">
                <a16:creationId xmlns:a16="http://schemas.microsoft.com/office/drawing/2014/main" id="{4CF5E83F-C304-4C7D-8E23-D8614AF35199}"/>
              </a:ext>
            </a:extLst>
          </p:cNvPr>
          <p:cNvSpPr>
            <a:spLocks noGrp="1"/>
          </p:cNvSpPr>
          <p:nvPr/>
        </p:nvSpPr>
        <p:spPr>
          <a:xfrm>
            <a:off x="13144500" y="381000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1  Two views</a:t>
            </a:r>
          </a:p>
        </p:txBody>
      </p:sp>
      <p:sp>
        <p:nvSpPr>
          <p:cNvPr id="5" name="Choice 2">
            <a:extLst>
              <a:ext uri="{FF2B5EF4-FFF2-40B4-BE49-F238E27FC236}">
                <a16:creationId xmlns:a16="http://schemas.microsoft.com/office/drawing/2014/main" id="{8825EF35-1099-45DE-8EEE-F2861C3E37B8}"/>
              </a:ext>
            </a:extLst>
          </p:cNvPr>
          <p:cNvSpPr>
            <a:spLocks noGrp="1"/>
          </p:cNvSpPr>
          <p:nvPr/>
        </p:nvSpPr>
        <p:spPr>
          <a:xfrm>
            <a:off x="13144500" y="4905375"/>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2  Before/after</a:t>
            </a:r>
          </a:p>
        </p:txBody>
      </p:sp>
      <p:sp>
        <p:nvSpPr>
          <p:cNvPr id="6" name="Choice 3">
            <a:extLst>
              <a:ext uri="{FF2B5EF4-FFF2-40B4-BE49-F238E27FC236}">
                <a16:creationId xmlns:a16="http://schemas.microsoft.com/office/drawing/2014/main" id="{078C34F2-81B7-4009-AB66-9BA9D80B0589}"/>
              </a:ext>
            </a:extLst>
          </p:cNvPr>
          <p:cNvSpPr>
            <a:spLocks noGrp="1"/>
          </p:cNvSpPr>
          <p:nvPr/>
        </p:nvSpPr>
        <p:spPr>
          <a:xfrm>
            <a:off x="13144500" y="600075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3  Map/game</a:t>
            </a:r>
          </a:p>
        </p:txBody>
      </p:sp>
      <p:pic>
        <p:nvPicPr>
          <p:cNvPr id="7" name="it-takes-two-cooperation question image" descr="it-takes-two-cooperation question image">
            <a:extLst>
              <a:ext uri="{FF2B5EF4-FFF2-40B4-BE49-F238E27FC236}">
                <a16:creationId xmlns:a16="http://schemas.microsoft.com/office/drawing/2014/main" id="{091BA4DE-6D30-40DF-9D31-A15FD9602675}"/>
              </a:ext>
            </a:extLst>
          </p:cNvPr>
          <p:cNvPicPr>
            <a:picLocks noChangeAspect="1"/>
          </p:cNvPicPr>
          <p:nvPr/>
        </p:nvPicPr>
        <p:blipFill>
          <a:blip r:embed="rId5"/>
          <a:stretch/>
        </p:blipFill>
        <p:spPr>
          <a:xfrm>
            <a:off x="762000" y="2714625"/>
            <a:ext cx="11049000" cy="6215063"/>
          </a:xfrm>
          <a:prstGeom prst="rect">
            <a:avLst/>
          </a:prstGeom>
        </p:spPr>
      </p:pic>
      <p:sp>
        <p:nvSpPr>
          <p:cNvPr id="8" name="it-takes-two-cooperation left-foreground-character halo">
            <a:extLst>
              <a:ext uri="{FF2B5EF4-FFF2-40B4-BE49-F238E27FC236}">
                <a16:creationId xmlns:a16="http://schemas.microsoft.com/office/drawing/2014/main" id="{81702288-AF0D-48AD-BF22-4133C4EE43C4}"/>
              </a:ext>
            </a:extLst>
          </p:cNvPr>
          <p:cNvSpPr>
            <a:spLocks noGrp="1"/>
          </p:cNvSpPr>
          <p:nvPr/>
        </p:nvSpPr>
        <p:spPr>
          <a:xfrm>
            <a:off x="1418034" y="5896967"/>
            <a:ext cx="1450181" cy="2589609"/>
          </a:xfrm>
          <a:prstGeom prst="ellipse">
            <a:avLst/>
          </a:prstGeom>
          <a:noFill/>
          <a:ln w="69056">
            <a:solidFill>
              <a:srgbClr val="080912"/>
            </a:solidFill>
          </a:ln>
        </p:spPr>
      </p:sp>
      <p:sp>
        <p:nvSpPr>
          <p:cNvPr id="9" name="it-takes-two-cooperation left-foreground-character focus">
            <a:extLst>
              <a:ext uri="{FF2B5EF4-FFF2-40B4-BE49-F238E27FC236}">
                <a16:creationId xmlns:a16="http://schemas.microsoft.com/office/drawing/2014/main" id="{3C20BCC1-05E9-4B43-9A0E-FA14DDC28F6B}"/>
              </a:ext>
            </a:extLst>
          </p:cNvPr>
          <p:cNvSpPr>
            <a:spLocks noGrp="1"/>
          </p:cNvSpPr>
          <p:nvPr/>
        </p:nvSpPr>
        <p:spPr>
          <a:xfrm>
            <a:off x="1418034" y="5896967"/>
            <a:ext cx="1450181" cy="2589609"/>
          </a:xfrm>
          <a:prstGeom prst="ellipse">
            <a:avLst/>
          </a:prstGeom>
          <a:noFill/>
          <a:ln w="34528">
            <a:solidFill>
              <a:srgbClr val="9AFFD2"/>
            </a:solidFill>
          </a:ln>
        </p:spPr>
      </p:sp>
      <p:sp>
        <p:nvSpPr>
          <p:cNvPr id="10" name="it-takes-two-cooperation right-foreground-character halo">
            <a:extLst>
              <a:ext uri="{FF2B5EF4-FFF2-40B4-BE49-F238E27FC236}">
                <a16:creationId xmlns:a16="http://schemas.microsoft.com/office/drawing/2014/main" id="{0D7FA517-B4A7-4564-B18D-925D1A064713}"/>
              </a:ext>
            </a:extLst>
          </p:cNvPr>
          <p:cNvSpPr>
            <a:spLocks noGrp="1"/>
          </p:cNvSpPr>
          <p:nvPr/>
        </p:nvSpPr>
        <p:spPr>
          <a:xfrm>
            <a:off x="6384330" y="5879703"/>
            <a:ext cx="2232819" cy="3003947"/>
          </a:xfrm>
          <a:custGeom>
            <a:avLst/>
            <a:gdLst/>
            <a:ahLst/>
            <a:cxnLst/>
            <a:rect l="0" t="0" r="0" b="0"/>
            <a:pathLst>
              <a:path w="3695700" h="4972050">
                <a:moveTo>
                  <a:pt x="0" y="4972050"/>
                </a:moveTo>
                <a:lnTo>
                  <a:pt x="0" y="495300"/>
                </a:lnTo>
                <a:quadBezTo>
                  <a:pt x="0" y="0"/>
                  <a:pt x="485775" y="0"/>
                </a:quadBezTo>
                <a:lnTo>
                  <a:pt x="3000375" y="0"/>
                </a:lnTo>
                <a:quadBezTo>
                  <a:pt x="3695700" y="0"/>
                  <a:pt x="3695700" y="523875"/>
                </a:quadBezTo>
                <a:lnTo>
                  <a:pt x="3695700" y="4972050"/>
                </a:lnTo>
              </a:path>
            </a:pathLst>
          </a:custGeom>
          <a:noFill/>
          <a:ln w="69056">
            <a:solidFill>
              <a:srgbClr val="080912"/>
            </a:solidFill>
          </a:ln>
        </p:spPr>
      </p:sp>
      <p:sp>
        <p:nvSpPr>
          <p:cNvPr id="11" name="it-takes-two-cooperation right-foreground-character focus">
            <a:extLst>
              <a:ext uri="{FF2B5EF4-FFF2-40B4-BE49-F238E27FC236}">
                <a16:creationId xmlns:a16="http://schemas.microsoft.com/office/drawing/2014/main" id="{A6294388-8007-4CEF-BF00-54C57FD111AA}"/>
              </a:ext>
            </a:extLst>
          </p:cNvPr>
          <p:cNvSpPr>
            <a:spLocks noGrp="1"/>
          </p:cNvSpPr>
          <p:nvPr/>
        </p:nvSpPr>
        <p:spPr>
          <a:xfrm>
            <a:off x="6384330" y="5879703"/>
            <a:ext cx="2232819" cy="3003947"/>
          </a:xfrm>
          <a:custGeom>
            <a:avLst/>
            <a:gdLst/>
            <a:ahLst/>
            <a:cxnLst/>
            <a:rect l="0" t="0" r="0" b="0"/>
            <a:pathLst>
              <a:path w="3695700" h="4972050">
                <a:moveTo>
                  <a:pt x="0" y="4972050"/>
                </a:moveTo>
                <a:lnTo>
                  <a:pt x="0" y="495300"/>
                </a:lnTo>
                <a:quadBezTo>
                  <a:pt x="0" y="0"/>
                  <a:pt x="485775" y="0"/>
                </a:quadBezTo>
                <a:lnTo>
                  <a:pt x="3000375" y="0"/>
                </a:lnTo>
                <a:quadBezTo>
                  <a:pt x="3695700" y="0"/>
                  <a:pt x="3695700" y="523875"/>
                </a:quadBezTo>
                <a:lnTo>
                  <a:pt x="3695700" y="4972050"/>
                </a:lnTo>
              </a:path>
            </a:pathLst>
          </a:custGeom>
          <a:noFill/>
          <a:ln w="34528">
            <a:solidFill>
              <a:srgbClr val="9AFFD2"/>
            </a:solidFill>
          </a:ln>
        </p:spPr>
      </p:sp>
      <p:sp>
        <p:nvSpPr>
          <p:cNvPr id="12" name="it-takes-two-cooperation split-boundary halo">
            <a:extLst>
              <a:ext uri="{FF2B5EF4-FFF2-40B4-BE49-F238E27FC236}">
                <a16:creationId xmlns:a16="http://schemas.microsoft.com/office/drawing/2014/main" id="{64537721-3FF5-42E5-B8A2-2F1E0B1C3E05}"/>
              </a:ext>
            </a:extLst>
          </p:cNvPr>
          <p:cNvSpPr>
            <a:spLocks noGrp="1"/>
          </p:cNvSpPr>
          <p:nvPr/>
        </p:nvSpPr>
        <p:spPr>
          <a:xfrm>
            <a:off x="6212681" y="3578820"/>
            <a:ext cx="1137444" cy="285750"/>
          </a:xfrm>
          <a:custGeom>
            <a:avLst/>
            <a:gdLst/>
            <a:ahLst/>
            <a:cxnLst/>
            <a:rect l="0" t="0" r="0" b="0"/>
            <a:pathLst>
              <a:path w="1137444" h="285750">
                <a:moveTo>
                  <a:pt x="994569" y="142875"/>
                </a:moveTo>
                <a:lnTo>
                  <a:pt x="142875" y="142875"/>
                </a:lnTo>
                <a:moveTo>
                  <a:pt x="285750" y="64294"/>
                </a:moveTo>
                <a:lnTo>
                  <a:pt x="142875" y="142875"/>
                </a:lnTo>
                <a:lnTo>
                  <a:pt x="285750" y="221456"/>
                </a:lnTo>
              </a:path>
            </a:pathLst>
          </a:custGeom>
          <a:noFill/>
          <a:ln w="69056">
            <a:solidFill>
              <a:srgbClr val="080912"/>
            </a:solidFill>
          </a:ln>
        </p:spPr>
      </p:sp>
      <p:sp>
        <p:nvSpPr>
          <p:cNvPr id="13" name="it-takes-two-cooperation split-boundary focus">
            <a:extLst>
              <a:ext uri="{FF2B5EF4-FFF2-40B4-BE49-F238E27FC236}">
                <a16:creationId xmlns:a16="http://schemas.microsoft.com/office/drawing/2014/main" id="{E4D1398E-C367-4DC2-B678-DFC25395B2D7}"/>
              </a:ext>
            </a:extLst>
          </p:cNvPr>
          <p:cNvSpPr>
            <a:spLocks noGrp="1"/>
          </p:cNvSpPr>
          <p:nvPr/>
        </p:nvSpPr>
        <p:spPr>
          <a:xfrm>
            <a:off x="6212681" y="3578820"/>
            <a:ext cx="1137444" cy="285750"/>
          </a:xfrm>
          <a:custGeom>
            <a:avLst/>
            <a:gdLst/>
            <a:ahLst/>
            <a:cxnLst/>
            <a:rect l="0" t="0" r="0" b="0"/>
            <a:pathLst>
              <a:path w="1137444" h="285750">
                <a:moveTo>
                  <a:pt x="994569" y="142875"/>
                </a:moveTo>
                <a:lnTo>
                  <a:pt x="142875" y="142875"/>
                </a:lnTo>
                <a:moveTo>
                  <a:pt x="285750" y="64294"/>
                </a:moveTo>
                <a:lnTo>
                  <a:pt x="142875" y="142875"/>
                </a:lnTo>
                <a:lnTo>
                  <a:pt x="285750" y="221456"/>
                </a:lnTo>
              </a:path>
            </a:pathLst>
          </a:custGeom>
          <a:noFill/>
          <a:ln w="34528">
            <a:solidFill>
              <a:srgbClr val="9AFFD2"/>
            </a:solidFill>
          </a:ln>
        </p:spPr>
      </p:sp>
      <p:sp>
        <p:nvSpPr>
          <p:cNvPr id="14" name="Answer">
            <a:extLst>
              <a:ext uri="{FF2B5EF4-FFF2-40B4-BE49-F238E27FC236}">
                <a16:creationId xmlns:a16="http://schemas.microsoft.com/office/drawing/2014/main" id="{EC21B7FD-D8E9-4D6A-B855-89B34E13517D}"/>
              </a:ext>
            </a:extLst>
          </p:cNvPr>
          <p:cNvSpPr>
            <a:spLocks noGrp="1"/>
          </p:cNvSpPr>
          <p:nvPr/>
        </p:nvSpPr>
        <p:spPr>
          <a:xfrm>
            <a:off x="13144500" y="7239000"/>
            <a:ext cx="4191000" cy="571500"/>
          </a:xfrm>
          <a:prstGeom prst="rect">
            <a:avLst/>
          </a:prstGeom>
          <a:noFill/>
          <a:ln w="0">
            <a:noFill/>
          </a:ln>
        </p:spPr>
        <p:txBody>
          <a:bodyPr wrap="none" lIns="0" tIns="0" rIns="0" bIns="0" anchor="t">
            <a:noAutofit/>
          </a:bodyPr>
          <a:lstStyle>
            <a:defPPr algn="l">
              <a:defRPr sz="2850" b="1">
                <a:solidFill>
                  <a:srgbClr val="9AFFD2"/>
                </a:solidFill>
                <a:latin typeface="Open Sans"/>
                <a:ea typeface="Open Sans"/>
                <a:cs typeface="Open Sans"/>
              </a:defRPr>
            </a:defPPr>
            <a:lvl1pPr algn="l">
              <a:defRPr sz="2850" b="1">
                <a:solidFill>
                  <a:srgbClr val="9AFFD2"/>
                </a:solidFill>
                <a:latin typeface="Open Sans"/>
                <a:ea typeface="Open Sans"/>
                <a:cs typeface="Open Sans"/>
              </a:defRPr>
            </a:lvl1pPr>
            <a:lvl2pPr algn="l">
              <a:defRPr sz="2850" b="1">
                <a:solidFill>
                  <a:srgbClr val="9AFFD2"/>
                </a:solidFill>
                <a:latin typeface="Open Sans"/>
                <a:ea typeface="Open Sans"/>
                <a:cs typeface="Open Sans"/>
              </a:defRPr>
            </a:lvl2pPr>
            <a:lvl3pPr algn="l">
              <a:defRPr sz="2850" b="1">
                <a:solidFill>
                  <a:srgbClr val="9AFFD2"/>
                </a:solidFill>
                <a:latin typeface="Open Sans"/>
                <a:ea typeface="Open Sans"/>
                <a:cs typeface="Open Sans"/>
              </a:defRPr>
            </a:lvl3pPr>
            <a:lvl4pPr algn="l">
              <a:defRPr sz="2850" b="1">
                <a:solidFill>
                  <a:srgbClr val="9AFFD2"/>
                </a:solidFill>
                <a:latin typeface="Open Sans"/>
                <a:ea typeface="Open Sans"/>
                <a:cs typeface="Open Sans"/>
              </a:defRPr>
            </a:lvl4pPr>
            <a:lvl5pPr algn="l">
              <a:defRPr sz="2850" b="1">
                <a:solidFill>
                  <a:srgbClr val="9AFFD2"/>
                </a:solidFill>
                <a:latin typeface="Open Sans"/>
                <a:ea typeface="Open Sans"/>
                <a:cs typeface="Open Sans"/>
              </a:defRPr>
            </a:lvl5pPr>
            <a:lvl6pPr algn="l">
              <a:defRPr sz="2850" b="1">
                <a:solidFill>
                  <a:srgbClr val="9AFFD2"/>
                </a:solidFill>
                <a:latin typeface="Open Sans"/>
                <a:ea typeface="Open Sans"/>
                <a:cs typeface="Open Sans"/>
              </a:defRPr>
            </a:lvl6pPr>
            <a:lvl7pPr algn="l">
              <a:defRPr sz="2850" b="1">
                <a:solidFill>
                  <a:srgbClr val="9AFFD2"/>
                </a:solidFill>
                <a:latin typeface="Open Sans"/>
                <a:ea typeface="Open Sans"/>
                <a:cs typeface="Open Sans"/>
              </a:defRPr>
            </a:lvl7pPr>
            <a:lvl8pPr algn="l">
              <a:defRPr sz="2850" b="1">
                <a:solidFill>
                  <a:srgbClr val="9AFFD2"/>
                </a:solidFill>
                <a:latin typeface="Open Sans"/>
                <a:ea typeface="Open Sans"/>
                <a:cs typeface="Open Sans"/>
              </a:defRPr>
            </a:lvl8pPr>
            <a:lvl9pPr algn="l">
              <a:defRPr sz="2850" b="1">
                <a:solidFill>
                  <a:srgbClr val="9AFFD2"/>
                </a:solidFill>
                <a:latin typeface="Open Sans"/>
                <a:ea typeface="Open Sans"/>
                <a:cs typeface="Open Sans"/>
              </a:defRPr>
            </a:lvl9pPr>
          </a:lstStyle>
          <a:p>
            <a:pPr algn="l">
              <a:defRPr sz="2850" b="1">
                <a:solidFill>
                  <a:srgbClr val="9AFFD2"/>
                </a:solidFill>
                <a:latin typeface="Open Sans"/>
                <a:ea typeface="Open Sans"/>
                <a:cs typeface="Open Sans"/>
              </a:defRPr>
            </a:pPr>
            <a:r>
              <a:rPr sz="2850" b="1">
                <a:solidFill>
                  <a:srgbClr val="9AFFD2"/>
                </a:solidFill>
                <a:latin typeface="Open Sans"/>
                <a:ea typeface="Open Sans"/>
                <a:cs typeface="Open Sans"/>
              </a:rPr>
              <a:t>Answer 1</a:t>
            </a:r>
          </a:p>
        </p:txBody>
      </p:sp>
      <p:sp>
        <p:nvSpPr>
          <p:cNvPr id="15" name="Reason">
            <a:extLst>
              <a:ext uri="{FF2B5EF4-FFF2-40B4-BE49-F238E27FC236}">
                <a16:creationId xmlns:a16="http://schemas.microsoft.com/office/drawing/2014/main" id="{490EDAD5-77F4-4763-9E3B-8DCB31454A57}"/>
              </a:ext>
            </a:extLst>
          </p:cNvPr>
          <p:cNvSpPr>
            <a:spLocks noGrp="1"/>
          </p:cNvSpPr>
          <p:nvPr/>
        </p:nvSpPr>
        <p:spPr>
          <a:xfrm>
            <a:off x="13144500" y="7924800"/>
            <a:ext cx="4191000" cy="161925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Two views.</a:t>
            </a:r>
          </a:p>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One encounter</a:t>
            </a:r>
          </a:p>
        </p:txBody>
      </p:sp>
    </p:spTree>
    <p:extLst>
      <p:ext uri="{BB962C8B-B14F-4D97-AF65-F5344CB8AC3E}">
        <p14:creationId xmlns:p14="http://schemas.microsoft.com/office/powerpoint/2010/main" val="3722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5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5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book_slide16.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1" name="Template clouds 21"/>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20" name="Template clouds 20"/>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9" name="Template grass 19"/>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8" name="Template grass 18"/>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7" name="Template grass 17"/>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6" name="Slide title">
            <a:extLst>
              <a:ext uri="{FF2B5EF4-FFF2-40B4-BE49-F238E27FC236}">
                <a16:creationId xmlns:a16="http://schemas.microsoft.com/office/drawing/2014/main" id="{22EAF8C8-E781-43A2-B3BE-1044BE6BACDD}"/>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WHAT DOES ? HIDE?</a:t>
            </a:r>
          </a:p>
        </p:txBody>
      </p:sp>
      <p:sp>
        <p:nvSpPr>
          <p:cNvPr id="2" name="Source credit">
            <a:extLst>
              <a:ext uri="{FF2B5EF4-FFF2-40B4-BE49-F238E27FC236}">
                <a16:creationId xmlns:a16="http://schemas.microsoft.com/office/drawing/2014/main" id="{9EF21E32-10D9-42B8-974B-EB0FB9AF850C}"/>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0">
                <a:solidFill>
                  <a:srgbClr val="FFFFFF"/>
                </a:solidFill>
                <a:latin typeface="Open Sans"/>
                <a:ea typeface="Open Sans"/>
                <a:cs typeface="Open Sans"/>
              </a:rPr>
              <a:t>TUNIC / Isometricorp / Finji     ·     </a:t>
            </a:r>
            <a:r>
              <a:rPr sz="2000" b="1">
                <a:solidFill>
                  <a:srgbClr val="9AFFD2"/>
                </a:solidFill>
                <a:latin typeface="Open Sans"/>
                <a:ea typeface="Open Sans"/>
                <a:cs typeface="Open Sans"/>
              </a:rPr>
              <a:t>Book idea: </a:t>
            </a:r>
            <a:r>
              <a:rPr sz="2000" b="0">
                <a:solidFill>
                  <a:srgbClr val="FFFFFF"/>
                </a:solidFill>
                <a:latin typeface="Open Sans"/>
                <a:ea typeface="Open Sans"/>
                <a:cs typeface="Open Sans"/>
              </a:rPr>
              <a:t>Don’t Make Me Think + Hooked</a:t>
            </a:r>
          </a:p>
        </p:txBody>
      </p:sp>
      <p:sp>
        <p:nvSpPr>
          <p:cNvPr id="3" name="Vote prompt">
            <a:extLst>
              <a:ext uri="{FF2B5EF4-FFF2-40B4-BE49-F238E27FC236}">
                <a16:creationId xmlns:a16="http://schemas.microsoft.com/office/drawing/2014/main" id="{1DE3FEFA-B69D-4114-B4F9-D52179110E1B}"/>
              </a:ext>
            </a:extLst>
          </p:cNvPr>
          <p:cNvSpPr>
            <a:spLocks noGrp="1"/>
          </p:cNvSpPr>
          <p:nvPr/>
        </p:nvSpPr>
        <p:spPr>
          <a:xfrm>
            <a:off x="13144500" y="2809875"/>
            <a:ext cx="4191000" cy="619125"/>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VOTE  1 / 2 / 3</a:t>
            </a:r>
          </a:p>
        </p:txBody>
      </p:sp>
      <p:sp>
        <p:nvSpPr>
          <p:cNvPr id="4" name="Choice 1">
            <a:extLst>
              <a:ext uri="{FF2B5EF4-FFF2-40B4-BE49-F238E27FC236}">
                <a16:creationId xmlns:a16="http://schemas.microsoft.com/office/drawing/2014/main" id="{61FC19F5-B5FA-4EB1-85BD-E4D57CDE47D1}"/>
              </a:ext>
            </a:extLst>
          </p:cNvPr>
          <p:cNvSpPr>
            <a:spLocks noGrp="1"/>
          </p:cNvSpPr>
          <p:nvPr/>
        </p:nvSpPr>
        <p:spPr>
          <a:xfrm>
            <a:off x="13144500" y="381000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1  Control</a:t>
            </a:r>
          </a:p>
        </p:txBody>
      </p:sp>
      <p:sp>
        <p:nvSpPr>
          <p:cNvPr id="5" name="Choice 2">
            <a:extLst>
              <a:ext uri="{FF2B5EF4-FFF2-40B4-BE49-F238E27FC236}">
                <a16:creationId xmlns:a16="http://schemas.microsoft.com/office/drawing/2014/main" id="{7D2EB7D2-1A39-4B94-84DE-80250EA11685}"/>
              </a:ext>
            </a:extLst>
          </p:cNvPr>
          <p:cNvSpPr>
            <a:spLocks noGrp="1"/>
          </p:cNvSpPr>
          <p:nvPr/>
        </p:nvSpPr>
        <p:spPr>
          <a:xfrm>
            <a:off x="13144500" y="4905375"/>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2  Destination</a:t>
            </a:r>
          </a:p>
        </p:txBody>
      </p:sp>
      <p:sp>
        <p:nvSpPr>
          <p:cNvPr id="6" name="Choice 3">
            <a:extLst>
              <a:ext uri="{FF2B5EF4-FFF2-40B4-BE49-F238E27FC236}">
                <a16:creationId xmlns:a16="http://schemas.microsoft.com/office/drawing/2014/main" id="{5E69858D-FFDC-4639-A5A5-FCD6685A26C7}"/>
              </a:ext>
            </a:extLst>
          </p:cNvPr>
          <p:cNvSpPr>
            <a:spLocks noGrp="1"/>
          </p:cNvSpPr>
          <p:nvPr/>
        </p:nvSpPr>
        <p:spPr>
          <a:xfrm>
            <a:off x="13144500" y="600075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3  Price</a:t>
            </a:r>
          </a:p>
        </p:txBody>
      </p:sp>
      <p:pic>
        <p:nvPicPr>
          <p:cNvPr id="7" name="tunic-discovery-map question image" descr="tunic-discovery-map question image">
            <a:extLst>
              <a:ext uri="{FF2B5EF4-FFF2-40B4-BE49-F238E27FC236}">
                <a16:creationId xmlns:a16="http://schemas.microsoft.com/office/drawing/2014/main" id="{9A35516B-01FF-4931-93B7-E3E1DB9F9FDD}"/>
              </a:ext>
            </a:extLst>
          </p:cNvPr>
          <p:cNvPicPr>
            <a:picLocks noChangeAspect="1"/>
          </p:cNvPicPr>
          <p:nvPr/>
        </p:nvPicPr>
        <p:blipFill>
          <a:blip r:embed="rId5"/>
          <a:stretch/>
        </p:blipFill>
        <p:spPr>
          <a:xfrm>
            <a:off x="762000" y="2714625"/>
            <a:ext cx="11049000" cy="6215063"/>
          </a:xfrm>
          <a:prstGeom prst="rect">
            <a:avLst/>
          </a:prstGeom>
        </p:spPr>
      </p:pic>
      <p:sp>
        <p:nvSpPr>
          <p:cNvPr id="8" name="tunic-discovery-map question-mark halo">
            <a:extLst>
              <a:ext uri="{FF2B5EF4-FFF2-40B4-BE49-F238E27FC236}">
                <a16:creationId xmlns:a16="http://schemas.microsoft.com/office/drawing/2014/main" id="{439B6FC2-3D63-414D-B76D-047436016531}"/>
              </a:ext>
            </a:extLst>
          </p:cNvPr>
          <p:cNvSpPr>
            <a:spLocks noGrp="1"/>
          </p:cNvSpPr>
          <p:nvPr/>
        </p:nvSpPr>
        <p:spPr>
          <a:xfrm>
            <a:off x="3207742" y="7726958"/>
            <a:ext cx="679053" cy="702072"/>
          </a:xfrm>
          <a:prstGeom prst="ellipse">
            <a:avLst/>
          </a:prstGeom>
          <a:noFill/>
          <a:ln w="46038">
            <a:solidFill>
              <a:srgbClr val="080912"/>
            </a:solidFill>
          </a:ln>
        </p:spPr>
      </p:sp>
      <p:sp>
        <p:nvSpPr>
          <p:cNvPr id="9" name="tunic-discovery-map question-mark focus">
            <a:extLst>
              <a:ext uri="{FF2B5EF4-FFF2-40B4-BE49-F238E27FC236}">
                <a16:creationId xmlns:a16="http://schemas.microsoft.com/office/drawing/2014/main" id="{58A37B37-8B7B-49DA-AFFC-2EE3FC00BCB0}"/>
              </a:ext>
            </a:extLst>
          </p:cNvPr>
          <p:cNvSpPr>
            <a:spLocks noGrp="1"/>
          </p:cNvSpPr>
          <p:nvPr/>
        </p:nvSpPr>
        <p:spPr>
          <a:xfrm>
            <a:off x="3207742" y="7726958"/>
            <a:ext cx="679053" cy="702072"/>
          </a:xfrm>
          <a:prstGeom prst="ellipse">
            <a:avLst/>
          </a:prstGeom>
          <a:noFill/>
          <a:ln w="23813">
            <a:solidFill>
              <a:srgbClr val="9AFFD2"/>
            </a:solidFill>
          </a:ln>
        </p:spPr>
      </p:sp>
      <p:sp>
        <p:nvSpPr>
          <p:cNvPr id="10" name="tunic-discovery-map well-label halo">
            <a:extLst>
              <a:ext uri="{FF2B5EF4-FFF2-40B4-BE49-F238E27FC236}">
                <a16:creationId xmlns:a16="http://schemas.microsoft.com/office/drawing/2014/main" id="{F311C3CB-BE9E-46F2-BAE2-09CA1709BD05}"/>
              </a:ext>
            </a:extLst>
          </p:cNvPr>
          <p:cNvSpPr>
            <a:spLocks noGrp="1"/>
          </p:cNvSpPr>
          <p:nvPr/>
        </p:nvSpPr>
        <p:spPr>
          <a:xfrm>
            <a:off x="5262166" y="5367536"/>
            <a:ext cx="1162447" cy="546695"/>
          </a:xfrm>
          <a:prstGeom prst="roundRect">
            <a:avLst>
              <a:gd name="adj" fmla="val 13938"/>
            </a:avLst>
          </a:prstGeom>
          <a:noFill/>
          <a:ln w="46038">
            <a:solidFill>
              <a:srgbClr val="080912"/>
            </a:solidFill>
          </a:ln>
        </p:spPr>
      </p:sp>
      <p:sp>
        <p:nvSpPr>
          <p:cNvPr id="11" name="tunic-discovery-map well-label focus">
            <a:extLst>
              <a:ext uri="{FF2B5EF4-FFF2-40B4-BE49-F238E27FC236}">
                <a16:creationId xmlns:a16="http://schemas.microsoft.com/office/drawing/2014/main" id="{A350BCEE-88FA-42DC-A1E0-433B53952654}"/>
              </a:ext>
            </a:extLst>
          </p:cNvPr>
          <p:cNvSpPr>
            <a:spLocks noGrp="1"/>
          </p:cNvSpPr>
          <p:nvPr/>
        </p:nvSpPr>
        <p:spPr>
          <a:xfrm>
            <a:off x="5262166" y="5367536"/>
            <a:ext cx="1162447" cy="546695"/>
          </a:xfrm>
          <a:prstGeom prst="roundRect">
            <a:avLst>
              <a:gd name="adj" fmla="val 13938"/>
            </a:avLst>
          </a:prstGeom>
          <a:noFill/>
          <a:ln w="23813">
            <a:solidFill>
              <a:srgbClr val="9AFFD2"/>
            </a:solidFill>
          </a:ln>
        </p:spPr>
      </p:sp>
      <p:sp>
        <p:nvSpPr>
          <p:cNvPr id="12" name="tunic-discovery-map sealed-temple-label halo">
            <a:extLst>
              <a:ext uri="{FF2B5EF4-FFF2-40B4-BE49-F238E27FC236}">
                <a16:creationId xmlns:a16="http://schemas.microsoft.com/office/drawing/2014/main" id="{FE13731A-8AC5-47F8-8043-4A893B77DFA9}"/>
              </a:ext>
            </a:extLst>
          </p:cNvPr>
          <p:cNvSpPr>
            <a:spLocks noGrp="1"/>
          </p:cNvSpPr>
          <p:nvPr/>
        </p:nvSpPr>
        <p:spPr>
          <a:xfrm>
            <a:off x="9532144" y="3583583"/>
            <a:ext cx="1697633" cy="1007070"/>
          </a:xfrm>
          <a:prstGeom prst="roundRect">
            <a:avLst>
              <a:gd name="adj" fmla="val 7567"/>
            </a:avLst>
          </a:prstGeom>
          <a:noFill/>
          <a:ln w="46038">
            <a:solidFill>
              <a:srgbClr val="080912"/>
            </a:solidFill>
          </a:ln>
        </p:spPr>
      </p:sp>
      <p:sp>
        <p:nvSpPr>
          <p:cNvPr id="13" name="tunic-discovery-map sealed-temple-label focus">
            <a:extLst>
              <a:ext uri="{FF2B5EF4-FFF2-40B4-BE49-F238E27FC236}">
                <a16:creationId xmlns:a16="http://schemas.microsoft.com/office/drawing/2014/main" id="{A6C75F91-D78C-400B-9913-4DA96CEFD4D0}"/>
              </a:ext>
            </a:extLst>
          </p:cNvPr>
          <p:cNvSpPr>
            <a:spLocks noGrp="1"/>
          </p:cNvSpPr>
          <p:nvPr/>
        </p:nvSpPr>
        <p:spPr>
          <a:xfrm>
            <a:off x="9532144" y="3583583"/>
            <a:ext cx="1697633" cy="1007070"/>
          </a:xfrm>
          <a:prstGeom prst="roundRect">
            <a:avLst>
              <a:gd name="adj" fmla="val 7567"/>
            </a:avLst>
          </a:prstGeom>
          <a:noFill/>
          <a:ln w="23813">
            <a:solidFill>
              <a:srgbClr val="9AFFD2"/>
            </a:solidFill>
          </a:ln>
        </p:spPr>
      </p:sp>
      <p:sp>
        <p:nvSpPr>
          <p:cNvPr id="14" name="Answer">
            <a:extLst>
              <a:ext uri="{FF2B5EF4-FFF2-40B4-BE49-F238E27FC236}">
                <a16:creationId xmlns:a16="http://schemas.microsoft.com/office/drawing/2014/main" id="{CC0BD5CD-8EE9-44F2-AFCE-B0CD1EDB5B72}"/>
              </a:ext>
            </a:extLst>
          </p:cNvPr>
          <p:cNvSpPr>
            <a:spLocks noGrp="1"/>
          </p:cNvSpPr>
          <p:nvPr/>
        </p:nvSpPr>
        <p:spPr>
          <a:xfrm>
            <a:off x="13144500" y="7239000"/>
            <a:ext cx="4381500" cy="571500"/>
          </a:xfrm>
          <a:prstGeom prst="rect">
            <a:avLst/>
          </a:prstGeom>
          <a:noFill/>
          <a:ln w="0">
            <a:noFill/>
          </a:ln>
        </p:spPr>
        <p:txBody>
          <a:bodyPr wrap="none" lIns="0" tIns="0" rIns="0" bIns="0" anchor="t">
            <a:noAutofit/>
          </a:bodyPr>
          <a:lstStyle>
            <a:defPPr algn="l">
              <a:defRPr sz="2850" b="1">
                <a:solidFill>
                  <a:srgbClr val="9AFFD2"/>
                </a:solidFill>
                <a:latin typeface="Open Sans"/>
                <a:ea typeface="Open Sans"/>
                <a:cs typeface="Open Sans"/>
              </a:defRPr>
            </a:defPPr>
            <a:lvl1pPr algn="l">
              <a:defRPr sz="2850" b="1">
                <a:solidFill>
                  <a:srgbClr val="9AFFD2"/>
                </a:solidFill>
                <a:latin typeface="Open Sans"/>
                <a:ea typeface="Open Sans"/>
                <a:cs typeface="Open Sans"/>
              </a:defRPr>
            </a:lvl1pPr>
            <a:lvl2pPr algn="l">
              <a:defRPr sz="2850" b="1">
                <a:solidFill>
                  <a:srgbClr val="9AFFD2"/>
                </a:solidFill>
                <a:latin typeface="Open Sans"/>
                <a:ea typeface="Open Sans"/>
                <a:cs typeface="Open Sans"/>
              </a:defRPr>
            </a:lvl2pPr>
            <a:lvl3pPr algn="l">
              <a:defRPr sz="2850" b="1">
                <a:solidFill>
                  <a:srgbClr val="9AFFD2"/>
                </a:solidFill>
                <a:latin typeface="Open Sans"/>
                <a:ea typeface="Open Sans"/>
                <a:cs typeface="Open Sans"/>
              </a:defRPr>
            </a:lvl3pPr>
            <a:lvl4pPr algn="l">
              <a:defRPr sz="2850" b="1">
                <a:solidFill>
                  <a:srgbClr val="9AFFD2"/>
                </a:solidFill>
                <a:latin typeface="Open Sans"/>
                <a:ea typeface="Open Sans"/>
                <a:cs typeface="Open Sans"/>
              </a:defRPr>
            </a:lvl4pPr>
            <a:lvl5pPr algn="l">
              <a:defRPr sz="2850" b="1">
                <a:solidFill>
                  <a:srgbClr val="9AFFD2"/>
                </a:solidFill>
                <a:latin typeface="Open Sans"/>
                <a:ea typeface="Open Sans"/>
                <a:cs typeface="Open Sans"/>
              </a:defRPr>
            </a:lvl5pPr>
            <a:lvl6pPr algn="l">
              <a:defRPr sz="2850" b="1">
                <a:solidFill>
                  <a:srgbClr val="9AFFD2"/>
                </a:solidFill>
                <a:latin typeface="Open Sans"/>
                <a:ea typeface="Open Sans"/>
                <a:cs typeface="Open Sans"/>
              </a:defRPr>
            </a:lvl6pPr>
            <a:lvl7pPr algn="l">
              <a:defRPr sz="2850" b="1">
                <a:solidFill>
                  <a:srgbClr val="9AFFD2"/>
                </a:solidFill>
                <a:latin typeface="Open Sans"/>
                <a:ea typeface="Open Sans"/>
                <a:cs typeface="Open Sans"/>
              </a:defRPr>
            </a:lvl7pPr>
            <a:lvl8pPr algn="l">
              <a:defRPr sz="2850" b="1">
                <a:solidFill>
                  <a:srgbClr val="9AFFD2"/>
                </a:solidFill>
                <a:latin typeface="Open Sans"/>
                <a:ea typeface="Open Sans"/>
                <a:cs typeface="Open Sans"/>
              </a:defRPr>
            </a:lvl8pPr>
            <a:lvl9pPr algn="l">
              <a:defRPr sz="2850" b="1">
                <a:solidFill>
                  <a:srgbClr val="9AFFD2"/>
                </a:solidFill>
                <a:latin typeface="Open Sans"/>
                <a:ea typeface="Open Sans"/>
                <a:cs typeface="Open Sans"/>
              </a:defRPr>
            </a:lvl9pPr>
          </a:lstStyle>
          <a:p>
            <a:pPr algn="l">
              <a:defRPr sz="2850" b="1">
                <a:solidFill>
                  <a:srgbClr val="9AFFD2"/>
                </a:solidFill>
                <a:latin typeface="Open Sans"/>
                <a:ea typeface="Open Sans"/>
                <a:cs typeface="Open Sans"/>
              </a:defRPr>
            </a:pPr>
            <a:r>
              <a:rPr sz="2850" b="1">
                <a:solidFill>
                  <a:srgbClr val="9AFFD2"/>
                </a:solidFill>
                <a:latin typeface="Open Sans"/>
                <a:ea typeface="Open Sans"/>
                <a:cs typeface="Open Sans"/>
              </a:rPr>
              <a:t>Answer 2</a:t>
            </a:r>
          </a:p>
        </p:txBody>
      </p:sp>
      <p:sp>
        <p:nvSpPr>
          <p:cNvPr id="15" name="Reason">
            <a:extLst>
              <a:ext uri="{FF2B5EF4-FFF2-40B4-BE49-F238E27FC236}">
                <a16:creationId xmlns:a16="http://schemas.microsoft.com/office/drawing/2014/main" id="{5827CB97-D73D-43A5-86BF-99F0E9CFECE7}"/>
              </a:ext>
            </a:extLst>
          </p:cNvPr>
          <p:cNvSpPr>
            <a:spLocks noGrp="1"/>
          </p:cNvSpPr>
          <p:nvPr/>
        </p:nvSpPr>
        <p:spPr>
          <a:xfrm>
            <a:off x="13144500" y="7924800"/>
            <a:ext cx="4381500" cy="161925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Clear action.</a:t>
            </a:r>
          </a:p>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Interesting unknown</a:t>
            </a:r>
          </a:p>
        </p:txBody>
      </p:sp>
    </p:spTree>
    <p:extLst>
      <p:ext uri="{BB962C8B-B14F-4D97-AF65-F5344CB8AC3E}">
        <p14:creationId xmlns:p14="http://schemas.microsoft.com/office/powerpoint/2010/main" val="96011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5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5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book_slide17.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2" name="Template clouds 22"/>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21" name="Template clouds 21"/>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20" name="Template grass 20"/>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9" name="Template grass 19"/>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8" name="Template grass 18"/>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7" name="Slide title">
            <a:extLst>
              <a:ext uri="{FF2B5EF4-FFF2-40B4-BE49-F238E27FC236}">
                <a16:creationId xmlns:a16="http://schemas.microsoft.com/office/drawing/2014/main" id="{5CF65BA8-784B-44C9-A303-CD54411E4921}"/>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FREE REWARD OR TRADEOFF?</a:t>
            </a:r>
          </a:p>
        </p:txBody>
      </p:sp>
      <p:sp>
        <p:nvSpPr>
          <p:cNvPr id="2" name="Source credit">
            <a:extLst>
              <a:ext uri="{FF2B5EF4-FFF2-40B4-BE49-F238E27FC236}">
                <a16:creationId xmlns:a16="http://schemas.microsoft.com/office/drawing/2014/main" id="{9882A81D-297A-4575-9769-688D84D5E1B6}"/>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0">
                <a:solidFill>
                  <a:srgbClr val="FFFFFF"/>
                </a:solidFill>
                <a:latin typeface="Open Sans"/>
                <a:ea typeface="Open Sans"/>
                <a:cs typeface="Open Sans"/>
              </a:rPr>
              <a:t>Slay the Spire / Mega Crit</a:t>
            </a:r>
          </a:p>
        </p:txBody>
      </p:sp>
      <p:sp>
        <p:nvSpPr>
          <p:cNvPr id="3" name="Vote prompt">
            <a:extLst>
              <a:ext uri="{FF2B5EF4-FFF2-40B4-BE49-F238E27FC236}">
                <a16:creationId xmlns:a16="http://schemas.microsoft.com/office/drawing/2014/main" id="{3156B4E8-A161-47CE-82ED-AFBA04BA9AD6}"/>
              </a:ext>
            </a:extLst>
          </p:cNvPr>
          <p:cNvSpPr>
            <a:spLocks noGrp="1"/>
          </p:cNvSpPr>
          <p:nvPr/>
        </p:nvSpPr>
        <p:spPr>
          <a:xfrm>
            <a:off x="13144500" y="2809875"/>
            <a:ext cx="4191000" cy="619125"/>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VOTE  1 / 2 / 3</a:t>
            </a:r>
          </a:p>
        </p:txBody>
      </p:sp>
      <p:sp>
        <p:nvSpPr>
          <p:cNvPr id="4" name="Choice 1">
            <a:extLst>
              <a:ext uri="{FF2B5EF4-FFF2-40B4-BE49-F238E27FC236}">
                <a16:creationId xmlns:a16="http://schemas.microsoft.com/office/drawing/2014/main" id="{DB8C1E8A-C9E9-4C5D-A04B-6484351A1174}"/>
              </a:ext>
            </a:extLst>
          </p:cNvPr>
          <p:cNvSpPr>
            <a:spLocks noGrp="1"/>
          </p:cNvSpPr>
          <p:nvPr/>
        </p:nvSpPr>
        <p:spPr>
          <a:xfrm>
            <a:off x="13144500" y="381000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1  Free reward</a:t>
            </a:r>
          </a:p>
        </p:txBody>
      </p:sp>
      <p:sp>
        <p:nvSpPr>
          <p:cNvPr id="5" name="Choice 2">
            <a:extLst>
              <a:ext uri="{FF2B5EF4-FFF2-40B4-BE49-F238E27FC236}">
                <a16:creationId xmlns:a16="http://schemas.microsoft.com/office/drawing/2014/main" id="{D74D16A8-C8E2-4643-AF2B-6F1D894632EC}"/>
              </a:ext>
            </a:extLst>
          </p:cNvPr>
          <p:cNvSpPr>
            <a:spLocks noGrp="1"/>
          </p:cNvSpPr>
          <p:nvPr/>
        </p:nvSpPr>
        <p:spPr>
          <a:xfrm>
            <a:off x="13144500" y="4905375"/>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2  Forced choice</a:t>
            </a:r>
          </a:p>
        </p:txBody>
      </p:sp>
      <p:sp>
        <p:nvSpPr>
          <p:cNvPr id="6" name="Choice 3">
            <a:extLst>
              <a:ext uri="{FF2B5EF4-FFF2-40B4-BE49-F238E27FC236}">
                <a16:creationId xmlns:a16="http://schemas.microsoft.com/office/drawing/2014/main" id="{000CE53B-C8C3-4ABA-9C97-D686751B962B}"/>
              </a:ext>
            </a:extLst>
          </p:cNvPr>
          <p:cNvSpPr>
            <a:spLocks noGrp="1"/>
          </p:cNvSpPr>
          <p:nvPr/>
        </p:nvSpPr>
        <p:spPr>
          <a:xfrm>
            <a:off x="13144500" y="600075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3  Tradeoff</a:t>
            </a:r>
          </a:p>
        </p:txBody>
      </p:sp>
      <p:pic>
        <p:nvPicPr>
          <p:cNvPr id="7" name="slay-the-spire-choice context" descr="slay-the-spire-choice context">
            <a:extLst>
              <a:ext uri="{FF2B5EF4-FFF2-40B4-BE49-F238E27FC236}">
                <a16:creationId xmlns:a16="http://schemas.microsoft.com/office/drawing/2014/main" id="{C462FA76-5B3D-4B90-8F8E-C5C84990CF49}"/>
              </a:ext>
            </a:extLst>
          </p:cNvPr>
          <p:cNvPicPr>
            <a:picLocks noChangeAspect="1"/>
          </p:cNvPicPr>
          <p:nvPr/>
        </p:nvPicPr>
        <p:blipFill>
          <a:blip r:embed="rId5"/>
          <a:stretch/>
        </p:blipFill>
        <p:spPr>
          <a:xfrm>
            <a:off x="762000" y="2714625"/>
            <a:ext cx="6667500" cy="3750469"/>
          </a:xfrm>
          <a:prstGeom prst="rect">
            <a:avLst/>
          </a:prstGeom>
        </p:spPr>
      </p:pic>
      <p:pic>
        <p:nvPicPr>
          <p:cNvPr id="8" name="slay-the-spire-choice question image" descr="slay-the-spire-choice question image">
            <a:extLst>
              <a:ext uri="{FF2B5EF4-FFF2-40B4-BE49-F238E27FC236}">
                <a16:creationId xmlns:a16="http://schemas.microsoft.com/office/drawing/2014/main" id="{3565FB92-A024-4FC1-9354-5449DAA11F12}"/>
              </a:ext>
            </a:extLst>
          </p:cNvPr>
          <p:cNvPicPr>
            <a:picLocks noChangeAspect="1"/>
          </p:cNvPicPr>
          <p:nvPr/>
        </p:nvPicPr>
        <p:blipFill>
          <a:blip r:embed="rId6"/>
          <a:stretch/>
        </p:blipFill>
        <p:spPr>
          <a:xfrm>
            <a:off x="762000" y="6335088"/>
            <a:ext cx="11715750" cy="2526209"/>
          </a:xfrm>
          <a:prstGeom prst="rect">
            <a:avLst/>
          </a:prstGeom>
        </p:spPr>
      </p:pic>
      <p:sp>
        <p:nvSpPr>
          <p:cNvPr id="9" name="slay-the-spire-choice explicit-benefit halo">
            <a:extLst>
              <a:ext uri="{FF2B5EF4-FFF2-40B4-BE49-F238E27FC236}">
                <a16:creationId xmlns:a16="http://schemas.microsoft.com/office/drawing/2014/main" id="{CD6B9452-2323-42E8-BAA4-FE99C7D7767F}"/>
              </a:ext>
            </a:extLst>
          </p:cNvPr>
          <p:cNvSpPr>
            <a:spLocks noGrp="1"/>
          </p:cNvSpPr>
          <p:nvPr/>
        </p:nvSpPr>
        <p:spPr>
          <a:xfrm>
            <a:off x="2932497" y="6790423"/>
            <a:ext cx="3317407" cy="641283"/>
          </a:xfrm>
          <a:prstGeom prst="roundRect">
            <a:avLst>
              <a:gd name="adj" fmla="val 11882"/>
            </a:avLst>
          </a:prstGeom>
          <a:noFill/>
          <a:ln w="49329">
            <a:solidFill>
              <a:srgbClr val="080912"/>
            </a:solidFill>
          </a:ln>
        </p:spPr>
      </p:sp>
      <p:sp>
        <p:nvSpPr>
          <p:cNvPr id="10" name="slay-the-spire-choice explicit-benefit focus">
            <a:extLst>
              <a:ext uri="{FF2B5EF4-FFF2-40B4-BE49-F238E27FC236}">
                <a16:creationId xmlns:a16="http://schemas.microsoft.com/office/drawing/2014/main" id="{8A50680F-B8CE-426E-8564-8741745F13CB}"/>
              </a:ext>
            </a:extLst>
          </p:cNvPr>
          <p:cNvSpPr>
            <a:spLocks noGrp="1"/>
          </p:cNvSpPr>
          <p:nvPr/>
        </p:nvSpPr>
        <p:spPr>
          <a:xfrm>
            <a:off x="2932497" y="6790423"/>
            <a:ext cx="3317407" cy="641283"/>
          </a:xfrm>
          <a:prstGeom prst="roundRect">
            <a:avLst>
              <a:gd name="adj" fmla="val 11882"/>
            </a:avLst>
          </a:prstGeom>
          <a:noFill/>
          <a:ln w="24665">
            <a:solidFill>
              <a:srgbClr val="9AFFD2"/>
            </a:solidFill>
          </a:ln>
        </p:spPr>
      </p:sp>
      <p:sp>
        <p:nvSpPr>
          <p:cNvPr id="11" name="slay-the-spire-choice explicit-cost halo">
            <a:extLst>
              <a:ext uri="{FF2B5EF4-FFF2-40B4-BE49-F238E27FC236}">
                <a16:creationId xmlns:a16="http://schemas.microsoft.com/office/drawing/2014/main" id="{C4A5A6FA-18D5-4241-B9EA-C6FCBABDBE96}"/>
              </a:ext>
            </a:extLst>
          </p:cNvPr>
          <p:cNvSpPr>
            <a:spLocks noGrp="1"/>
          </p:cNvSpPr>
          <p:nvPr/>
        </p:nvSpPr>
        <p:spPr>
          <a:xfrm>
            <a:off x="6274569" y="6790423"/>
            <a:ext cx="2922771" cy="641283"/>
          </a:xfrm>
          <a:prstGeom prst="roundRect">
            <a:avLst>
              <a:gd name="adj" fmla="val 11882"/>
            </a:avLst>
          </a:prstGeom>
          <a:noFill/>
          <a:ln w="49329">
            <a:solidFill>
              <a:srgbClr val="080912"/>
            </a:solidFill>
          </a:ln>
        </p:spPr>
      </p:sp>
      <p:sp>
        <p:nvSpPr>
          <p:cNvPr id="12" name="slay-the-spire-choice explicit-cost focus">
            <a:extLst>
              <a:ext uri="{FF2B5EF4-FFF2-40B4-BE49-F238E27FC236}">
                <a16:creationId xmlns:a16="http://schemas.microsoft.com/office/drawing/2014/main" id="{33B0763B-38F5-4B78-9B9B-C340CCCC56EE}"/>
              </a:ext>
            </a:extLst>
          </p:cNvPr>
          <p:cNvSpPr>
            <a:spLocks noGrp="1"/>
          </p:cNvSpPr>
          <p:nvPr/>
        </p:nvSpPr>
        <p:spPr>
          <a:xfrm>
            <a:off x="6274569" y="6790423"/>
            <a:ext cx="2922771" cy="641283"/>
          </a:xfrm>
          <a:prstGeom prst="roundRect">
            <a:avLst>
              <a:gd name="adj" fmla="val 11882"/>
            </a:avLst>
          </a:prstGeom>
          <a:noFill/>
          <a:ln w="24665">
            <a:solidFill>
              <a:srgbClr val="9AFFD2"/>
            </a:solidFill>
          </a:ln>
        </p:spPr>
      </p:sp>
      <p:sp>
        <p:nvSpPr>
          <p:cNvPr id="13" name="slay-the-spire-choice refuse-option halo">
            <a:extLst>
              <a:ext uri="{FF2B5EF4-FFF2-40B4-BE49-F238E27FC236}">
                <a16:creationId xmlns:a16="http://schemas.microsoft.com/office/drawing/2014/main" id="{58BC22F7-6091-4981-9DDB-2070BDA4E093}"/>
              </a:ext>
            </a:extLst>
          </p:cNvPr>
          <p:cNvSpPr>
            <a:spLocks noGrp="1"/>
          </p:cNvSpPr>
          <p:nvPr/>
        </p:nvSpPr>
        <p:spPr>
          <a:xfrm>
            <a:off x="3023937" y="8213758"/>
            <a:ext cx="1580649" cy="742048"/>
          </a:xfrm>
          <a:custGeom>
            <a:avLst/>
            <a:gdLst/>
            <a:ahLst/>
            <a:cxnLst/>
            <a:rect l="0" t="0" r="0" b="0"/>
            <a:pathLst>
              <a:path w="1580649" h="742048">
                <a:moveTo>
                  <a:pt x="1437774" y="599173"/>
                </a:moveTo>
                <a:lnTo>
                  <a:pt x="142875" y="142875"/>
                </a:lnTo>
                <a:moveTo>
                  <a:pt x="303745" y="116245"/>
                </a:moveTo>
                <a:lnTo>
                  <a:pt x="142875" y="142875"/>
                </a:lnTo>
                <a:lnTo>
                  <a:pt x="251512" y="264474"/>
                </a:lnTo>
              </a:path>
            </a:pathLst>
          </a:custGeom>
          <a:noFill/>
          <a:ln w="98659">
            <a:solidFill>
              <a:srgbClr val="080912"/>
            </a:solidFill>
          </a:ln>
        </p:spPr>
      </p:sp>
      <p:sp>
        <p:nvSpPr>
          <p:cNvPr id="14" name="slay-the-spire-choice refuse-option focus">
            <a:extLst>
              <a:ext uri="{FF2B5EF4-FFF2-40B4-BE49-F238E27FC236}">
                <a16:creationId xmlns:a16="http://schemas.microsoft.com/office/drawing/2014/main" id="{EDAE2E19-67B7-4EE0-939E-56A8FB3A54EB}"/>
              </a:ext>
            </a:extLst>
          </p:cNvPr>
          <p:cNvSpPr>
            <a:spLocks noGrp="1"/>
          </p:cNvSpPr>
          <p:nvPr/>
        </p:nvSpPr>
        <p:spPr>
          <a:xfrm>
            <a:off x="3023937" y="8213758"/>
            <a:ext cx="1580649" cy="742048"/>
          </a:xfrm>
          <a:custGeom>
            <a:avLst/>
            <a:gdLst/>
            <a:ahLst/>
            <a:cxnLst/>
            <a:rect l="0" t="0" r="0" b="0"/>
            <a:pathLst>
              <a:path w="1580649" h="742048">
                <a:moveTo>
                  <a:pt x="1437774" y="599173"/>
                </a:moveTo>
                <a:lnTo>
                  <a:pt x="142875" y="142875"/>
                </a:lnTo>
                <a:moveTo>
                  <a:pt x="303745" y="116245"/>
                </a:moveTo>
                <a:lnTo>
                  <a:pt x="142875" y="142875"/>
                </a:lnTo>
                <a:lnTo>
                  <a:pt x="251512" y="264474"/>
                </a:lnTo>
              </a:path>
            </a:pathLst>
          </a:custGeom>
          <a:noFill/>
          <a:ln w="49329">
            <a:solidFill>
              <a:srgbClr val="9AFFD2"/>
            </a:solidFill>
          </a:ln>
        </p:spPr>
      </p:sp>
      <p:sp>
        <p:nvSpPr>
          <p:cNvPr id="15" name="Answer">
            <a:extLst>
              <a:ext uri="{FF2B5EF4-FFF2-40B4-BE49-F238E27FC236}">
                <a16:creationId xmlns:a16="http://schemas.microsoft.com/office/drawing/2014/main" id="{750621CE-71E8-4892-9E60-DA4DEDF38D20}"/>
              </a:ext>
            </a:extLst>
          </p:cNvPr>
          <p:cNvSpPr>
            <a:spLocks noGrp="1"/>
          </p:cNvSpPr>
          <p:nvPr/>
        </p:nvSpPr>
        <p:spPr>
          <a:xfrm>
            <a:off x="13144500" y="7239000"/>
            <a:ext cx="4191000" cy="571500"/>
          </a:xfrm>
          <a:prstGeom prst="rect">
            <a:avLst/>
          </a:prstGeom>
          <a:noFill/>
          <a:ln w="0">
            <a:noFill/>
          </a:ln>
        </p:spPr>
        <p:txBody>
          <a:bodyPr wrap="none" lIns="0" tIns="0" rIns="0" bIns="0" anchor="t">
            <a:noAutofit/>
          </a:bodyPr>
          <a:lstStyle>
            <a:defPPr algn="l">
              <a:defRPr sz="2850" b="1">
                <a:solidFill>
                  <a:srgbClr val="9AFFD2"/>
                </a:solidFill>
                <a:latin typeface="Open Sans"/>
                <a:ea typeface="Open Sans"/>
                <a:cs typeface="Open Sans"/>
              </a:defRPr>
            </a:defPPr>
            <a:lvl1pPr algn="l">
              <a:defRPr sz="2850" b="1">
                <a:solidFill>
                  <a:srgbClr val="9AFFD2"/>
                </a:solidFill>
                <a:latin typeface="Open Sans"/>
                <a:ea typeface="Open Sans"/>
                <a:cs typeface="Open Sans"/>
              </a:defRPr>
            </a:lvl1pPr>
            <a:lvl2pPr algn="l">
              <a:defRPr sz="2850" b="1">
                <a:solidFill>
                  <a:srgbClr val="9AFFD2"/>
                </a:solidFill>
                <a:latin typeface="Open Sans"/>
                <a:ea typeface="Open Sans"/>
                <a:cs typeface="Open Sans"/>
              </a:defRPr>
            </a:lvl2pPr>
            <a:lvl3pPr algn="l">
              <a:defRPr sz="2850" b="1">
                <a:solidFill>
                  <a:srgbClr val="9AFFD2"/>
                </a:solidFill>
                <a:latin typeface="Open Sans"/>
                <a:ea typeface="Open Sans"/>
                <a:cs typeface="Open Sans"/>
              </a:defRPr>
            </a:lvl3pPr>
            <a:lvl4pPr algn="l">
              <a:defRPr sz="2850" b="1">
                <a:solidFill>
                  <a:srgbClr val="9AFFD2"/>
                </a:solidFill>
                <a:latin typeface="Open Sans"/>
                <a:ea typeface="Open Sans"/>
                <a:cs typeface="Open Sans"/>
              </a:defRPr>
            </a:lvl4pPr>
            <a:lvl5pPr algn="l">
              <a:defRPr sz="2850" b="1">
                <a:solidFill>
                  <a:srgbClr val="9AFFD2"/>
                </a:solidFill>
                <a:latin typeface="Open Sans"/>
                <a:ea typeface="Open Sans"/>
                <a:cs typeface="Open Sans"/>
              </a:defRPr>
            </a:lvl5pPr>
            <a:lvl6pPr algn="l">
              <a:defRPr sz="2850" b="1">
                <a:solidFill>
                  <a:srgbClr val="9AFFD2"/>
                </a:solidFill>
                <a:latin typeface="Open Sans"/>
                <a:ea typeface="Open Sans"/>
                <a:cs typeface="Open Sans"/>
              </a:defRPr>
            </a:lvl6pPr>
            <a:lvl7pPr algn="l">
              <a:defRPr sz="2850" b="1">
                <a:solidFill>
                  <a:srgbClr val="9AFFD2"/>
                </a:solidFill>
                <a:latin typeface="Open Sans"/>
                <a:ea typeface="Open Sans"/>
                <a:cs typeface="Open Sans"/>
              </a:defRPr>
            </a:lvl7pPr>
            <a:lvl8pPr algn="l">
              <a:defRPr sz="2850" b="1">
                <a:solidFill>
                  <a:srgbClr val="9AFFD2"/>
                </a:solidFill>
                <a:latin typeface="Open Sans"/>
                <a:ea typeface="Open Sans"/>
                <a:cs typeface="Open Sans"/>
              </a:defRPr>
            </a:lvl8pPr>
            <a:lvl9pPr algn="l">
              <a:defRPr sz="2850" b="1">
                <a:solidFill>
                  <a:srgbClr val="9AFFD2"/>
                </a:solidFill>
                <a:latin typeface="Open Sans"/>
                <a:ea typeface="Open Sans"/>
                <a:cs typeface="Open Sans"/>
              </a:defRPr>
            </a:lvl9pPr>
          </a:lstStyle>
          <a:p>
            <a:pPr algn="l">
              <a:defRPr sz="2850" b="1">
                <a:solidFill>
                  <a:srgbClr val="9AFFD2"/>
                </a:solidFill>
                <a:latin typeface="Open Sans"/>
                <a:ea typeface="Open Sans"/>
                <a:cs typeface="Open Sans"/>
              </a:defRPr>
            </a:pPr>
            <a:r>
              <a:rPr sz="2850" b="1">
                <a:solidFill>
                  <a:srgbClr val="9AFFD2"/>
                </a:solidFill>
                <a:latin typeface="Open Sans"/>
                <a:ea typeface="Open Sans"/>
                <a:cs typeface="Open Sans"/>
              </a:rPr>
              <a:t>Answer 3</a:t>
            </a:r>
          </a:p>
        </p:txBody>
      </p:sp>
      <p:sp>
        <p:nvSpPr>
          <p:cNvPr id="16" name="Reason">
            <a:extLst>
              <a:ext uri="{FF2B5EF4-FFF2-40B4-BE49-F238E27FC236}">
                <a16:creationId xmlns:a16="http://schemas.microsoft.com/office/drawing/2014/main" id="{CD930787-8C7E-4145-AE7A-815DC7F27547}"/>
              </a:ext>
            </a:extLst>
          </p:cNvPr>
          <p:cNvSpPr>
            <a:spLocks noGrp="1"/>
          </p:cNvSpPr>
          <p:nvPr/>
        </p:nvSpPr>
        <p:spPr>
          <a:xfrm>
            <a:off x="13144500" y="7924800"/>
            <a:ext cx="4191000" cy="161925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Benefit, cost,</a:t>
            </a:r>
          </a:p>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choice</a:t>
            </a:r>
          </a:p>
        </p:txBody>
      </p:sp>
    </p:spTree>
    <p:extLst>
      <p:ext uri="{BB962C8B-B14F-4D97-AF65-F5344CB8AC3E}">
        <p14:creationId xmlns:p14="http://schemas.microsoft.com/office/powerpoint/2010/main" val="191080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15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5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5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book_slide18.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1" name="Template clouds 21"/>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20" name="Template clouds 20"/>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19" name="Template grass 19"/>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8" name="Template grass 18"/>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7" name="Template grass 17"/>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16" name="Slide title">
            <a:extLst>
              <a:ext uri="{FF2B5EF4-FFF2-40B4-BE49-F238E27FC236}">
                <a16:creationId xmlns:a16="http://schemas.microsoft.com/office/drawing/2014/main" id="{4DF6A844-697C-4B49-97A5-5BAB85F23494}"/>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SUCCESSFUL DODGE?</a:t>
            </a:r>
          </a:p>
        </p:txBody>
      </p:sp>
      <p:sp>
        <p:nvSpPr>
          <p:cNvPr id="2" name="Source credit">
            <a:extLst>
              <a:ext uri="{FF2B5EF4-FFF2-40B4-BE49-F238E27FC236}">
                <a16:creationId xmlns:a16="http://schemas.microsoft.com/office/drawing/2014/main" id="{5A980840-121A-4343-AFBE-47878C42623E}"/>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0">
                <a:solidFill>
                  <a:srgbClr val="FFFFFF"/>
                </a:solidFill>
                <a:latin typeface="Open Sans"/>
                <a:ea typeface="Open Sans"/>
                <a:cs typeface="Open Sans"/>
              </a:rPr>
              <a:t>TUNIC / Isometricorp / Finji     ·     </a:t>
            </a:r>
            <a:r>
              <a:rPr sz="2000" b="1">
                <a:solidFill>
                  <a:srgbClr val="9AFFD2"/>
                </a:solidFill>
                <a:latin typeface="Open Sans"/>
                <a:ea typeface="Open Sans"/>
                <a:cs typeface="Open Sans"/>
              </a:rPr>
              <a:t>Book idea: </a:t>
            </a:r>
            <a:r>
              <a:rPr sz="2000" b="0">
                <a:solidFill>
                  <a:srgbClr val="FFFFFF"/>
                </a:solidFill>
                <a:latin typeface="Open Sans"/>
                <a:ea typeface="Open Sans"/>
                <a:cs typeface="Open Sans"/>
              </a:rPr>
              <a:t>Don’t Make Me Think</a:t>
            </a:r>
          </a:p>
        </p:txBody>
      </p:sp>
      <p:sp>
        <p:nvSpPr>
          <p:cNvPr id="3" name="Vote prompt">
            <a:extLst>
              <a:ext uri="{FF2B5EF4-FFF2-40B4-BE49-F238E27FC236}">
                <a16:creationId xmlns:a16="http://schemas.microsoft.com/office/drawing/2014/main" id="{A4D7B171-C98B-4DBA-A29F-FCB5E913A603}"/>
              </a:ext>
            </a:extLst>
          </p:cNvPr>
          <p:cNvSpPr>
            <a:spLocks noGrp="1"/>
          </p:cNvSpPr>
          <p:nvPr/>
        </p:nvSpPr>
        <p:spPr>
          <a:xfrm>
            <a:off x="13144500" y="2809875"/>
            <a:ext cx="4191000" cy="619125"/>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VOTE  1 / 2 / 3</a:t>
            </a:r>
          </a:p>
        </p:txBody>
      </p:sp>
      <p:sp>
        <p:nvSpPr>
          <p:cNvPr id="4" name="Choice 1">
            <a:extLst>
              <a:ext uri="{FF2B5EF4-FFF2-40B4-BE49-F238E27FC236}">
                <a16:creationId xmlns:a16="http://schemas.microsoft.com/office/drawing/2014/main" id="{BF1437AB-C24A-4FD3-9AA2-063F83E50FAA}"/>
              </a:ext>
            </a:extLst>
          </p:cNvPr>
          <p:cNvSpPr>
            <a:spLocks noGrp="1"/>
          </p:cNvSpPr>
          <p:nvPr/>
        </p:nvSpPr>
        <p:spPr>
          <a:xfrm>
            <a:off x="13144500" y="381000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1  Yes</a:t>
            </a:r>
          </a:p>
        </p:txBody>
      </p:sp>
      <p:sp>
        <p:nvSpPr>
          <p:cNvPr id="5" name="Choice 2">
            <a:extLst>
              <a:ext uri="{FF2B5EF4-FFF2-40B4-BE49-F238E27FC236}">
                <a16:creationId xmlns:a16="http://schemas.microsoft.com/office/drawing/2014/main" id="{642121B7-DCDF-4F71-82C2-AA3BABFFAFB3}"/>
              </a:ext>
            </a:extLst>
          </p:cNvPr>
          <p:cNvSpPr>
            <a:spLocks noGrp="1"/>
          </p:cNvSpPr>
          <p:nvPr/>
        </p:nvSpPr>
        <p:spPr>
          <a:xfrm>
            <a:off x="13144500" y="4905375"/>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2  Cannot tell</a:t>
            </a:r>
          </a:p>
        </p:txBody>
      </p:sp>
      <p:sp>
        <p:nvSpPr>
          <p:cNvPr id="6" name="Choice 3">
            <a:extLst>
              <a:ext uri="{FF2B5EF4-FFF2-40B4-BE49-F238E27FC236}">
                <a16:creationId xmlns:a16="http://schemas.microsoft.com/office/drawing/2014/main" id="{82CD9795-0DAF-4648-9C5F-31105B373969}"/>
              </a:ext>
            </a:extLst>
          </p:cNvPr>
          <p:cNvSpPr>
            <a:spLocks noGrp="1"/>
          </p:cNvSpPr>
          <p:nvPr/>
        </p:nvSpPr>
        <p:spPr>
          <a:xfrm>
            <a:off x="13144500" y="600075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3  No</a:t>
            </a:r>
          </a:p>
        </p:txBody>
      </p:sp>
      <p:pic>
        <p:nvPicPr>
          <p:cNvPr id="7" name="tunic-evasion-attempt question image" descr="tunic-evasion-attempt question image">
            <a:extLst>
              <a:ext uri="{FF2B5EF4-FFF2-40B4-BE49-F238E27FC236}">
                <a16:creationId xmlns:a16="http://schemas.microsoft.com/office/drawing/2014/main" id="{1607BA86-AA1D-488D-A20C-13E3E04C8121}"/>
              </a:ext>
            </a:extLst>
          </p:cNvPr>
          <p:cNvPicPr>
            <a:picLocks noChangeAspect="1"/>
          </p:cNvPicPr>
          <p:nvPr/>
        </p:nvPicPr>
        <p:blipFill>
          <a:blip r:embed="rId5"/>
          <a:stretch/>
        </p:blipFill>
        <p:spPr>
          <a:xfrm>
            <a:off x="762000" y="2714625"/>
            <a:ext cx="11049000" cy="6215063"/>
          </a:xfrm>
          <a:prstGeom prst="rect">
            <a:avLst/>
          </a:prstGeom>
        </p:spPr>
      </p:pic>
      <p:sp>
        <p:nvSpPr>
          <p:cNvPr id="8" name="tunic-evasion-attempt fox halo">
            <a:extLst>
              <a:ext uri="{FF2B5EF4-FFF2-40B4-BE49-F238E27FC236}">
                <a16:creationId xmlns:a16="http://schemas.microsoft.com/office/drawing/2014/main" id="{2EFDE2F5-6A22-4FA5-BB3B-40DD70C8FDF1}"/>
              </a:ext>
            </a:extLst>
          </p:cNvPr>
          <p:cNvSpPr>
            <a:spLocks noGrp="1"/>
          </p:cNvSpPr>
          <p:nvPr/>
        </p:nvSpPr>
        <p:spPr>
          <a:xfrm>
            <a:off x="6603008" y="6201966"/>
            <a:ext cx="943769" cy="667544"/>
          </a:xfrm>
          <a:prstGeom prst="ellipse">
            <a:avLst/>
          </a:prstGeom>
          <a:noFill/>
          <a:ln w="69056">
            <a:solidFill>
              <a:srgbClr val="080912"/>
            </a:solidFill>
          </a:ln>
        </p:spPr>
      </p:sp>
      <p:sp>
        <p:nvSpPr>
          <p:cNvPr id="9" name="tunic-evasion-attempt fox focus">
            <a:extLst>
              <a:ext uri="{FF2B5EF4-FFF2-40B4-BE49-F238E27FC236}">
                <a16:creationId xmlns:a16="http://schemas.microsoft.com/office/drawing/2014/main" id="{1C42A5EF-806B-47CC-B916-0C5E0057BC25}"/>
              </a:ext>
            </a:extLst>
          </p:cNvPr>
          <p:cNvSpPr>
            <a:spLocks noGrp="1"/>
          </p:cNvSpPr>
          <p:nvPr/>
        </p:nvSpPr>
        <p:spPr>
          <a:xfrm>
            <a:off x="6603008" y="6201966"/>
            <a:ext cx="943769" cy="667544"/>
          </a:xfrm>
          <a:prstGeom prst="ellipse">
            <a:avLst/>
          </a:prstGeom>
          <a:noFill/>
          <a:ln w="34528">
            <a:solidFill>
              <a:srgbClr val="9AFFD2"/>
            </a:solidFill>
          </a:ln>
        </p:spPr>
      </p:sp>
      <p:sp>
        <p:nvSpPr>
          <p:cNvPr id="10" name="tunic-evasion-attempt attacker-blade halo">
            <a:extLst>
              <a:ext uri="{FF2B5EF4-FFF2-40B4-BE49-F238E27FC236}">
                <a16:creationId xmlns:a16="http://schemas.microsoft.com/office/drawing/2014/main" id="{2FEE5601-17BE-4B83-8170-61DE52A327F3}"/>
              </a:ext>
            </a:extLst>
          </p:cNvPr>
          <p:cNvSpPr>
            <a:spLocks noGrp="1"/>
          </p:cNvSpPr>
          <p:nvPr/>
        </p:nvSpPr>
        <p:spPr>
          <a:xfrm>
            <a:off x="4588867" y="5419328"/>
            <a:ext cx="1150938" cy="609997"/>
          </a:xfrm>
          <a:prstGeom prst="ellipse">
            <a:avLst/>
          </a:prstGeom>
          <a:noFill/>
          <a:ln w="69056">
            <a:solidFill>
              <a:srgbClr val="080912"/>
            </a:solidFill>
          </a:ln>
        </p:spPr>
      </p:sp>
      <p:sp>
        <p:nvSpPr>
          <p:cNvPr id="11" name="tunic-evasion-attempt attacker-blade focus">
            <a:extLst>
              <a:ext uri="{FF2B5EF4-FFF2-40B4-BE49-F238E27FC236}">
                <a16:creationId xmlns:a16="http://schemas.microsoft.com/office/drawing/2014/main" id="{C162BF55-B16C-4C76-BC5A-06AD18A87E49}"/>
              </a:ext>
            </a:extLst>
          </p:cNvPr>
          <p:cNvSpPr>
            <a:spLocks noGrp="1"/>
          </p:cNvSpPr>
          <p:nvPr/>
        </p:nvSpPr>
        <p:spPr>
          <a:xfrm>
            <a:off x="4588867" y="5419328"/>
            <a:ext cx="1150938" cy="609997"/>
          </a:xfrm>
          <a:prstGeom prst="ellipse">
            <a:avLst/>
          </a:prstGeom>
          <a:noFill/>
          <a:ln w="34528">
            <a:solidFill>
              <a:srgbClr val="9AFFD2"/>
            </a:solidFill>
          </a:ln>
        </p:spPr>
      </p:sp>
      <p:sp>
        <p:nvSpPr>
          <p:cNvPr id="12" name="tunic-evasion-attempt dust-trail halo">
            <a:extLst>
              <a:ext uri="{FF2B5EF4-FFF2-40B4-BE49-F238E27FC236}">
                <a16:creationId xmlns:a16="http://schemas.microsoft.com/office/drawing/2014/main" id="{9E5741E3-7069-4D16-BD6B-0F3B63EDCCE8}"/>
              </a:ext>
            </a:extLst>
          </p:cNvPr>
          <p:cNvSpPr>
            <a:spLocks noGrp="1"/>
          </p:cNvSpPr>
          <p:nvPr/>
        </p:nvSpPr>
        <p:spPr>
          <a:xfrm>
            <a:off x="6373813" y="5362773"/>
            <a:ext cx="285750" cy="884238"/>
          </a:xfrm>
          <a:custGeom>
            <a:avLst/>
            <a:gdLst/>
            <a:ahLst/>
            <a:cxnLst/>
            <a:rect l="0" t="0" r="0" b="0"/>
            <a:pathLst>
              <a:path w="285750" h="884238">
                <a:moveTo>
                  <a:pt x="142875" y="142875"/>
                </a:moveTo>
                <a:lnTo>
                  <a:pt x="142875" y="741363"/>
                </a:lnTo>
                <a:moveTo>
                  <a:pt x="64294" y="598488"/>
                </a:moveTo>
                <a:lnTo>
                  <a:pt x="142875" y="741363"/>
                </a:lnTo>
                <a:lnTo>
                  <a:pt x="221456" y="598488"/>
                </a:lnTo>
              </a:path>
            </a:pathLst>
          </a:custGeom>
          <a:noFill/>
          <a:ln w="69056">
            <a:solidFill>
              <a:srgbClr val="080912"/>
            </a:solidFill>
          </a:ln>
        </p:spPr>
      </p:sp>
      <p:sp>
        <p:nvSpPr>
          <p:cNvPr id="13" name="tunic-evasion-attempt dust-trail focus">
            <a:extLst>
              <a:ext uri="{FF2B5EF4-FFF2-40B4-BE49-F238E27FC236}">
                <a16:creationId xmlns:a16="http://schemas.microsoft.com/office/drawing/2014/main" id="{3CA8F854-CBD7-4946-8650-00F57209F7AB}"/>
              </a:ext>
            </a:extLst>
          </p:cNvPr>
          <p:cNvSpPr>
            <a:spLocks noGrp="1"/>
          </p:cNvSpPr>
          <p:nvPr/>
        </p:nvSpPr>
        <p:spPr>
          <a:xfrm>
            <a:off x="6373813" y="5362773"/>
            <a:ext cx="285750" cy="884238"/>
          </a:xfrm>
          <a:custGeom>
            <a:avLst/>
            <a:gdLst/>
            <a:ahLst/>
            <a:cxnLst/>
            <a:rect l="0" t="0" r="0" b="0"/>
            <a:pathLst>
              <a:path w="285750" h="884238">
                <a:moveTo>
                  <a:pt x="142875" y="142875"/>
                </a:moveTo>
                <a:lnTo>
                  <a:pt x="142875" y="741363"/>
                </a:lnTo>
                <a:moveTo>
                  <a:pt x="64294" y="598488"/>
                </a:moveTo>
                <a:lnTo>
                  <a:pt x="142875" y="741363"/>
                </a:lnTo>
                <a:lnTo>
                  <a:pt x="221456" y="598488"/>
                </a:lnTo>
              </a:path>
            </a:pathLst>
          </a:custGeom>
          <a:noFill/>
          <a:ln w="34528">
            <a:solidFill>
              <a:srgbClr val="9AFFD2"/>
            </a:solidFill>
          </a:ln>
        </p:spPr>
      </p:sp>
      <p:sp>
        <p:nvSpPr>
          <p:cNvPr id="14" name="Answer">
            <a:extLst>
              <a:ext uri="{FF2B5EF4-FFF2-40B4-BE49-F238E27FC236}">
                <a16:creationId xmlns:a16="http://schemas.microsoft.com/office/drawing/2014/main" id="{36756A82-9A29-4541-9671-4949CF8F2619}"/>
              </a:ext>
            </a:extLst>
          </p:cNvPr>
          <p:cNvSpPr>
            <a:spLocks noGrp="1"/>
          </p:cNvSpPr>
          <p:nvPr/>
        </p:nvSpPr>
        <p:spPr>
          <a:xfrm>
            <a:off x="13144500" y="7239000"/>
            <a:ext cx="4191000" cy="571500"/>
          </a:xfrm>
          <a:prstGeom prst="rect">
            <a:avLst/>
          </a:prstGeom>
          <a:noFill/>
          <a:ln w="0">
            <a:noFill/>
          </a:ln>
        </p:spPr>
        <p:txBody>
          <a:bodyPr wrap="none" lIns="0" tIns="0" rIns="0" bIns="0" anchor="t">
            <a:noAutofit/>
          </a:bodyPr>
          <a:lstStyle>
            <a:defPPr algn="l">
              <a:defRPr sz="2850" b="1">
                <a:solidFill>
                  <a:srgbClr val="9AFFD2"/>
                </a:solidFill>
                <a:latin typeface="Open Sans"/>
                <a:ea typeface="Open Sans"/>
                <a:cs typeface="Open Sans"/>
              </a:defRPr>
            </a:defPPr>
            <a:lvl1pPr algn="l">
              <a:defRPr sz="2850" b="1">
                <a:solidFill>
                  <a:srgbClr val="9AFFD2"/>
                </a:solidFill>
                <a:latin typeface="Open Sans"/>
                <a:ea typeface="Open Sans"/>
                <a:cs typeface="Open Sans"/>
              </a:defRPr>
            </a:lvl1pPr>
            <a:lvl2pPr algn="l">
              <a:defRPr sz="2850" b="1">
                <a:solidFill>
                  <a:srgbClr val="9AFFD2"/>
                </a:solidFill>
                <a:latin typeface="Open Sans"/>
                <a:ea typeface="Open Sans"/>
                <a:cs typeface="Open Sans"/>
              </a:defRPr>
            </a:lvl2pPr>
            <a:lvl3pPr algn="l">
              <a:defRPr sz="2850" b="1">
                <a:solidFill>
                  <a:srgbClr val="9AFFD2"/>
                </a:solidFill>
                <a:latin typeface="Open Sans"/>
                <a:ea typeface="Open Sans"/>
                <a:cs typeface="Open Sans"/>
              </a:defRPr>
            </a:lvl3pPr>
            <a:lvl4pPr algn="l">
              <a:defRPr sz="2850" b="1">
                <a:solidFill>
                  <a:srgbClr val="9AFFD2"/>
                </a:solidFill>
                <a:latin typeface="Open Sans"/>
                <a:ea typeface="Open Sans"/>
                <a:cs typeface="Open Sans"/>
              </a:defRPr>
            </a:lvl4pPr>
            <a:lvl5pPr algn="l">
              <a:defRPr sz="2850" b="1">
                <a:solidFill>
                  <a:srgbClr val="9AFFD2"/>
                </a:solidFill>
                <a:latin typeface="Open Sans"/>
                <a:ea typeface="Open Sans"/>
                <a:cs typeface="Open Sans"/>
              </a:defRPr>
            </a:lvl5pPr>
            <a:lvl6pPr algn="l">
              <a:defRPr sz="2850" b="1">
                <a:solidFill>
                  <a:srgbClr val="9AFFD2"/>
                </a:solidFill>
                <a:latin typeface="Open Sans"/>
                <a:ea typeface="Open Sans"/>
                <a:cs typeface="Open Sans"/>
              </a:defRPr>
            </a:lvl6pPr>
            <a:lvl7pPr algn="l">
              <a:defRPr sz="2850" b="1">
                <a:solidFill>
                  <a:srgbClr val="9AFFD2"/>
                </a:solidFill>
                <a:latin typeface="Open Sans"/>
                <a:ea typeface="Open Sans"/>
                <a:cs typeface="Open Sans"/>
              </a:defRPr>
            </a:lvl7pPr>
            <a:lvl8pPr algn="l">
              <a:defRPr sz="2850" b="1">
                <a:solidFill>
                  <a:srgbClr val="9AFFD2"/>
                </a:solidFill>
                <a:latin typeface="Open Sans"/>
                <a:ea typeface="Open Sans"/>
                <a:cs typeface="Open Sans"/>
              </a:defRPr>
            </a:lvl8pPr>
            <a:lvl9pPr algn="l">
              <a:defRPr sz="2850" b="1">
                <a:solidFill>
                  <a:srgbClr val="9AFFD2"/>
                </a:solidFill>
                <a:latin typeface="Open Sans"/>
                <a:ea typeface="Open Sans"/>
                <a:cs typeface="Open Sans"/>
              </a:defRPr>
            </a:lvl9pPr>
          </a:lstStyle>
          <a:p>
            <a:pPr algn="l">
              <a:defRPr sz="2850" b="1">
                <a:solidFill>
                  <a:srgbClr val="9AFFD2"/>
                </a:solidFill>
                <a:latin typeface="Open Sans"/>
                <a:ea typeface="Open Sans"/>
                <a:cs typeface="Open Sans"/>
              </a:defRPr>
            </a:pPr>
            <a:r>
              <a:rPr sz="2850" b="1">
                <a:solidFill>
                  <a:srgbClr val="9AFFD2"/>
                </a:solidFill>
                <a:latin typeface="Open Sans"/>
                <a:ea typeface="Open Sans"/>
                <a:cs typeface="Open Sans"/>
              </a:rPr>
              <a:t>Answer 2</a:t>
            </a:r>
          </a:p>
        </p:txBody>
      </p:sp>
      <p:sp>
        <p:nvSpPr>
          <p:cNvPr id="15" name="Reason">
            <a:extLst>
              <a:ext uri="{FF2B5EF4-FFF2-40B4-BE49-F238E27FC236}">
                <a16:creationId xmlns:a16="http://schemas.microsoft.com/office/drawing/2014/main" id="{E89D417A-1A6F-41C5-8BEF-B4F75B0E9397}"/>
              </a:ext>
            </a:extLst>
          </p:cNvPr>
          <p:cNvSpPr>
            <a:spLocks noGrp="1"/>
          </p:cNvSpPr>
          <p:nvPr/>
        </p:nvSpPr>
        <p:spPr>
          <a:xfrm>
            <a:off x="13144500" y="7924800"/>
            <a:ext cx="4191000" cy="161925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Watch the attempt.</a:t>
            </a:r>
          </a:p>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Outcome unknown</a:t>
            </a:r>
          </a:p>
        </p:txBody>
      </p:sp>
    </p:spTree>
    <p:extLst>
      <p:ext uri="{BB962C8B-B14F-4D97-AF65-F5344CB8AC3E}">
        <p14:creationId xmlns:p14="http://schemas.microsoft.com/office/powerpoint/2010/main" val="144152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5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5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book_slide19.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32" name="Template clouds 32"/>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rId3"/>
            <a:stretch>
              <a:fillRect/>
            </a:stretch>
          </a:blipFill>
        </p:spPr>
        <p:txBody>
          <a:bodyPr/>
          <a:lstStyle/>
          <a:p>
            <a:endParaRPr lang="en-US"/>
          </a:p>
        </p:txBody>
      </p:sp>
      <p:sp>
        <p:nvSpPr>
          <p:cNvPr id="31" name="Template clouds 31"/>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rId3"/>
            <a:stretch>
              <a:fillRect/>
            </a:stretch>
          </a:blipFill>
        </p:spPr>
        <p:txBody>
          <a:bodyPr/>
          <a:lstStyle/>
          <a:p>
            <a:endParaRPr lang="en-US"/>
          </a:p>
        </p:txBody>
      </p:sp>
      <p:sp>
        <p:nvSpPr>
          <p:cNvPr id="30" name="Template grass 30"/>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29" name="Template grass 29"/>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28" name="Template grass 28"/>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rId4"/>
            <a:stretch>
              <a:fillRect/>
            </a:stretch>
          </a:blipFill>
        </p:spPr>
        <p:txBody>
          <a:bodyPr/>
          <a:lstStyle/>
          <a:p>
            <a:endParaRPr lang="en-US"/>
          </a:p>
        </p:txBody>
      </p:sp>
      <p:sp>
        <p:nvSpPr>
          <p:cNvPr id="27" name="Slide title">
            <a:extLst>
              <a:ext uri="{FF2B5EF4-FFF2-40B4-BE49-F238E27FC236}">
                <a16:creationId xmlns:a16="http://schemas.microsoft.com/office/drawing/2014/main" id="{B4E905AE-D121-4A78-B953-C70BFF5EA82D}"/>
              </a:ext>
            </a:extLst>
          </p:cNvPr>
          <p:cNvSpPr>
            <a:spLocks noGrp="1"/>
          </p:cNvSpPr>
          <p:nvPr/>
        </p:nvSpPr>
        <p:spPr>
          <a:xfrm>
            <a:off x="714375" y="1381125"/>
            <a:ext cx="16859250" cy="1047750"/>
          </a:xfrm>
          <a:prstGeom prst="rect">
            <a:avLst/>
          </a:prstGeom>
          <a:noFill/>
          <a:ln w="0">
            <a:noFill/>
          </a:ln>
        </p:spPr>
        <p:txBody>
          <a:bodyPr wrap="none" lIns="0" tIns="0" rIns="0" bIns="0" anchor="t">
            <a:noAutofit/>
          </a:bodyPr>
          <a:lstStyle>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WHAT FAILED THE PLAYER?</a:t>
            </a:r>
          </a:p>
        </p:txBody>
      </p:sp>
      <p:sp>
        <p:nvSpPr>
          <p:cNvPr id="2" name="Source credit">
            <a:extLst>
              <a:ext uri="{FF2B5EF4-FFF2-40B4-BE49-F238E27FC236}">
                <a16:creationId xmlns:a16="http://schemas.microsoft.com/office/drawing/2014/main" id="{5AE03E0D-AE6B-4EA1-9684-2C431D3E5199}"/>
              </a:ext>
            </a:extLst>
          </p:cNvPr>
          <p:cNvSpPr>
            <a:spLocks noGrp="1"/>
          </p:cNvSpPr>
          <p:nvPr/>
        </p:nvSpPr>
        <p:spPr>
          <a:xfrm>
            <a:off x="762000" y="8953500"/>
            <a:ext cx="16573500" cy="304800"/>
          </a:xfrm>
          <a:prstGeom prst="rect">
            <a:avLst/>
          </a:prstGeom>
          <a:noFill/>
          <a:ln w="0">
            <a:noFill/>
          </a:ln>
        </p:spPr>
        <p:txBody>
          <a:bodyPr wrap="none" lIns="0" tIns="0" rIns="0" bIns="0" anchor="t">
            <a:noAutofit/>
          </a:bodyPr>
          <a:lstStyle>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a:pPr algn="l">
              <a:defRPr sz="2000" b="0">
                <a:solidFill>
                  <a:srgbClr val="FFFFFF"/>
                </a:solidFill>
                <a:latin typeface="Open Sans"/>
                <a:ea typeface="Open Sans"/>
                <a:cs typeface="Open Sans"/>
              </a:defRPr>
            </a:pPr>
            <a:r>
              <a:rPr sz="2000" b="0">
                <a:solidFill>
                  <a:srgbClr val="FFFFFF"/>
                </a:solidFill>
                <a:latin typeface="Open Sans"/>
                <a:ea typeface="Open Sans"/>
                <a:cs typeface="Open Sans"/>
              </a:rPr>
              <a:t>Illustrative mockup     ·     </a:t>
            </a:r>
            <a:r>
              <a:rPr sz="2000" b="1">
                <a:solidFill>
                  <a:srgbClr val="9AFFD2"/>
                </a:solidFill>
                <a:latin typeface="Open Sans"/>
                <a:ea typeface="Open Sans"/>
                <a:cs typeface="Open Sans"/>
              </a:rPr>
              <a:t>Book idea: </a:t>
            </a:r>
            <a:r>
              <a:rPr sz="2000" b="0">
                <a:solidFill>
                  <a:srgbClr val="FFFFFF"/>
                </a:solidFill>
                <a:latin typeface="Open Sans"/>
                <a:ea typeface="Open Sans"/>
                <a:cs typeface="Open Sans"/>
              </a:rPr>
              <a:t>Hooked</a:t>
            </a:r>
          </a:p>
        </p:txBody>
      </p:sp>
      <p:sp>
        <p:nvSpPr>
          <p:cNvPr id="3" name="Vote prompt">
            <a:extLst>
              <a:ext uri="{FF2B5EF4-FFF2-40B4-BE49-F238E27FC236}">
                <a16:creationId xmlns:a16="http://schemas.microsoft.com/office/drawing/2014/main" id="{EE5C80BA-5A5B-4452-A4FC-5F10C24B9C7A}"/>
              </a:ext>
            </a:extLst>
          </p:cNvPr>
          <p:cNvSpPr>
            <a:spLocks noGrp="1"/>
          </p:cNvSpPr>
          <p:nvPr/>
        </p:nvSpPr>
        <p:spPr>
          <a:xfrm>
            <a:off x="13144500" y="2809875"/>
            <a:ext cx="4191000" cy="619125"/>
          </a:xfrm>
          <a:prstGeom prst="rect">
            <a:avLst/>
          </a:prstGeom>
          <a:noFill/>
          <a:ln w="0">
            <a:noFill/>
          </a:ln>
        </p:spPr>
        <p:txBody>
          <a:bodyPr wrap="none" lIns="0" tIns="0" rIns="0" bIns="0" anchor="t">
            <a:noAutofit/>
          </a:bodyPr>
          <a:lstStyle>
            <a:defPPr algn="l">
              <a:defRPr sz="2700" b="1">
                <a:solidFill>
                  <a:srgbClr val="9AFFD2"/>
                </a:solidFill>
                <a:latin typeface="Open Sans"/>
                <a:ea typeface="Open Sans"/>
                <a:cs typeface="Open Sans"/>
              </a:defRPr>
            </a:defPPr>
            <a:lvl1pPr algn="l">
              <a:defRPr sz="2700" b="1">
                <a:solidFill>
                  <a:srgbClr val="9AFFD2"/>
                </a:solidFill>
                <a:latin typeface="Open Sans"/>
                <a:ea typeface="Open Sans"/>
                <a:cs typeface="Open Sans"/>
              </a:defRPr>
            </a:lvl1pPr>
            <a:lvl2pPr algn="l">
              <a:defRPr sz="2700" b="1">
                <a:solidFill>
                  <a:srgbClr val="9AFFD2"/>
                </a:solidFill>
                <a:latin typeface="Open Sans"/>
                <a:ea typeface="Open Sans"/>
                <a:cs typeface="Open Sans"/>
              </a:defRPr>
            </a:lvl2pPr>
            <a:lvl3pPr algn="l">
              <a:defRPr sz="2700" b="1">
                <a:solidFill>
                  <a:srgbClr val="9AFFD2"/>
                </a:solidFill>
                <a:latin typeface="Open Sans"/>
                <a:ea typeface="Open Sans"/>
                <a:cs typeface="Open Sans"/>
              </a:defRPr>
            </a:lvl3pPr>
            <a:lvl4pPr algn="l">
              <a:defRPr sz="2700" b="1">
                <a:solidFill>
                  <a:srgbClr val="9AFFD2"/>
                </a:solidFill>
                <a:latin typeface="Open Sans"/>
                <a:ea typeface="Open Sans"/>
                <a:cs typeface="Open Sans"/>
              </a:defRPr>
            </a:lvl4pPr>
            <a:lvl5pPr algn="l">
              <a:defRPr sz="2700" b="1">
                <a:solidFill>
                  <a:srgbClr val="9AFFD2"/>
                </a:solidFill>
                <a:latin typeface="Open Sans"/>
                <a:ea typeface="Open Sans"/>
                <a:cs typeface="Open Sans"/>
              </a:defRPr>
            </a:lvl5pPr>
            <a:lvl6pPr algn="l">
              <a:defRPr sz="2700" b="1">
                <a:solidFill>
                  <a:srgbClr val="9AFFD2"/>
                </a:solidFill>
                <a:latin typeface="Open Sans"/>
                <a:ea typeface="Open Sans"/>
                <a:cs typeface="Open Sans"/>
              </a:defRPr>
            </a:lvl6pPr>
            <a:lvl7pPr algn="l">
              <a:defRPr sz="2700" b="1">
                <a:solidFill>
                  <a:srgbClr val="9AFFD2"/>
                </a:solidFill>
                <a:latin typeface="Open Sans"/>
                <a:ea typeface="Open Sans"/>
                <a:cs typeface="Open Sans"/>
              </a:defRPr>
            </a:lvl7pPr>
            <a:lvl8pPr algn="l">
              <a:defRPr sz="2700" b="1">
                <a:solidFill>
                  <a:srgbClr val="9AFFD2"/>
                </a:solidFill>
                <a:latin typeface="Open Sans"/>
                <a:ea typeface="Open Sans"/>
                <a:cs typeface="Open Sans"/>
              </a:defRPr>
            </a:lvl8pPr>
            <a:lvl9pPr algn="l">
              <a:defRPr sz="2700" b="1">
                <a:solidFill>
                  <a:srgbClr val="9AFFD2"/>
                </a:solidFill>
                <a:latin typeface="Open Sans"/>
                <a:ea typeface="Open Sans"/>
                <a:cs typeface="Open Sans"/>
              </a:defRPr>
            </a:lvl9pPr>
          </a:lstStyle>
          <a:p>
            <a:pPr algn="l">
              <a:defRPr sz="2700" b="1">
                <a:solidFill>
                  <a:srgbClr val="9AFFD2"/>
                </a:solidFill>
                <a:latin typeface="Open Sans"/>
                <a:ea typeface="Open Sans"/>
                <a:cs typeface="Open Sans"/>
              </a:defRPr>
            </a:pPr>
            <a:r>
              <a:rPr sz="2700" b="1">
                <a:solidFill>
                  <a:srgbClr val="9AFFD2"/>
                </a:solidFill>
                <a:latin typeface="Open Sans"/>
                <a:ea typeface="Open Sans"/>
                <a:cs typeface="Open Sans"/>
              </a:rPr>
              <a:t>VOTE  1 / 2 / 3</a:t>
            </a:r>
          </a:p>
        </p:txBody>
      </p:sp>
      <p:sp>
        <p:nvSpPr>
          <p:cNvPr id="4" name="Choice 1">
            <a:extLst>
              <a:ext uri="{FF2B5EF4-FFF2-40B4-BE49-F238E27FC236}">
                <a16:creationId xmlns:a16="http://schemas.microsoft.com/office/drawing/2014/main" id="{C758F636-96F7-448B-A6F4-78AE9890A1BB}"/>
              </a:ext>
            </a:extLst>
          </p:cNvPr>
          <p:cNvSpPr>
            <a:spLocks noGrp="1"/>
          </p:cNvSpPr>
          <p:nvPr/>
        </p:nvSpPr>
        <p:spPr>
          <a:xfrm>
            <a:off x="13144500" y="381000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1  Saved choice</a:t>
            </a:r>
          </a:p>
        </p:txBody>
      </p:sp>
      <p:sp>
        <p:nvSpPr>
          <p:cNvPr id="5" name="Choice 2">
            <a:extLst>
              <a:ext uri="{FF2B5EF4-FFF2-40B4-BE49-F238E27FC236}">
                <a16:creationId xmlns:a16="http://schemas.microsoft.com/office/drawing/2014/main" id="{E17ED17D-DFF2-462E-81C5-029CD866A243}"/>
              </a:ext>
            </a:extLst>
          </p:cNvPr>
          <p:cNvSpPr>
            <a:spLocks noGrp="1"/>
          </p:cNvSpPr>
          <p:nvPr/>
        </p:nvSpPr>
        <p:spPr>
          <a:xfrm>
            <a:off x="13144500" y="4905375"/>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2  Art</a:t>
            </a:r>
          </a:p>
        </p:txBody>
      </p:sp>
      <p:sp>
        <p:nvSpPr>
          <p:cNvPr id="6" name="Choice 3">
            <a:extLst>
              <a:ext uri="{FF2B5EF4-FFF2-40B4-BE49-F238E27FC236}">
                <a16:creationId xmlns:a16="http://schemas.microsoft.com/office/drawing/2014/main" id="{5800F236-9178-4220-BD21-EDB4E8506FFC}"/>
              </a:ext>
            </a:extLst>
          </p:cNvPr>
          <p:cNvSpPr>
            <a:spLocks noGrp="1"/>
          </p:cNvSpPr>
          <p:nvPr/>
        </p:nvSpPr>
        <p:spPr>
          <a:xfrm>
            <a:off x="13144500" y="6000750"/>
            <a:ext cx="4191000" cy="95250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3  Reward</a:t>
            </a:r>
          </a:p>
        </p:txBody>
      </p:sp>
      <p:pic>
        <p:nvPicPr>
          <p:cNvPr id="7" name="saved-choice clean image" descr="saved-choice clean image">
            <a:extLst>
              <a:ext uri="{FF2B5EF4-FFF2-40B4-BE49-F238E27FC236}">
                <a16:creationId xmlns:a16="http://schemas.microsoft.com/office/drawing/2014/main" id="{10E16E03-0EA0-48EA-831E-0B202F949E56}"/>
              </a:ext>
            </a:extLst>
          </p:cNvPr>
          <p:cNvPicPr>
            <a:picLocks noChangeAspect="1"/>
          </p:cNvPicPr>
          <p:nvPr/>
        </p:nvPicPr>
        <p:blipFill>
          <a:blip r:embed="rId5"/>
          <a:stretch/>
        </p:blipFill>
        <p:spPr>
          <a:xfrm>
            <a:off x="762000" y="2667000"/>
            <a:ext cx="11049000" cy="6215063"/>
          </a:xfrm>
          <a:prstGeom prst="rect">
            <a:avLst/>
          </a:prstGeom>
        </p:spPr>
      </p:pic>
      <p:sp>
        <p:nvSpPr>
          <p:cNvPr id="8" name="saved-choice clean text 34">
            <a:extLst>
              <a:ext uri="{FF2B5EF4-FFF2-40B4-BE49-F238E27FC236}">
                <a16:creationId xmlns:a16="http://schemas.microsoft.com/office/drawing/2014/main" id="{1EABAD9E-059C-4415-A13D-583DBDBFD6E8}"/>
              </a:ext>
            </a:extLst>
          </p:cNvPr>
          <p:cNvSpPr>
            <a:spLocks noGrp="1"/>
          </p:cNvSpPr>
          <p:nvPr/>
        </p:nvSpPr>
        <p:spPr>
          <a:xfrm>
            <a:off x="2488438" y="2875553"/>
            <a:ext cx="2106151"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1  SAVED</a:t>
            </a:r>
          </a:p>
        </p:txBody>
      </p:sp>
      <p:sp>
        <p:nvSpPr>
          <p:cNvPr id="9" name="saved-choice clean text 35">
            <a:extLst>
              <a:ext uri="{FF2B5EF4-FFF2-40B4-BE49-F238E27FC236}">
                <a16:creationId xmlns:a16="http://schemas.microsoft.com/office/drawing/2014/main" id="{7A7A45E0-7EC4-409F-9770-F4232B5A5458}"/>
              </a:ext>
            </a:extLst>
          </p:cNvPr>
          <p:cNvSpPr>
            <a:spLocks noGrp="1"/>
          </p:cNvSpPr>
          <p:nvPr/>
        </p:nvSpPr>
        <p:spPr>
          <a:xfrm>
            <a:off x="7626369" y="2875553"/>
            <a:ext cx="2810233"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2  NEXT RUN</a:t>
            </a:r>
          </a:p>
        </p:txBody>
      </p:sp>
      <p:sp>
        <p:nvSpPr>
          <p:cNvPr id="10" name="saved-choice clean text 36">
            <a:extLst>
              <a:ext uri="{FF2B5EF4-FFF2-40B4-BE49-F238E27FC236}">
                <a16:creationId xmlns:a16="http://schemas.microsoft.com/office/drawing/2014/main" id="{83CA7ED6-68B6-4BEF-A436-DED5DC1E88AD}"/>
              </a:ext>
            </a:extLst>
          </p:cNvPr>
          <p:cNvSpPr>
            <a:spLocks noGrp="1"/>
          </p:cNvSpPr>
          <p:nvPr/>
        </p:nvSpPr>
        <p:spPr>
          <a:xfrm>
            <a:off x="2948654" y="4155680"/>
            <a:ext cx="1185720" cy="543818"/>
          </a:xfrm>
          <a:prstGeom prst="rect">
            <a:avLst/>
          </a:prstGeom>
          <a:noFill/>
          <a:ln w="0">
            <a:noFill/>
          </a:ln>
        </p:spPr>
        <p:txBody>
          <a:bodyPr wrap="none" lIns="0" tIns="0" rIns="0" bIns="0" anchor="t">
            <a:noAutofit/>
          </a:bodyPr>
          <a:lstStyle>
            <a:defPPr algn="ctr">
              <a:defRPr sz="2855" b="1">
                <a:solidFill>
                  <a:srgbClr val="FFFFFF"/>
                </a:solidFill>
                <a:latin typeface="Open Sans"/>
                <a:ea typeface="Open Sans"/>
                <a:cs typeface="Open Sans"/>
              </a:defRPr>
            </a:defPPr>
            <a:lvl1pPr algn="ctr">
              <a:defRPr sz="2855" b="1">
                <a:solidFill>
                  <a:srgbClr val="FFFFFF"/>
                </a:solidFill>
                <a:latin typeface="Open Sans"/>
                <a:ea typeface="Open Sans"/>
                <a:cs typeface="Open Sans"/>
              </a:defRPr>
            </a:lvl1pPr>
            <a:lvl2pPr algn="ctr">
              <a:defRPr sz="2855" b="1">
                <a:solidFill>
                  <a:srgbClr val="FFFFFF"/>
                </a:solidFill>
                <a:latin typeface="Open Sans"/>
                <a:ea typeface="Open Sans"/>
                <a:cs typeface="Open Sans"/>
              </a:defRPr>
            </a:lvl2pPr>
            <a:lvl3pPr algn="ctr">
              <a:defRPr sz="2855" b="1">
                <a:solidFill>
                  <a:srgbClr val="FFFFFF"/>
                </a:solidFill>
                <a:latin typeface="Open Sans"/>
                <a:ea typeface="Open Sans"/>
                <a:cs typeface="Open Sans"/>
              </a:defRPr>
            </a:lvl3pPr>
            <a:lvl4pPr algn="ctr">
              <a:defRPr sz="2855" b="1">
                <a:solidFill>
                  <a:srgbClr val="FFFFFF"/>
                </a:solidFill>
                <a:latin typeface="Open Sans"/>
                <a:ea typeface="Open Sans"/>
                <a:cs typeface="Open Sans"/>
              </a:defRPr>
            </a:lvl4pPr>
            <a:lvl5pPr algn="ctr">
              <a:defRPr sz="2855" b="1">
                <a:solidFill>
                  <a:srgbClr val="FFFFFF"/>
                </a:solidFill>
                <a:latin typeface="Open Sans"/>
                <a:ea typeface="Open Sans"/>
                <a:cs typeface="Open Sans"/>
              </a:defRPr>
            </a:lvl5pPr>
            <a:lvl6pPr algn="ctr">
              <a:defRPr sz="2855" b="1">
                <a:solidFill>
                  <a:srgbClr val="FFFFFF"/>
                </a:solidFill>
                <a:latin typeface="Open Sans"/>
                <a:ea typeface="Open Sans"/>
                <a:cs typeface="Open Sans"/>
              </a:defRPr>
            </a:lvl6pPr>
            <a:lvl7pPr algn="ctr">
              <a:defRPr sz="2855" b="1">
                <a:solidFill>
                  <a:srgbClr val="FFFFFF"/>
                </a:solidFill>
                <a:latin typeface="Open Sans"/>
                <a:ea typeface="Open Sans"/>
                <a:cs typeface="Open Sans"/>
              </a:defRPr>
            </a:lvl7pPr>
            <a:lvl8pPr algn="ctr">
              <a:defRPr sz="2855" b="1">
                <a:solidFill>
                  <a:srgbClr val="FFFFFF"/>
                </a:solidFill>
                <a:latin typeface="Open Sans"/>
                <a:ea typeface="Open Sans"/>
                <a:cs typeface="Open Sans"/>
              </a:defRPr>
            </a:lvl8pPr>
            <a:lvl9pPr algn="ctr">
              <a:defRPr sz="2855" b="1">
                <a:solidFill>
                  <a:srgbClr val="FFFFFF"/>
                </a:solidFill>
                <a:latin typeface="Open Sans"/>
                <a:ea typeface="Open Sans"/>
                <a:cs typeface="Open Sans"/>
              </a:defRPr>
            </a:lvl9pPr>
          </a:lstStyle>
          <a:p>
            <a:pPr algn="ctr">
              <a:defRPr sz="2855" b="1">
                <a:solidFill>
                  <a:srgbClr val="FFFFFF"/>
                </a:solidFill>
                <a:latin typeface="Open Sans"/>
                <a:ea typeface="Open Sans"/>
                <a:cs typeface="Open Sans"/>
              </a:defRPr>
            </a:pPr>
            <a:r>
              <a:rPr sz="2855" b="1">
                <a:solidFill>
                  <a:srgbClr val="FFFFFF"/>
                </a:solidFill>
                <a:latin typeface="Open Sans"/>
                <a:ea typeface="Open Sans"/>
                <a:cs typeface="Open Sans"/>
              </a:rPr>
              <a:t>Dash</a:t>
            </a:r>
          </a:p>
        </p:txBody>
      </p:sp>
      <p:sp>
        <p:nvSpPr>
          <p:cNvPr id="11" name="saved-choice clean text 37">
            <a:extLst>
              <a:ext uri="{FF2B5EF4-FFF2-40B4-BE49-F238E27FC236}">
                <a16:creationId xmlns:a16="http://schemas.microsoft.com/office/drawing/2014/main" id="{E28DC42C-4A7A-46A8-911A-C819EC398A80}"/>
              </a:ext>
            </a:extLst>
          </p:cNvPr>
          <p:cNvSpPr>
            <a:spLocks noGrp="1"/>
          </p:cNvSpPr>
          <p:nvPr/>
        </p:nvSpPr>
        <p:spPr>
          <a:xfrm>
            <a:off x="2829014" y="6244632"/>
            <a:ext cx="1425000" cy="543818"/>
          </a:xfrm>
          <a:prstGeom prst="rect">
            <a:avLst/>
          </a:prstGeom>
          <a:noFill/>
          <a:ln w="0">
            <a:noFill/>
          </a:ln>
        </p:spPr>
        <p:txBody>
          <a:bodyPr wrap="none" lIns="0" tIns="0" rIns="0" bIns="0" anchor="t">
            <a:noAutofit/>
          </a:bodyPr>
          <a:lstStyle>
            <a:defPPr algn="ctr">
              <a:defRPr sz="2855" b="1">
                <a:solidFill>
                  <a:srgbClr val="FFFFFF"/>
                </a:solidFill>
                <a:latin typeface="Open Sans"/>
                <a:ea typeface="Open Sans"/>
                <a:cs typeface="Open Sans"/>
              </a:defRPr>
            </a:defPPr>
            <a:lvl1pPr algn="ctr">
              <a:defRPr sz="2855" b="1">
                <a:solidFill>
                  <a:srgbClr val="FFFFFF"/>
                </a:solidFill>
                <a:latin typeface="Open Sans"/>
                <a:ea typeface="Open Sans"/>
                <a:cs typeface="Open Sans"/>
              </a:defRPr>
            </a:lvl1pPr>
            <a:lvl2pPr algn="ctr">
              <a:defRPr sz="2855" b="1">
                <a:solidFill>
                  <a:srgbClr val="FFFFFF"/>
                </a:solidFill>
                <a:latin typeface="Open Sans"/>
                <a:ea typeface="Open Sans"/>
                <a:cs typeface="Open Sans"/>
              </a:defRPr>
            </a:lvl2pPr>
            <a:lvl3pPr algn="ctr">
              <a:defRPr sz="2855" b="1">
                <a:solidFill>
                  <a:srgbClr val="FFFFFF"/>
                </a:solidFill>
                <a:latin typeface="Open Sans"/>
                <a:ea typeface="Open Sans"/>
                <a:cs typeface="Open Sans"/>
              </a:defRPr>
            </a:lvl3pPr>
            <a:lvl4pPr algn="ctr">
              <a:defRPr sz="2855" b="1">
                <a:solidFill>
                  <a:srgbClr val="FFFFFF"/>
                </a:solidFill>
                <a:latin typeface="Open Sans"/>
                <a:ea typeface="Open Sans"/>
                <a:cs typeface="Open Sans"/>
              </a:defRPr>
            </a:lvl4pPr>
            <a:lvl5pPr algn="ctr">
              <a:defRPr sz="2855" b="1">
                <a:solidFill>
                  <a:srgbClr val="FFFFFF"/>
                </a:solidFill>
                <a:latin typeface="Open Sans"/>
                <a:ea typeface="Open Sans"/>
                <a:cs typeface="Open Sans"/>
              </a:defRPr>
            </a:lvl5pPr>
            <a:lvl6pPr algn="ctr">
              <a:defRPr sz="2855" b="1">
                <a:solidFill>
                  <a:srgbClr val="FFFFFF"/>
                </a:solidFill>
                <a:latin typeface="Open Sans"/>
                <a:ea typeface="Open Sans"/>
                <a:cs typeface="Open Sans"/>
              </a:defRPr>
            </a:lvl6pPr>
            <a:lvl7pPr algn="ctr">
              <a:defRPr sz="2855" b="1">
                <a:solidFill>
                  <a:srgbClr val="FFFFFF"/>
                </a:solidFill>
                <a:latin typeface="Open Sans"/>
                <a:ea typeface="Open Sans"/>
                <a:cs typeface="Open Sans"/>
              </a:defRPr>
            </a:lvl7pPr>
            <a:lvl8pPr algn="ctr">
              <a:defRPr sz="2855" b="1">
                <a:solidFill>
                  <a:srgbClr val="FFFFFF"/>
                </a:solidFill>
                <a:latin typeface="Open Sans"/>
                <a:ea typeface="Open Sans"/>
                <a:cs typeface="Open Sans"/>
              </a:defRPr>
            </a:lvl8pPr>
            <a:lvl9pPr algn="ctr">
              <a:defRPr sz="2855" b="1">
                <a:solidFill>
                  <a:srgbClr val="FFFFFF"/>
                </a:solidFill>
                <a:latin typeface="Open Sans"/>
                <a:ea typeface="Open Sans"/>
                <a:cs typeface="Open Sans"/>
              </a:defRPr>
            </a:lvl9pPr>
          </a:lstStyle>
          <a:p>
            <a:pPr algn="ctr">
              <a:defRPr sz="2855" b="1">
                <a:solidFill>
                  <a:srgbClr val="FFFFFF"/>
                </a:solidFill>
                <a:latin typeface="Open Sans"/>
                <a:ea typeface="Open Sans"/>
                <a:cs typeface="Open Sans"/>
              </a:defRPr>
            </a:pPr>
            <a:r>
              <a:rPr sz="2855" b="1">
                <a:solidFill>
                  <a:srgbClr val="FFFFFF"/>
                </a:solidFill>
                <a:latin typeface="Open Sans"/>
                <a:ea typeface="Open Sans"/>
                <a:cs typeface="Open Sans"/>
              </a:rPr>
              <a:t>Frost</a:t>
            </a:r>
          </a:p>
        </p:txBody>
      </p:sp>
      <p:sp>
        <p:nvSpPr>
          <p:cNvPr id="12" name="saved-choice clean text 38">
            <a:extLst>
              <a:ext uri="{FF2B5EF4-FFF2-40B4-BE49-F238E27FC236}">
                <a16:creationId xmlns:a16="http://schemas.microsoft.com/office/drawing/2014/main" id="{29ECF370-966C-4418-A293-1AF2E61ABC96}"/>
              </a:ext>
            </a:extLst>
          </p:cNvPr>
          <p:cNvSpPr>
            <a:spLocks noGrp="1"/>
          </p:cNvSpPr>
          <p:nvPr/>
        </p:nvSpPr>
        <p:spPr>
          <a:xfrm>
            <a:off x="2108597" y="7459161"/>
            <a:ext cx="4453090" cy="533395"/>
          </a:xfrm>
          <a:prstGeom prst="rect">
            <a:avLst/>
          </a:prstGeom>
          <a:noFill/>
          <a:ln w="0">
            <a:noFill/>
          </a:ln>
        </p:spPr>
        <p:txBody>
          <a:bodyPr wrap="none" lIns="0" tIns="0" rIns="0" bIns="0" anchor="t">
            <a:noAutofit/>
          </a:bodyPr>
          <a:lstStyle>
            <a:defPPr algn="l">
              <a:defRPr sz="2800" b="1">
                <a:solidFill>
                  <a:srgbClr val="FFFFFF"/>
                </a:solidFill>
                <a:latin typeface="Open Sans"/>
                <a:ea typeface="Open Sans"/>
                <a:cs typeface="Open Sans"/>
              </a:defRPr>
            </a:defPPr>
            <a:lvl1pPr algn="l">
              <a:defRPr sz="2800" b="1">
                <a:solidFill>
                  <a:srgbClr val="FFFFFF"/>
                </a:solidFill>
                <a:latin typeface="Open Sans"/>
                <a:ea typeface="Open Sans"/>
                <a:cs typeface="Open Sans"/>
              </a:defRPr>
            </a:lvl1pPr>
            <a:lvl2pPr algn="l">
              <a:defRPr sz="2800" b="1">
                <a:solidFill>
                  <a:srgbClr val="FFFFFF"/>
                </a:solidFill>
                <a:latin typeface="Open Sans"/>
                <a:ea typeface="Open Sans"/>
                <a:cs typeface="Open Sans"/>
              </a:defRPr>
            </a:lvl2pPr>
            <a:lvl3pPr algn="l">
              <a:defRPr sz="2800" b="1">
                <a:solidFill>
                  <a:srgbClr val="FFFFFF"/>
                </a:solidFill>
                <a:latin typeface="Open Sans"/>
                <a:ea typeface="Open Sans"/>
                <a:cs typeface="Open Sans"/>
              </a:defRPr>
            </a:lvl3pPr>
            <a:lvl4pPr algn="l">
              <a:defRPr sz="2800" b="1">
                <a:solidFill>
                  <a:srgbClr val="FFFFFF"/>
                </a:solidFill>
                <a:latin typeface="Open Sans"/>
                <a:ea typeface="Open Sans"/>
                <a:cs typeface="Open Sans"/>
              </a:defRPr>
            </a:lvl4pPr>
            <a:lvl5pPr algn="l">
              <a:defRPr sz="2800" b="1">
                <a:solidFill>
                  <a:srgbClr val="FFFFFF"/>
                </a:solidFill>
                <a:latin typeface="Open Sans"/>
                <a:ea typeface="Open Sans"/>
                <a:cs typeface="Open Sans"/>
              </a:defRPr>
            </a:lvl5pPr>
            <a:lvl6pPr algn="l">
              <a:defRPr sz="2800" b="1">
                <a:solidFill>
                  <a:srgbClr val="FFFFFF"/>
                </a:solidFill>
                <a:latin typeface="Open Sans"/>
                <a:ea typeface="Open Sans"/>
                <a:cs typeface="Open Sans"/>
              </a:defRPr>
            </a:lvl6pPr>
            <a:lvl7pPr algn="l">
              <a:defRPr sz="2800" b="1">
                <a:solidFill>
                  <a:srgbClr val="FFFFFF"/>
                </a:solidFill>
                <a:latin typeface="Open Sans"/>
                <a:ea typeface="Open Sans"/>
                <a:cs typeface="Open Sans"/>
              </a:defRPr>
            </a:lvl7pPr>
            <a:lvl8pPr algn="l">
              <a:defRPr sz="2800" b="1">
                <a:solidFill>
                  <a:srgbClr val="FFFFFF"/>
                </a:solidFill>
                <a:latin typeface="Open Sans"/>
                <a:ea typeface="Open Sans"/>
                <a:cs typeface="Open Sans"/>
              </a:defRPr>
            </a:lvl8pPr>
            <a:lvl9pPr algn="l">
              <a:defRPr sz="2800" b="1">
                <a:solidFill>
                  <a:srgbClr val="FFFFFF"/>
                </a:solidFill>
                <a:latin typeface="Open Sans"/>
                <a:ea typeface="Open Sans"/>
                <a:cs typeface="Open Sans"/>
              </a:defRPr>
            </a:lvl9pPr>
          </a:lstStyle>
          <a:p>
            <a:pPr algn="l">
              <a:defRPr sz="2800" b="1">
                <a:solidFill>
                  <a:srgbClr val="FFFFFF"/>
                </a:solidFill>
                <a:latin typeface="Open Sans"/>
                <a:ea typeface="Open Sans"/>
                <a:cs typeface="Open Sans"/>
              </a:defRPr>
            </a:pPr>
            <a:r>
              <a:rPr sz="2800" b="1">
                <a:solidFill>
                  <a:srgbClr val="FFFFFF"/>
                </a:solidFill>
                <a:latin typeface="Open Sans"/>
                <a:ea typeface="Open Sans"/>
                <a:cs typeface="Open Sans"/>
              </a:rPr>
              <a:t>Saved for next run</a:t>
            </a:r>
          </a:p>
        </p:txBody>
      </p:sp>
      <p:sp>
        <p:nvSpPr>
          <p:cNvPr id="13" name="saved-choice clean text 39">
            <a:extLst>
              <a:ext uri="{FF2B5EF4-FFF2-40B4-BE49-F238E27FC236}">
                <a16:creationId xmlns:a16="http://schemas.microsoft.com/office/drawing/2014/main" id="{EB4276E0-5030-4991-B56A-876B52175FD6}"/>
              </a:ext>
            </a:extLst>
          </p:cNvPr>
          <p:cNvSpPr>
            <a:spLocks noGrp="1"/>
          </p:cNvSpPr>
          <p:nvPr/>
        </p:nvSpPr>
        <p:spPr>
          <a:xfrm>
            <a:off x="8438626" y="4155680"/>
            <a:ext cx="1185720" cy="543818"/>
          </a:xfrm>
          <a:prstGeom prst="rect">
            <a:avLst/>
          </a:prstGeom>
          <a:noFill/>
          <a:ln w="0">
            <a:noFill/>
          </a:ln>
        </p:spPr>
        <p:txBody>
          <a:bodyPr wrap="none" lIns="0" tIns="0" rIns="0" bIns="0" anchor="t">
            <a:noAutofit/>
          </a:bodyPr>
          <a:lstStyle>
            <a:defPPr algn="ctr">
              <a:defRPr sz="2855" b="1">
                <a:solidFill>
                  <a:srgbClr val="FFFFFF"/>
                </a:solidFill>
                <a:latin typeface="Open Sans"/>
                <a:ea typeface="Open Sans"/>
                <a:cs typeface="Open Sans"/>
              </a:defRPr>
            </a:defPPr>
            <a:lvl1pPr algn="ctr">
              <a:defRPr sz="2855" b="1">
                <a:solidFill>
                  <a:srgbClr val="FFFFFF"/>
                </a:solidFill>
                <a:latin typeface="Open Sans"/>
                <a:ea typeface="Open Sans"/>
                <a:cs typeface="Open Sans"/>
              </a:defRPr>
            </a:lvl1pPr>
            <a:lvl2pPr algn="ctr">
              <a:defRPr sz="2855" b="1">
                <a:solidFill>
                  <a:srgbClr val="FFFFFF"/>
                </a:solidFill>
                <a:latin typeface="Open Sans"/>
                <a:ea typeface="Open Sans"/>
                <a:cs typeface="Open Sans"/>
              </a:defRPr>
            </a:lvl2pPr>
            <a:lvl3pPr algn="ctr">
              <a:defRPr sz="2855" b="1">
                <a:solidFill>
                  <a:srgbClr val="FFFFFF"/>
                </a:solidFill>
                <a:latin typeface="Open Sans"/>
                <a:ea typeface="Open Sans"/>
                <a:cs typeface="Open Sans"/>
              </a:defRPr>
            </a:lvl3pPr>
            <a:lvl4pPr algn="ctr">
              <a:defRPr sz="2855" b="1">
                <a:solidFill>
                  <a:srgbClr val="FFFFFF"/>
                </a:solidFill>
                <a:latin typeface="Open Sans"/>
                <a:ea typeface="Open Sans"/>
                <a:cs typeface="Open Sans"/>
              </a:defRPr>
            </a:lvl4pPr>
            <a:lvl5pPr algn="ctr">
              <a:defRPr sz="2855" b="1">
                <a:solidFill>
                  <a:srgbClr val="FFFFFF"/>
                </a:solidFill>
                <a:latin typeface="Open Sans"/>
                <a:ea typeface="Open Sans"/>
                <a:cs typeface="Open Sans"/>
              </a:defRPr>
            </a:lvl5pPr>
            <a:lvl6pPr algn="ctr">
              <a:defRPr sz="2855" b="1">
                <a:solidFill>
                  <a:srgbClr val="FFFFFF"/>
                </a:solidFill>
                <a:latin typeface="Open Sans"/>
                <a:ea typeface="Open Sans"/>
                <a:cs typeface="Open Sans"/>
              </a:defRPr>
            </a:lvl6pPr>
            <a:lvl7pPr algn="ctr">
              <a:defRPr sz="2855" b="1">
                <a:solidFill>
                  <a:srgbClr val="FFFFFF"/>
                </a:solidFill>
                <a:latin typeface="Open Sans"/>
                <a:ea typeface="Open Sans"/>
                <a:cs typeface="Open Sans"/>
              </a:defRPr>
            </a:lvl7pPr>
            <a:lvl8pPr algn="ctr">
              <a:defRPr sz="2855" b="1">
                <a:solidFill>
                  <a:srgbClr val="FFFFFF"/>
                </a:solidFill>
                <a:latin typeface="Open Sans"/>
                <a:ea typeface="Open Sans"/>
                <a:cs typeface="Open Sans"/>
              </a:defRPr>
            </a:lvl8pPr>
            <a:lvl9pPr algn="ctr">
              <a:defRPr sz="2855" b="1">
                <a:solidFill>
                  <a:srgbClr val="FFFFFF"/>
                </a:solidFill>
                <a:latin typeface="Open Sans"/>
                <a:ea typeface="Open Sans"/>
                <a:cs typeface="Open Sans"/>
              </a:defRPr>
            </a:lvl9pPr>
          </a:lstStyle>
          <a:p>
            <a:pPr algn="ctr">
              <a:defRPr sz="2855" b="1">
                <a:solidFill>
                  <a:srgbClr val="FFFFFF"/>
                </a:solidFill>
                <a:latin typeface="Open Sans"/>
                <a:ea typeface="Open Sans"/>
                <a:cs typeface="Open Sans"/>
              </a:defRPr>
            </a:pPr>
            <a:r>
              <a:rPr sz="2855" b="1">
                <a:solidFill>
                  <a:srgbClr val="FFFFFF"/>
                </a:solidFill>
                <a:latin typeface="Open Sans"/>
                <a:ea typeface="Open Sans"/>
                <a:cs typeface="Open Sans"/>
              </a:rPr>
              <a:t>Dash</a:t>
            </a:r>
          </a:p>
        </p:txBody>
      </p:sp>
      <p:sp>
        <p:nvSpPr>
          <p:cNvPr id="14" name="saved-choice clean text 40">
            <a:extLst>
              <a:ext uri="{FF2B5EF4-FFF2-40B4-BE49-F238E27FC236}">
                <a16:creationId xmlns:a16="http://schemas.microsoft.com/office/drawing/2014/main" id="{8F8132C1-C001-442A-90F9-093733D538AA}"/>
              </a:ext>
            </a:extLst>
          </p:cNvPr>
          <p:cNvSpPr>
            <a:spLocks noGrp="1"/>
          </p:cNvSpPr>
          <p:nvPr/>
        </p:nvSpPr>
        <p:spPr>
          <a:xfrm>
            <a:off x="8199346" y="6244632"/>
            <a:ext cx="1664279" cy="543818"/>
          </a:xfrm>
          <a:prstGeom prst="rect">
            <a:avLst/>
          </a:prstGeom>
          <a:noFill/>
          <a:ln w="0">
            <a:noFill/>
          </a:ln>
        </p:spPr>
        <p:txBody>
          <a:bodyPr wrap="none" lIns="0" tIns="0" rIns="0" bIns="0" anchor="t">
            <a:noAutofit/>
          </a:bodyPr>
          <a:lstStyle>
            <a:defPPr algn="ctr">
              <a:defRPr sz="2855" b="1">
                <a:solidFill>
                  <a:srgbClr val="FFFFFF"/>
                </a:solidFill>
                <a:latin typeface="Open Sans"/>
                <a:ea typeface="Open Sans"/>
                <a:cs typeface="Open Sans"/>
              </a:defRPr>
            </a:defPPr>
            <a:lvl1pPr algn="ctr">
              <a:defRPr sz="2855" b="1">
                <a:solidFill>
                  <a:srgbClr val="FFFFFF"/>
                </a:solidFill>
                <a:latin typeface="Open Sans"/>
                <a:ea typeface="Open Sans"/>
                <a:cs typeface="Open Sans"/>
              </a:defRPr>
            </a:lvl1pPr>
            <a:lvl2pPr algn="ctr">
              <a:defRPr sz="2855" b="1">
                <a:solidFill>
                  <a:srgbClr val="FFFFFF"/>
                </a:solidFill>
                <a:latin typeface="Open Sans"/>
                <a:ea typeface="Open Sans"/>
                <a:cs typeface="Open Sans"/>
              </a:defRPr>
            </a:lvl2pPr>
            <a:lvl3pPr algn="ctr">
              <a:defRPr sz="2855" b="1">
                <a:solidFill>
                  <a:srgbClr val="FFFFFF"/>
                </a:solidFill>
                <a:latin typeface="Open Sans"/>
                <a:ea typeface="Open Sans"/>
                <a:cs typeface="Open Sans"/>
              </a:defRPr>
            </a:lvl3pPr>
            <a:lvl4pPr algn="ctr">
              <a:defRPr sz="2855" b="1">
                <a:solidFill>
                  <a:srgbClr val="FFFFFF"/>
                </a:solidFill>
                <a:latin typeface="Open Sans"/>
                <a:ea typeface="Open Sans"/>
                <a:cs typeface="Open Sans"/>
              </a:defRPr>
            </a:lvl4pPr>
            <a:lvl5pPr algn="ctr">
              <a:defRPr sz="2855" b="1">
                <a:solidFill>
                  <a:srgbClr val="FFFFFF"/>
                </a:solidFill>
                <a:latin typeface="Open Sans"/>
                <a:ea typeface="Open Sans"/>
                <a:cs typeface="Open Sans"/>
              </a:defRPr>
            </a:lvl5pPr>
            <a:lvl6pPr algn="ctr">
              <a:defRPr sz="2855" b="1">
                <a:solidFill>
                  <a:srgbClr val="FFFFFF"/>
                </a:solidFill>
                <a:latin typeface="Open Sans"/>
                <a:ea typeface="Open Sans"/>
                <a:cs typeface="Open Sans"/>
              </a:defRPr>
            </a:lvl6pPr>
            <a:lvl7pPr algn="ctr">
              <a:defRPr sz="2855" b="1">
                <a:solidFill>
                  <a:srgbClr val="FFFFFF"/>
                </a:solidFill>
                <a:latin typeface="Open Sans"/>
                <a:ea typeface="Open Sans"/>
                <a:cs typeface="Open Sans"/>
              </a:defRPr>
            </a:lvl7pPr>
            <a:lvl8pPr algn="ctr">
              <a:defRPr sz="2855" b="1">
                <a:solidFill>
                  <a:srgbClr val="FFFFFF"/>
                </a:solidFill>
                <a:latin typeface="Open Sans"/>
                <a:ea typeface="Open Sans"/>
                <a:cs typeface="Open Sans"/>
              </a:defRPr>
            </a:lvl8pPr>
            <a:lvl9pPr algn="ctr">
              <a:defRPr sz="2855" b="1">
                <a:solidFill>
                  <a:srgbClr val="FFFFFF"/>
                </a:solidFill>
                <a:latin typeface="Open Sans"/>
                <a:ea typeface="Open Sans"/>
                <a:cs typeface="Open Sans"/>
              </a:defRPr>
            </a:lvl9pPr>
          </a:lstStyle>
          <a:p>
            <a:pPr algn="ctr">
              <a:defRPr sz="2855" b="1">
                <a:solidFill>
                  <a:srgbClr val="FFFFFF"/>
                </a:solidFill>
                <a:latin typeface="Open Sans"/>
                <a:ea typeface="Open Sans"/>
                <a:cs typeface="Open Sans"/>
              </a:defRPr>
            </a:pPr>
            <a:r>
              <a:rPr sz="2855" b="1">
                <a:solidFill>
                  <a:srgbClr val="FFFFFF"/>
                </a:solidFill>
                <a:latin typeface="Open Sans"/>
                <a:ea typeface="Open Sans"/>
                <a:cs typeface="Open Sans"/>
              </a:rPr>
              <a:t>Shield</a:t>
            </a:r>
          </a:p>
        </p:txBody>
      </p:sp>
      <p:pic>
        <p:nvPicPr>
          <p:cNvPr id="15" name="saved-choice reveal image" descr="saved-choice reveal image">
            <a:extLst>
              <a:ext uri="{FF2B5EF4-FFF2-40B4-BE49-F238E27FC236}">
                <a16:creationId xmlns:a16="http://schemas.microsoft.com/office/drawing/2014/main" id="{B9C8EC14-9E5C-4529-9E34-C0834024614D}"/>
              </a:ext>
            </a:extLst>
          </p:cNvPr>
          <p:cNvPicPr>
            <a:picLocks noChangeAspect="1"/>
          </p:cNvPicPr>
          <p:nvPr/>
        </p:nvPicPr>
        <p:blipFill>
          <a:blip r:embed="rId6"/>
          <a:stretch/>
        </p:blipFill>
        <p:spPr>
          <a:xfrm>
            <a:off x="762000" y="2667000"/>
            <a:ext cx="11049000" cy="6215063"/>
          </a:xfrm>
          <a:prstGeom prst="rect">
            <a:avLst/>
          </a:prstGeom>
        </p:spPr>
      </p:pic>
      <p:sp>
        <p:nvSpPr>
          <p:cNvPr id="16" name="saved-choice reveal text 41">
            <a:extLst>
              <a:ext uri="{FF2B5EF4-FFF2-40B4-BE49-F238E27FC236}">
                <a16:creationId xmlns:a16="http://schemas.microsoft.com/office/drawing/2014/main" id="{85EFC72A-3674-4DEE-A655-1FCFE555DA10}"/>
              </a:ext>
            </a:extLst>
          </p:cNvPr>
          <p:cNvSpPr>
            <a:spLocks noGrp="1"/>
          </p:cNvSpPr>
          <p:nvPr/>
        </p:nvSpPr>
        <p:spPr>
          <a:xfrm>
            <a:off x="2488438" y="2875553"/>
            <a:ext cx="2106151"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1  SAVED</a:t>
            </a:r>
          </a:p>
        </p:txBody>
      </p:sp>
      <p:sp>
        <p:nvSpPr>
          <p:cNvPr id="17" name="saved-choice reveal text 42">
            <a:extLst>
              <a:ext uri="{FF2B5EF4-FFF2-40B4-BE49-F238E27FC236}">
                <a16:creationId xmlns:a16="http://schemas.microsoft.com/office/drawing/2014/main" id="{7F390763-BCD5-4671-ACDA-7CB5AE8F8182}"/>
              </a:ext>
            </a:extLst>
          </p:cNvPr>
          <p:cNvSpPr>
            <a:spLocks noGrp="1"/>
          </p:cNvSpPr>
          <p:nvPr/>
        </p:nvSpPr>
        <p:spPr>
          <a:xfrm>
            <a:off x="7626369" y="2875553"/>
            <a:ext cx="2810233"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2  NEXT RUN</a:t>
            </a:r>
          </a:p>
        </p:txBody>
      </p:sp>
      <p:sp>
        <p:nvSpPr>
          <p:cNvPr id="18" name="saved-choice reveal text 43">
            <a:extLst>
              <a:ext uri="{FF2B5EF4-FFF2-40B4-BE49-F238E27FC236}">
                <a16:creationId xmlns:a16="http://schemas.microsoft.com/office/drawing/2014/main" id="{EF754160-51A0-4C81-92F9-59D5081CCA0F}"/>
              </a:ext>
            </a:extLst>
          </p:cNvPr>
          <p:cNvSpPr>
            <a:spLocks noGrp="1"/>
          </p:cNvSpPr>
          <p:nvPr/>
        </p:nvSpPr>
        <p:spPr>
          <a:xfrm>
            <a:off x="2948654" y="4155680"/>
            <a:ext cx="1185720" cy="543818"/>
          </a:xfrm>
          <a:prstGeom prst="rect">
            <a:avLst/>
          </a:prstGeom>
          <a:noFill/>
          <a:ln w="0">
            <a:noFill/>
          </a:ln>
        </p:spPr>
        <p:txBody>
          <a:bodyPr wrap="none" lIns="0" tIns="0" rIns="0" bIns="0" anchor="t">
            <a:noAutofit/>
          </a:bodyPr>
          <a:lstStyle>
            <a:defPPr algn="ctr">
              <a:defRPr sz="2855" b="1">
                <a:solidFill>
                  <a:srgbClr val="FFFFFF"/>
                </a:solidFill>
                <a:latin typeface="Open Sans"/>
                <a:ea typeface="Open Sans"/>
                <a:cs typeface="Open Sans"/>
              </a:defRPr>
            </a:defPPr>
            <a:lvl1pPr algn="ctr">
              <a:defRPr sz="2855" b="1">
                <a:solidFill>
                  <a:srgbClr val="FFFFFF"/>
                </a:solidFill>
                <a:latin typeface="Open Sans"/>
                <a:ea typeface="Open Sans"/>
                <a:cs typeface="Open Sans"/>
              </a:defRPr>
            </a:lvl1pPr>
            <a:lvl2pPr algn="ctr">
              <a:defRPr sz="2855" b="1">
                <a:solidFill>
                  <a:srgbClr val="FFFFFF"/>
                </a:solidFill>
                <a:latin typeface="Open Sans"/>
                <a:ea typeface="Open Sans"/>
                <a:cs typeface="Open Sans"/>
              </a:defRPr>
            </a:lvl2pPr>
            <a:lvl3pPr algn="ctr">
              <a:defRPr sz="2855" b="1">
                <a:solidFill>
                  <a:srgbClr val="FFFFFF"/>
                </a:solidFill>
                <a:latin typeface="Open Sans"/>
                <a:ea typeface="Open Sans"/>
                <a:cs typeface="Open Sans"/>
              </a:defRPr>
            </a:lvl3pPr>
            <a:lvl4pPr algn="ctr">
              <a:defRPr sz="2855" b="1">
                <a:solidFill>
                  <a:srgbClr val="FFFFFF"/>
                </a:solidFill>
                <a:latin typeface="Open Sans"/>
                <a:ea typeface="Open Sans"/>
                <a:cs typeface="Open Sans"/>
              </a:defRPr>
            </a:lvl4pPr>
            <a:lvl5pPr algn="ctr">
              <a:defRPr sz="2855" b="1">
                <a:solidFill>
                  <a:srgbClr val="FFFFFF"/>
                </a:solidFill>
                <a:latin typeface="Open Sans"/>
                <a:ea typeface="Open Sans"/>
                <a:cs typeface="Open Sans"/>
              </a:defRPr>
            </a:lvl5pPr>
            <a:lvl6pPr algn="ctr">
              <a:defRPr sz="2855" b="1">
                <a:solidFill>
                  <a:srgbClr val="FFFFFF"/>
                </a:solidFill>
                <a:latin typeface="Open Sans"/>
                <a:ea typeface="Open Sans"/>
                <a:cs typeface="Open Sans"/>
              </a:defRPr>
            </a:lvl6pPr>
            <a:lvl7pPr algn="ctr">
              <a:defRPr sz="2855" b="1">
                <a:solidFill>
                  <a:srgbClr val="FFFFFF"/>
                </a:solidFill>
                <a:latin typeface="Open Sans"/>
                <a:ea typeface="Open Sans"/>
                <a:cs typeface="Open Sans"/>
              </a:defRPr>
            </a:lvl7pPr>
            <a:lvl8pPr algn="ctr">
              <a:defRPr sz="2855" b="1">
                <a:solidFill>
                  <a:srgbClr val="FFFFFF"/>
                </a:solidFill>
                <a:latin typeface="Open Sans"/>
                <a:ea typeface="Open Sans"/>
                <a:cs typeface="Open Sans"/>
              </a:defRPr>
            </a:lvl8pPr>
            <a:lvl9pPr algn="ctr">
              <a:defRPr sz="2855" b="1">
                <a:solidFill>
                  <a:srgbClr val="FFFFFF"/>
                </a:solidFill>
                <a:latin typeface="Open Sans"/>
                <a:ea typeface="Open Sans"/>
                <a:cs typeface="Open Sans"/>
              </a:defRPr>
            </a:lvl9pPr>
          </a:lstStyle>
          <a:p>
            <a:pPr algn="ctr">
              <a:defRPr sz="2855" b="1">
                <a:solidFill>
                  <a:srgbClr val="FFFFFF"/>
                </a:solidFill>
                <a:latin typeface="Open Sans"/>
                <a:ea typeface="Open Sans"/>
                <a:cs typeface="Open Sans"/>
              </a:defRPr>
            </a:pPr>
            <a:r>
              <a:rPr sz="2855" b="1">
                <a:solidFill>
                  <a:srgbClr val="FFFFFF"/>
                </a:solidFill>
                <a:latin typeface="Open Sans"/>
                <a:ea typeface="Open Sans"/>
                <a:cs typeface="Open Sans"/>
              </a:rPr>
              <a:t>Dash</a:t>
            </a:r>
          </a:p>
        </p:txBody>
      </p:sp>
      <p:sp>
        <p:nvSpPr>
          <p:cNvPr id="19" name="saved-choice reveal text 44">
            <a:extLst>
              <a:ext uri="{FF2B5EF4-FFF2-40B4-BE49-F238E27FC236}">
                <a16:creationId xmlns:a16="http://schemas.microsoft.com/office/drawing/2014/main" id="{5B98DE06-231C-4C58-9EA8-EE1D1FF48380}"/>
              </a:ext>
            </a:extLst>
          </p:cNvPr>
          <p:cNvSpPr>
            <a:spLocks noGrp="1"/>
          </p:cNvSpPr>
          <p:nvPr/>
        </p:nvSpPr>
        <p:spPr>
          <a:xfrm>
            <a:off x="2829014" y="6244632"/>
            <a:ext cx="1425000" cy="543818"/>
          </a:xfrm>
          <a:prstGeom prst="rect">
            <a:avLst/>
          </a:prstGeom>
          <a:noFill/>
          <a:ln w="0">
            <a:noFill/>
          </a:ln>
        </p:spPr>
        <p:txBody>
          <a:bodyPr wrap="none" lIns="0" tIns="0" rIns="0" bIns="0" anchor="t">
            <a:noAutofit/>
          </a:bodyPr>
          <a:lstStyle>
            <a:defPPr algn="ctr">
              <a:defRPr sz="2855" b="1">
                <a:solidFill>
                  <a:srgbClr val="FFFFFF"/>
                </a:solidFill>
                <a:latin typeface="Open Sans"/>
                <a:ea typeface="Open Sans"/>
                <a:cs typeface="Open Sans"/>
              </a:defRPr>
            </a:defPPr>
            <a:lvl1pPr algn="ctr">
              <a:defRPr sz="2855" b="1">
                <a:solidFill>
                  <a:srgbClr val="FFFFFF"/>
                </a:solidFill>
                <a:latin typeface="Open Sans"/>
                <a:ea typeface="Open Sans"/>
                <a:cs typeface="Open Sans"/>
              </a:defRPr>
            </a:lvl1pPr>
            <a:lvl2pPr algn="ctr">
              <a:defRPr sz="2855" b="1">
                <a:solidFill>
                  <a:srgbClr val="FFFFFF"/>
                </a:solidFill>
                <a:latin typeface="Open Sans"/>
                <a:ea typeface="Open Sans"/>
                <a:cs typeface="Open Sans"/>
              </a:defRPr>
            </a:lvl2pPr>
            <a:lvl3pPr algn="ctr">
              <a:defRPr sz="2855" b="1">
                <a:solidFill>
                  <a:srgbClr val="FFFFFF"/>
                </a:solidFill>
                <a:latin typeface="Open Sans"/>
                <a:ea typeface="Open Sans"/>
                <a:cs typeface="Open Sans"/>
              </a:defRPr>
            </a:lvl3pPr>
            <a:lvl4pPr algn="ctr">
              <a:defRPr sz="2855" b="1">
                <a:solidFill>
                  <a:srgbClr val="FFFFFF"/>
                </a:solidFill>
                <a:latin typeface="Open Sans"/>
                <a:ea typeface="Open Sans"/>
                <a:cs typeface="Open Sans"/>
              </a:defRPr>
            </a:lvl4pPr>
            <a:lvl5pPr algn="ctr">
              <a:defRPr sz="2855" b="1">
                <a:solidFill>
                  <a:srgbClr val="FFFFFF"/>
                </a:solidFill>
                <a:latin typeface="Open Sans"/>
                <a:ea typeface="Open Sans"/>
                <a:cs typeface="Open Sans"/>
              </a:defRPr>
            </a:lvl5pPr>
            <a:lvl6pPr algn="ctr">
              <a:defRPr sz="2855" b="1">
                <a:solidFill>
                  <a:srgbClr val="FFFFFF"/>
                </a:solidFill>
                <a:latin typeface="Open Sans"/>
                <a:ea typeface="Open Sans"/>
                <a:cs typeface="Open Sans"/>
              </a:defRPr>
            </a:lvl6pPr>
            <a:lvl7pPr algn="ctr">
              <a:defRPr sz="2855" b="1">
                <a:solidFill>
                  <a:srgbClr val="FFFFFF"/>
                </a:solidFill>
                <a:latin typeface="Open Sans"/>
                <a:ea typeface="Open Sans"/>
                <a:cs typeface="Open Sans"/>
              </a:defRPr>
            </a:lvl7pPr>
            <a:lvl8pPr algn="ctr">
              <a:defRPr sz="2855" b="1">
                <a:solidFill>
                  <a:srgbClr val="FFFFFF"/>
                </a:solidFill>
                <a:latin typeface="Open Sans"/>
                <a:ea typeface="Open Sans"/>
                <a:cs typeface="Open Sans"/>
              </a:defRPr>
            </a:lvl8pPr>
            <a:lvl9pPr algn="ctr">
              <a:defRPr sz="2855" b="1">
                <a:solidFill>
                  <a:srgbClr val="FFFFFF"/>
                </a:solidFill>
                <a:latin typeface="Open Sans"/>
                <a:ea typeface="Open Sans"/>
                <a:cs typeface="Open Sans"/>
              </a:defRPr>
            </a:lvl9pPr>
          </a:lstStyle>
          <a:p>
            <a:pPr algn="ctr">
              <a:defRPr sz="2855" b="1">
                <a:solidFill>
                  <a:srgbClr val="FFFFFF"/>
                </a:solidFill>
                <a:latin typeface="Open Sans"/>
                <a:ea typeface="Open Sans"/>
                <a:cs typeface="Open Sans"/>
              </a:defRPr>
            </a:pPr>
            <a:r>
              <a:rPr sz="2855" b="1">
                <a:solidFill>
                  <a:srgbClr val="FFFFFF"/>
                </a:solidFill>
                <a:latin typeface="Open Sans"/>
                <a:ea typeface="Open Sans"/>
                <a:cs typeface="Open Sans"/>
              </a:rPr>
              <a:t>Frost</a:t>
            </a:r>
          </a:p>
        </p:txBody>
      </p:sp>
      <p:sp>
        <p:nvSpPr>
          <p:cNvPr id="20" name="saved-choice reveal text 45">
            <a:extLst>
              <a:ext uri="{FF2B5EF4-FFF2-40B4-BE49-F238E27FC236}">
                <a16:creationId xmlns:a16="http://schemas.microsoft.com/office/drawing/2014/main" id="{75C9C486-26A7-467E-9752-4A409C149DC1}"/>
              </a:ext>
            </a:extLst>
          </p:cNvPr>
          <p:cNvSpPr>
            <a:spLocks noGrp="1"/>
          </p:cNvSpPr>
          <p:nvPr/>
        </p:nvSpPr>
        <p:spPr>
          <a:xfrm>
            <a:off x="2108597" y="7459161"/>
            <a:ext cx="4453090" cy="533395"/>
          </a:xfrm>
          <a:prstGeom prst="rect">
            <a:avLst/>
          </a:prstGeom>
          <a:noFill/>
          <a:ln w="0">
            <a:noFill/>
          </a:ln>
        </p:spPr>
        <p:txBody>
          <a:bodyPr wrap="none" lIns="0" tIns="0" rIns="0" bIns="0" anchor="t">
            <a:noAutofit/>
          </a:bodyPr>
          <a:lstStyle>
            <a:defPPr algn="l">
              <a:defRPr sz="2800" b="1">
                <a:solidFill>
                  <a:srgbClr val="FFFFFF"/>
                </a:solidFill>
                <a:latin typeface="Open Sans"/>
                <a:ea typeface="Open Sans"/>
                <a:cs typeface="Open Sans"/>
              </a:defRPr>
            </a:defPPr>
            <a:lvl1pPr algn="l">
              <a:defRPr sz="2800" b="1">
                <a:solidFill>
                  <a:srgbClr val="FFFFFF"/>
                </a:solidFill>
                <a:latin typeface="Open Sans"/>
                <a:ea typeface="Open Sans"/>
                <a:cs typeface="Open Sans"/>
              </a:defRPr>
            </a:lvl1pPr>
            <a:lvl2pPr algn="l">
              <a:defRPr sz="2800" b="1">
                <a:solidFill>
                  <a:srgbClr val="FFFFFF"/>
                </a:solidFill>
                <a:latin typeface="Open Sans"/>
                <a:ea typeface="Open Sans"/>
                <a:cs typeface="Open Sans"/>
              </a:defRPr>
            </a:lvl2pPr>
            <a:lvl3pPr algn="l">
              <a:defRPr sz="2800" b="1">
                <a:solidFill>
                  <a:srgbClr val="FFFFFF"/>
                </a:solidFill>
                <a:latin typeface="Open Sans"/>
                <a:ea typeface="Open Sans"/>
                <a:cs typeface="Open Sans"/>
              </a:defRPr>
            </a:lvl3pPr>
            <a:lvl4pPr algn="l">
              <a:defRPr sz="2800" b="1">
                <a:solidFill>
                  <a:srgbClr val="FFFFFF"/>
                </a:solidFill>
                <a:latin typeface="Open Sans"/>
                <a:ea typeface="Open Sans"/>
                <a:cs typeface="Open Sans"/>
              </a:defRPr>
            </a:lvl4pPr>
            <a:lvl5pPr algn="l">
              <a:defRPr sz="2800" b="1">
                <a:solidFill>
                  <a:srgbClr val="FFFFFF"/>
                </a:solidFill>
                <a:latin typeface="Open Sans"/>
                <a:ea typeface="Open Sans"/>
                <a:cs typeface="Open Sans"/>
              </a:defRPr>
            </a:lvl5pPr>
            <a:lvl6pPr algn="l">
              <a:defRPr sz="2800" b="1">
                <a:solidFill>
                  <a:srgbClr val="FFFFFF"/>
                </a:solidFill>
                <a:latin typeface="Open Sans"/>
                <a:ea typeface="Open Sans"/>
                <a:cs typeface="Open Sans"/>
              </a:defRPr>
            </a:lvl6pPr>
            <a:lvl7pPr algn="l">
              <a:defRPr sz="2800" b="1">
                <a:solidFill>
                  <a:srgbClr val="FFFFFF"/>
                </a:solidFill>
                <a:latin typeface="Open Sans"/>
                <a:ea typeface="Open Sans"/>
                <a:cs typeface="Open Sans"/>
              </a:defRPr>
            </a:lvl7pPr>
            <a:lvl8pPr algn="l">
              <a:defRPr sz="2800" b="1">
                <a:solidFill>
                  <a:srgbClr val="FFFFFF"/>
                </a:solidFill>
                <a:latin typeface="Open Sans"/>
                <a:ea typeface="Open Sans"/>
                <a:cs typeface="Open Sans"/>
              </a:defRPr>
            </a:lvl8pPr>
            <a:lvl9pPr algn="l">
              <a:defRPr sz="2800" b="1">
                <a:solidFill>
                  <a:srgbClr val="FFFFFF"/>
                </a:solidFill>
                <a:latin typeface="Open Sans"/>
                <a:ea typeface="Open Sans"/>
                <a:cs typeface="Open Sans"/>
              </a:defRPr>
            </a:lvl9pPr>
          </a:lstStyle>
          <a:p>
            <a:pPr algn="l">
              <a:defRPr sz="2800" b="1">
                <a:solidFill>
                  <a:srgbClr val="FFFFFF"/>
                </a:solidFill>
                <a:latin typeface="Open Sans"/>
                <a:ea typeface="Open Sans"/>
                <a:cs typeface="Open Sans"/>
              </a:defRPr>
            </a:pPr>
            <a:r>
              <a:rPr sz="2800" b="1">
                <a:solidFill>
                  <a:srgbClr val="FFFFFF"/>
                </a:solidFill>
                <a:latin typeface="Open Sans"/>
                <a:ea typeface="Open Sans"/>
                <a:cs typeface="Open Sans"/>
              </a:rPr>
              <a:t>Saved for next run</a:t>
            </a:r>
          </a:p>
        </p:txBody>
      </p:sp>
      <p:sp>
        <p:nvSpPr>
          <p:cNvPr id="21" name="saved-choice reveal text 46">
            <a:extLst>
              <a:ext uri="{FF2B5EF4-FFF2-40B4-BE49-F238E27FC236}">
                <a16:creationId xmlns:a16="http://schemas.microsoft.com/office/drawing/2014/main" id="{33C2334B-040F-47E6-96FF-BB60F6C8FD1D}"/>
              </a:ext>
            </a:extLst>
          </p:cNvPr>
          <p:cNvSpPr>
            <a:spLocks noGrp="1"/>
          </p:cNvSpPr>
          <p:nvPr/>
        </p:nvSpPr>
        <p:spPr>
          <a:xfrm>
            <a:off x="8438626" y="4155680"/>
            <a:ext cx="1185720" cy="543818"/>
          </a:xfrm>
          <a:prstGeom prst="rect">
            <a:avLst/>
          </a:prstGeom>
          <a:noFill/>
          <a:ln w="0">
            <a:noFill/>
          </a:ln>
        </p:spPr>
        <p:txBody>
          <a:bodyPr wrap="none" lIns="0" tIns="0" rIns="0" bIns="0" anchor="t">
            <a:noAutofit/>
          </a:bodyPr>
          <a:lstStyle>
            <a:defPPr algn="ctr">
              <a:defRPr sz="2855" b="1">
                <a:solidFill>
                  <a:srgbClr val="FFFFFF"/>
                </a:solidFill>
                <a:latin typeface="Open Sans"/>
                <a:ea typeface="Open Sans"/>
                <a:cs typeface="Open Sans"/>
              </a:defRPr>
            </a:defPPr>
            <a:lvl1pPr algn="ctr">
              <a:defRPr sz="2855" b="1">
                <a:solidFill>
                  <a:srgbClr val="FFFFFF"/>
                </a:solidFill>
                <a:latin typeface="Open Sans"/>
                <a:ea typeface="Open Sans"/>
                <a:cs typeface="Open Sans"/>
              </a:defRPr>
            </a:lvl1pPr>
            <a:lvl2pPr algn="ctr">
              <a:defRPr sz="2855" b="1">
                <a:solidFill>
                  <a:srgbClr val="FFFFFF"/>
                </a:solidFill>
                <a:latin typeface="Open Sans"/>
                <a:ea typeface="Open Sans"/>
                <a:cs typeface="Open Sans"/>
              </a:defRPr>
            </a:lvl2pPr>
            <a:lvl3pPr algn="ctr">
              <a:defRPr sz="2855" b="1">
                <a:solidFill>
                  <a:srgbClr val="FFFFFF"/>
                </a:solidFill>
                <a:latin typeface="Open Sans"/>
                <a:ea typeface="Open Sans"/>
                <a:cs typeface="Open Sans"/>
              </a:defRPr>
            </a:lvl3pPr>
            <a:lvl4pPr algn="ctr">
              <a:defRPr sz="2855" b="1">
                <a:solidFill>
                  <a:srgbClr val="FFFFFF"/>
                </a:solidFill>
                <a:latin typeface="Open Sans"/>
                <a:ea typeface="Open Sans"/>
                <a:cs typeface="Open Sans"/>
              </a:defRPr>
            </a:lvl4pPr>
            <a:lvl5pPr algn="ctr">
              <a:defRPr sz="2855" b="1">
                <a:solidFill>
                  <a:srgbClr val="FFFFFF"/>
                </a:solidFill>
                <a:latin typeface="Open Sans"/>
                <a:ea typeface="Open Sans"/>
                <a:cs typeface="Open Sans"/>
              </a:defRPr>
            </a:lvl5pPr>
            <a:lvl6pPr algn="ctr">
              <a:defRPr sz="2855" b="1">
                <a:solidFill>
                  <a:srgbClr val="FFFFFF"/>
                </a:solidFill>
                <a:latin typeface="Open Sans"/>
                <a:ea typeface="Open Sans"/>
                <a:cs typeface="Open Sans"/>
              </a:defRPr>
            </a:lvl6pPr>
            <a:lvl7pPr algn="ctr">
              <a:defRPr sz="2855" b="1">
                <a:solidFill>
                  <a:srgbClr val="FFFFFF"/>
                </a:solidFill>
                <a:latin typeface="Open Sans"/>
                <a:ea typeface="Open Sans"/>
                <a:cs typeface="Open Sans"/>
              </a:defRPr>
            </a:lvl7pPr>
            <a:lvl8pPr algn="ctr">
              <a:defRPr sz="2855" b="1">
                <a:solidFill>
                  <a:srgbClr val="FFFFFF"/>
                </a:solidFill>
                <a:latin typeface="Open Sans"/>
                <a:ea typeface="Open Sans"/>
                <a:cs typeface="Open Sans"/>
              </a:defRPr>
            </a:lvl8pPr>
            <a:lvl9pPr algn="ctr">
              <a:defRPr sz="2855" b="1">
                <a:solidFill>
                  <a:srgbClr val="FFFFFF"/>
                </a:solidFill>
                <a:latin typeface="Open Sans"/>
                <a:ea typeface="Open Sans"/>
                <a:cs typeface="Open Sans"/>
              </a:defRPr>
            </a:lvl9pPr>
          </a:lstStyle>
          <a:p>
            <a:pPr algn="ctr">
              <a:defRPr sz="2855" b="1">
                <a:solidFill>
                  <a:srgbClr val="FFFFFF"/>
                </a:solidFill>
                <a:latin typeface="Open Sans"/>
                <a:ea typeface="Open Sans"/>
                <a:cs typeface="Open Sans"/>
              </a:defRPr>
            </a:pPr>
            <a:r>
              <a:rPr sz="2855" b="1">
                <a:solidFill>
                  <a:srgbClr val="FFFFFF"/>
                </a:solidFill>
                <a:latin typeface="Open Sans"/>
                <a:ea typeface="Open Sans"/>
                <a:cs typeface="Open Sans"/>
              </a:rPr>
              <a:t>Dash</a:t>
            </a:r>
          </a:p>
        </p:txBody>
      </p:sp>
      <p:sp>
        <p:nvSpPr>
          <p:cNvPr id="22" name="saved-choice reveal text 47">
            <a:extLst>
              <a:ext uri="{FF2B5EF4-FFF2-40B4-BE49-F238E27FC236}">
                <a16:creationId xmlns:a16="http://schemas.microsoft.com/office/drawing/2014/main" id="{F3A3AB26-49B4-478B-B83D-731A250F5856}"/>
              </a:ext>
            </a:extLst>
          </p:cNvPr>
          <p:cNvSpPr>
            <a:spLocks noGrp="1"/>
          </p:cNvSpPr>
          <p:nvPr/>
        </p:nvSpPr>
        <p:spPr>
          <a:xfrm>
            <a:off x="8318986" y="6244632"/>
            <a:ext cx="1425000" cy="543818"/>
          </a:xfrm>
          <a:prstGeom prst="rect">
            <a:avLst/>
          </a:prstGeom>
          <a:noFill/>
          <a:ln w="0">
            <a:noFill/>
          </a:ln>
        </p:spPr>
        <p:txBody>
          <a:bodyPr wrap="none" lIns="0" tIns="0" rIns="0" bIns="0" anchor="t">
            <a:noAutofit/>
          </a:bodyPr>
          <a:lstStyle>
            <a:defPPr algn="ctr">
              <a:defRPr sz="2855" b="1">
                <a:solidFill>
                  <a:srgbClr val="FFFFFF"/>
                </a:solidFill>
                <a:latin typeface="Open Sans"/>
                <a:ea typeface="Open Sans"/>
                <a:cs typeface="Open Sans"/>
              </a:defRPr>
            </a:defPPr>
            <a:lvl1pPr algn="ctr">
              <a:defRPr sz="2855" b="1">
                <a:solidFill>
                  <a:srgbClr val="FFFFFF"/>
                </a:solidFill>
                <a:latin typeface="Open Sans"/>
                <a:ea typeface="Open Sans"/>
                <a:cs typeface="Open Sans"/>
              </a:defRPr>
            </a:lvl1pPr>
            <a:lvl2pPr algn="ctr">
              <a:defRPr sz="2855" b="1">
                <a:solidFill>
                  <a:srgbClr val="FFFFFF"/>
                </a:solidFill>
                <a:latin typeface="Open Sans"/>
                <a:ea typeface="Open Sans"/>
                <a:cs typeface="Open Sans"/>
              </a:defRPr>
            </a:lvl2pPr>
            <a:lvl3pPr algn="ctr">
              <a:defRPr sz="2855" b="1">
                <a:solidFill>
                  <a:srgbClr val="FFFFFF"/>
                </a:solidFill>
                <a:latin typeface="Open Sans"/>
                <a:ea typeface="Open Sans"/>
                <a:cs typeface="Open Sans"/>
              </a:defRPr>
            </a:lvl3pPr>
            <a:lvl4pPr algn="ctr">
              <a:defRPr sz="2855" b="1">
                <a:solidFill>
                  <a:srgbClr val="FFFFFF"/>
                </a:solidFill>
                <a:latin typeface="Open Sans"/>
                <a:ea typeface="Open Sans"/>
                <a:cs typeface="Open Sans"/>
              </a:defRPr>
            </a:lvl4pPr>
            <a:lvl5pPr algn="ctr">
              <a:defRPr sz="2855" b="1">
                <a:solidFill>
                  <a:srgbClr val="FFFFFF"/>
                </a:solidFill>
                <a:latin typeface="Open Sans"/>
                <a:ea typeface="Open Sans"/>
                <a:cs typeface="Open Sans"/>
              </a:defRPr>
            </a:lvl5pPr>
            <a:lvl6pPr algn="ctr">
              <a:defRPr sz="2855" b="1">
                <a:solidFill>
                  <a:srgbClr val="FFFFFF"/>
                </a:solidFill>
                <a:latin typeface="Open Sans"/>
                <a:ea typeface="Open Sans"/>
                <a:cs typeface="Open Sans"/>
              </a:defRPr>
            </a:lvl6pPr>
            <a:lvl7pPr algn="ctr">
              <a:defRPr sz="2855" b="1">
                <a:solidFill>
                  <a:srgbClr val="FFFFFF"/>
                </a:solidFill>
                <a:latin typeface="Open Sans"/>
                <a:ea typeface="Open Sans"/>
                <a:cs typeface="Open Sans"/>
              </a:defRPr>
            </a:lvl7pPr>
            <a:lvl8pPr algn="ctr">
              <a:defRPr sz="2855" b="1">
                <a:solidFill>
                  <a:srgbClr val="FFFFFF"/>
                </a:solidFill>
                <a:latin typeface="Open Sans"/>
                <a:ea typeface="Open Sans"/>
                <a:cs typeface="Open Sans"/>
              </a:defRPr>
            </a:lvl8pPr>
            <a:lvl9pPr algn="ctr">
              <a:defRPr sz="2855" b="1">
                <a:solidFill>
                  <a:srgbClr val="FFFFFF"/>
                </a:solidFill>
                <a:latin typeface="Open Sans"/>
                <a:ea typeface="Open Sans"/>
                <a:cs typeface="Open Sans"/>
              </a:defRPr>
            </a:lvl9pPr>
          </a:lstStyle>
          <a:p>
            <a:pPr algn="ctr">
              <a:defRPr sz="2855" b="1">
                <a:solidFill>
                  <a:srgbClr val="FFFFFF"/>
                </a:solidFill>
                <a:latin typeface="Open Sans"/>
                <a:ea typeface="Open Sans"/>
                <a:cs typeface="Open Sans"/>
              </a:defRPr>
            </a:pPr>
            <a:r>
              <a:rPr sz="2855" b="1">
                <a:solidFill>
                  <a:srgbClr val="FFFFFF"/>
                </a:solidFill>
                <a:latin typeface="Open Sans"/>
                <a:ea typeface="Open Sans"/>
                <a:cs typeface="Open Sans"/>
              </a:rPr>
              <a:t>Frost</a:t>
            </a:r>
          </a:p>
        </p:txBody>
      </p:sp>
      <p:sp>
        <p:nvSpPr>
          <p:cNvPr id="23" name="saved-choice reveal text 48">
            <a:extLst>
              <a:ext uri="{FF2B5EF4-FFF2-40B4-BE49-F238E27FC236}">
                <a16:creationId xmlns:a16="http://schemas.microsoft.com/office/drawing/2014/main" id="{81EA93E8-BD49-49DE-838F-D07FD021418B}"/>
              </a:ext>
            </a:extLst>
          </p:cNvPr>
          <p:cNvSpPr>
            <a:spLocks noGrp="1"/>
          </p:cNvSpPr>
          <p:nvPr/>
        </p:nvSpPr>
        <p:spPr>
          <a:xfrm>
            <a:off x="8579394" y="6923975"/>
            <a:ext cx="3044927"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Was equipped</a:t>
            </a:r>
          </a:p>
        </p:txBody>
      </p:sp>
      <p:sp>
        <p:nvSpPr>
          <p:cNvPr id="24" name="saved-choice reveal text 49">
            <a:extLst>
              <a:ext uri="{FF2B5EF4-FFF2-40B4-BE49-F238E27FC236}">
                <a16:creationId xmlns:a16="http://schemas.microsoft.com/office/drawing/2014/main" id="{67E61881-D6D3-486C-AB50-E415F16C9F22}"/>
              </a:ext>
            </a:extLst>
          </p:cNvPr>
          <p:cNvSpPr>
            <a:spLocks noGrp="1"/>
          </p:cNvSpPr>
          <p:nvPr/>
        </p:nvSpPr>
        <p:spPr>
          <a:xfrm>
            <a:off x="9594229" y="7605906"/>
            <a:ext cx="1636763" cy="533395"/>
          </a:xfrm>
          <a:prstGeom prst="rect">
            <a:avLst/>
          </a:prstGeom>
          <a:noFill/>
          <a:ln w="0">
            <a:noFill/>
          </a:ln>
        </p:spPr>
        <p:txBody>
          <a:bodyPr wrap="none" lIns="0" tIns="0" rIns="0" bIns="0" anchor="t">
            <a:noAutofit/>
          </a:bodyPr>
          <a:lstStyle>
            <a:defPPr algn="ctr">
              <a:defRPr sz="2800" b="1">
                <a:solidFill>
                  <a:srgbClr val="FFFFFF"/>
                </a:solidFill>
                <a:latin typeface="Open Sans"/>
                <a:ea typeface="Open Sans"/>
                <a:cs typeface="Open Sans"/>
              </a:defRPr>
            </a:defPPr>
            <a:lvl1pPr algn="ctr">
              <a:defRPr sz="2800" b="1">
                <a:solidFill>
                  <a:srgbClr val="FFFFFF"/>
                </a:solidFill>
                <a:latin typeface="Open Sans"/>
                <a:ea typeface="Open Sans"/>
                <a:cs typeface="Open Sans"/>
              </a:defRPr>
            </a:lvl1pPr>
            <a:lvl2pPr algn="ctr">
              <a:defRPr sz="2800" b="1">
                <a:solidFill>
                  <a:srgbClr val="FFFFFF"/>
                </a:solidFill>
                <a:latin typeface="Open Sans"/>
                <a:ea typeface="Open Sans"/>
                <a:cs typeface="Open Sans"/>
              </a:defRPr>
            </a:lvl2pPr>
            <a:lvl3pPr algn="ctr">
              <a:defRPr sz="2800" b="1">
                <a:solidFill>
                  <a:srgbClr val="FFFFFF"/>
                </a:solidFill>
                <a:latin typeface="Open Sans"/>
                <a:ea typeface="Open Sans"/>
                <a:cs typeface="Open Sans"/>
              </a:defRPr>
            </a:lvl3pPr>
            <a:lvl4pPr algn="ctr">
              <a:defRPr sz="2800" b="1">
                <a:solidFill>
                  <a:srgbClr val="FFFFFF"/>
                </a:solidFill>
                <a:latin typeface="Open Sans"/>
                <a:ea typeface="Open Sans"/>
                <a:cs typeface="Open Sans"/>
              </a:defRPr>
            </a:lvl4pPr>
            <a:lvl5pPr algn="ctr">
              <a:defRPr sz="2800" b="1">
                <a:solidFill>
                  <a:srgbClr val="FFFFFF"/>
                </a:solidFill>
                <a:latin typeface="Open Sans"/>
                <a:ea typeface="Open Sans"/>
                <a:cs typeface="Open Sans"/>
              </a:defRPr>
            </a:lvl5pPr>
            <a:lvl6pPr algn="ctr">
              <a:defRPr sz="2800" b="1">
                <a:solidFill>
                  <a:srgbClr val="FFFFFF"/>
                </a:solidFill>
                <a:latin typeface="Open Sans"/>
                <a:ea typeface="Open Sans"/>
                <a:cs typeface="Open Sans"/>
              </a:defRPr>
            </a:lvl6pPr>
            <a:lvl7pPr algn="ctr">
              <a:defRPr sz="2800" b="1">
                <a:solidFill>
                  <a:srgbClr val="FFFFFF"/>
                </a:solidFill>
                <a:latin typeface="Open Sans"/>
                <a:ea typeface="Open Sans"/>
                <a:cs typeface="Open Sans"/>
              </a:defRPr>
            </a:lvl7pPr>
            <a:lvl8pPr algn="ctr">
              <a:defRPr sz="2800" b="1">
                <a:solidFill>
                  <a:srgbClr val="FFFFFF"/>
                </a:solidFill>
                <a:latin typeface="Open Sans"/>
                <a:ea typeface="Open Sans"/>
                <a:cs typeface="Open Sans"/>
              </a:defRPr>
            </a:lvl8pPr>
            <a:lvl9pPr algn="ctr">
              <a:defRPr sz="2800" b="1">
                <a:solidFill>
                  <a:srgbClr val="FFFFFF"/>
                </a:solidFill>
                <a:latin typeface="Open Sans"/>
                <a:ea typeface="Open Sans"/>
                <a:cs typeface="Open Sans"/>
              </a:defRPr>
            </a:lvl9pPr>
          </a:lstStyle>
          <a:p>
            <a:pPr algn="ctr">
              <a:defRPr sz="2800" b="1">
                <a:solidFill>
                  <a:srgbClr val="FFFFFF"/>
                </a:solidFill>
                <a:latin typeface="Open Sans"/>
                <a:ea typeface="Open Sans"/>
                <a:cs typeface="Open Sans"/>
              </a:defRPr>
            </a:pPr>
            <a:r>
              <a:rPr sz="2800" b="1">
                <a:solidFill>
                  <a:srgbClr val="FFFFFF"/>
                </a:solidFill>
                <a:latin typeface="Open Sans"/>
                <a:ea typeface="Open Sans"/>
                <a:cs typeface="Open Sans"/>
              </a:rPr>
              <a:t>Shield</a:t>
            </a:r>
          </a:p>
        </p:txBody>
      </p:sp>
      <p:sp>
        <p:nvSpPr>
          <p:cNvPr id="25" name="Answer">
            <a:extLst>
              <a:ext uri="{FF2B5EF4-FFF2-40B4-BE49-F238E27FC236}">
                <a16:creationId xmlns:a16="http://schemas.microsoft.com/office/drawing/2014/main" id="{4D43FF2A-9A3A-4DED-8B7C-53DF85A7380A}"/>
              </a:ext>
            </a:extLst>
          </p:cNvPr>
          <p:cNvSpPr>
            <a:spLocks noGrp="1"/>
          </p:cNvSpPr>
          <p:nvPr/>
        </p:nvSpPr>
        <p:spPr>
          <a:xfrm>
            <a:off x="13144500" y="7239000"/>
            <a:ext cx="4191000" cy="571500"/>
          </a:xfrm>
          <a:prstGeom prst="rect">
            <a:avLst/>
          </a:prstGeom>
          <a:noFill/>
          <a:ln w="0">
            <a:noFill/>
          </a:ln>
        </p:spPr>
        <p:txBody>
          <a:bodyPr wrap="none" lIns="0" tIns="0" rIns="0" bIns="0" anchor="t">
            <a:noAutofit/>
          </a:bodyPr>
          <a:lstStyle>
            <a:defPPr algn="l">
              <a:defRPr sz="2850" b="1">
                <a:solidFill>
                  <a:srgbClr val="9AFFD2"/>
                </a:solidFill>
                <a:latin typeface="Open Sans"/>
                <a:ea typeface="Open Sans"/>
                <a:cs typeface="Open Sans"/>
              </a:defRPr>
            </a:defPPr>
            <a:lvl1pPr algn="l">
              <a:defRPr sz="2850" b="1">
                <a:solidFill>
                  <a:srgbClr val="9AFFD2"/>
                </a:solidFill>
                <a:latin typeface="Open Sans"/>
                <a:ea typeface="Open Sans"/>
                <a:cs typeface="Open Sans"/>
              </a:defRPr>
            </a:lvl1pPr>
            <a:lvl2pPr algn="l">
              <a:defRPr sz="2850" b="1">
                <a:solidFill>
                  <a:srgbClr val="9AFFD2"/>
                </a:solidFill>
                <a:latin typeface="Open Sans"/>
                <a:ea typeface="Open Sans"/>
                <a:cs typeface="Open Sans"/>
              </a:defRPr>
            </a:lvl2pPr>
            <a:lvl3pPr algn="l">
              <a:defRPr sz="2850" b="1">
                <a:solidFill>
                  <a:srgbClr val="9AFFD2"/>
                </a:solidFill>
                <a:latin typeface="Open Sans"/>
                <a:ea typeface="Open Sans"/>
                <a:cs typeface="Open Sans"/>
              </a:defRPr>
            </a:lvl3pPr>
            <a:lvl4pPr algn="l">
              <a:defRPr sz="2850" b="1">
                <a:solidFill>
                  <a:srgbClr val="9AFFD2"/>
                </a:solidFill>
                <a:latin typeface="Open Sans"/>
                <a:ea typeface="Open Sans"/>
                <a:cs typeface="Open Sans"/>
              </a:defRPr>
            </a:lvl4pPr>
            <a:lvl5pPr algn="l">
              <a:defRPr sz="2850" b="1">
                <a:solidFill>
                  <a:srgbClr val="9AFFD2"/>
                </a:solidFill>
                <a:latin typeface="Open Sans"/>
                <a:ea typeface="Open Sans"/>
                <a:cs typeface="Open Sans"/>
              </a:defRPr>
            </a:lvl5pPr>
            <a:lvl6pPr algn="l">
              <a:defRPr sz="2850" b="1">
                <a:solidFill>
                  <a:srgbClr val="9AFFD2"/>
                </a:solidFill>
                <a:latin typeface="Open Sans"/>
                <a:ea typeface="Open Sans"/>
                <a:cs typeface="Open Sans"/>
              </a:defRPr>
            </a:lvl6pPr>
            <a:lvl7pPr algn="l">
              <a:defRPr sz="2850" b="1">
                <a:solidFill>
                  <a:srgbClr val="9AFFD2"/>
                </a:solidFill>
                <a:latin typeface="Open Sans"/>
                <a:ea typeface="Open Sans"/>
                <a:cs typeface="Open Sans"/>
              </a:defRPr>
            </a:lvl7pPr>
            <a:lvl8pPr algn="l">
              <a:defRPr sz="2850" b="1">
                <a:solidFill>
                  <a:srgbClr val="9AFFD2"/>
                </a:solidFill>
                <a:latin typeface="Open Sans"/>
                <a:ea typeface="Open Sans"/>
                <a:cs typeface="Open Sans"/>
              </a:defRPr>
            </a:lvl8pPr>
            <a:lvl9pPr algn="l">
              <a:defRPr sz="2850" b="1">
                <a:solidFill>
                  <a:srgbClr val="9AFFD2"/>
                </a:solidFill>
                <a:latin typeface="Open Sans"/>
                <a:ea typeface="Open Sans"/>
                <a:cs typeface="Open Sans"/>
              </a:defRPr>
            </a:lvl9pPr>
          </a:lstStyle>
          <a:p>
            <a:pPr algn="l">
              <a:defRPr sz="2850" b="1">
                <a:solidFill>
                  <a:srgbClr val="9AFFD2"/>
                </a:solidFill>
                <a:latin typeface="Open Sans"/>
                <a:ea typeface="Open Sans"/>
                <a:cs typeface="Open Sans"/>
              </a:defRPr>
            </a:pPr>
            <a:r>
              <a:rPr sz="2850" b="1">
                <a:solidFill>
                  <a:srgbClr val="9AFFD2"/>
                </a:solidFill>
                <a:latin typeface="Open Sans"/>
                <a:ea typeface="Open Sans"/>
                <a:cs typeface="Open Sans"/>
              </a:rPr>
              <a:t>Answer 1</a:t>
            </a:r>
          </a:p>
        </p:txBody>
      </p:sp>
      <p:sp>
        <p:nvSpPr>
          <p:cNvPr id="26" name="Reason">
            <a:extLst>
              <a:ext uri="{FF2B5EF4-FFF2-40B4-BE49-F238E27FC236}">
                <a16:creationId xmlns:a16="http://schemas.microsoft.com/office/drawing/2014/main" id="{3FB7B0D4-9FB4-410F-9286-DCD2687C782E}"/>
              </a:ext>
            </a:extLst>
          </p:cNvPr>
          <p:cNvSpPr>
            <a:spLocks noGrp="1"/>
          </p:cNvSpPr>
          <p:nvPr/>
        </p:nvSpPr>
        <p:spPr>
          <a:xfrm>
            <a:off x="13144500" y="7924800"/>
            <a:ext cx="4191000" cy="1619250"/>
          </a:xfrm>
          <a:prstGeom prst="rect">
            <a:avLst/>
          </a:prstGeom>
          <a:noFill/>
          <a:ln w="0">
            <a:noFill/>
          </a:ln>
        </p:spPr>
        <p:txBody>
          <a:bodyPr wrap="none" lIns="0" tIns="0" rIns="0" bIns="0" anchor="t">
            <a:noAutofit/>
          </a:bodyPr>
          <a:lstStyle>
            <a:defPPr algn="l">
              <a:defRPr sz="3150" b="1">
                <a:solidFill>
                  <a:srgbClr val="FFFFFF"/>
                </a:solidFill>
                <a:latin typeface="Open Sans"/>
                <a:ea typeface="Open Sans"/>
                <a:cs typeface="Open Sans"/>
              </a:defRPr>
            </a:defPPr>
            <a:lvl1pPr algn="l">
              <a:defRPr sz="3150" b="1">
                <a:solidFill>
                  <a:srgbClr val="FFFFFF"/>
                </a:solidFill>
                <a:latin typeface="Open Sans"/>
                <a:ea typeface="Open Sans"/>
                <a:cs typeface="Open Sans"/>
              </a:defRPr>
            </a:lvl1pPr>
            <a:lvl2pPr algn="l">
              <a:defRPr sz="3150" b="1">
                <a:solidFill>
                  <a:srgbClr val="FFFFFF"/>
                </a:solidFill>
                <a:latin typeface="Open Sans"/>
                <a:ea typeface="Open Sans"/>
                <a:cs typeface="Open Sans"/>
              </a:defRPr>
            </a:lvl2pPr>
            <a:lvl3pPr algn="l">
              <a:defRPr sz="3150" b="1">
                <a:solidFill>
                  <a:srgbClr val="FFFFFF"/>
                </a:solidFill>
                <a:latin typeface="Open Sans"/>
                <a:ea typeface="Open Sans"/>
                <a:cs typeface="Open Sans"/>
              </a:defRPr>
            </a:lvl3pPr>
            <a:lvl4pPr algn="l">
              <a:defRPr sz="3150" b="1">
                <a:solidFill>
                  <a:srgbClr val="FFFFFF"/>
                </a:solidFill>
                <a:latin typeface="Open Sans"/>
                <a:ea typeface="Open Sans"/>
                <a:cs typeface="Open Sans"/>
              </a:defRPr>
            </a:lvl4pPr>
            <a:lvl5pPr algn="l">
              <a:defRPr sz="3150" b="1">
                <a:solidFill>
                  <a:srgbClr val="FFFFFF"/>
                </a:solidFill>
                <a:latin typeface="Open Sans"/>
                <a:ea typeface="Open Sans"/>
                <a:cs typeface="Open Sans"/>
              </a:defRPr>
            </a:lvl5pPr>
            <a:lvl6pPr algn="l">
              <a:defRPr sz="3150" b="1">
                <a:solidFill>
                  <a:srgbClr val="FFFFFF"/>
                </a:solidFill>
                <a:latin typeface="Open Sans"/>
                <a:ea typeface="Open Sans"/>
                <a:cs typeface="Open Sans"/>
              </a:defRPr>
            </a:lvl6pPr>
            <a:lvl7pPr algn="l">
              <a:defRPr sz="3150" b="1">
                <a:solidFill>
                  <a:srgbClr val="FFFFFF"/>
                </a:solidFill>
                <a:latin typeface="Open Sans"/>
                <a:ea typeface="Open Sans"/>
                <a:cs typeface="Open Sans"/>
              </a:defRPr>
            </a:lvl7pPr>
            <a:lvl8pPr algn="l">
              <a:defRPr sz="3150" b="1">
                <a:solidFill>
                  <a:srgbClr val="FFFFFF"/>
                </a:solidFill>
                <a:latin typeface="Open Sans"/>
                <a:ea typeface="Open Sans"/>
                <a:cs typeface="Open Sans"/>
              </a:defRPr>
            </a:lvl8pPr>
            <a:lvl9pPr algn="l">
              <a:defRPr sz="3150" b="1">
                <a:solidFill>
                  <a:srgbClr val="FFFFFF"/>
                </a:solidFill>
                <a:latin typeface="Open Sans"/>
                <a:ea typeface="Open Sans"/>
                <a:cs typeface="Open Sans"/>
              </a:defRPr>
            </a:lvl9pPr>
          </a:lstStyle>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Honor the</a:t>
            </a:r>
          </a:p>
          <a:p>
            <a:pPr algn="l">
              <a:defRPr sz="3150" b="1">
                <a:solidFill>
                  <a:srgbClr val="FFFFFF"/>
                </a:solidFill>
                <a:latin typeface="Open Sans"/>
                <a:ea typeface="Open Sans"/>
                <a:cs typeface="Open Sans"/>
              </a:defRPr>
            </a:pPr>
            <a:r>
              <a:rPr sz="3150" b="1">
                <a:solidFill>
                  <a:srgbClr val="FFFFFF"/>
                </a:solidFill>
                <a:latin typeface="Open Sans"/>
                <a:ea typeface="Open Sans"/>
                <a:cs typeface="Open Sans"/>
              </a:rPr>
              <a:t>saved choice</a:t>
            </a:r>
          </a:p>
        </p:txBody>
      </p:sp>
    </p:spTree>
    <p:extLst>
      <p:ext uri="{BB962C8B-B14F-4D97-AF65-F5344CB8AC3E}">
        <p14:creationId xmlns:p14="http://schemas.microsoft.com/office/powerpoint/2010/main" val="85818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5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15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5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5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15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5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15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15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15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1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2" grpId="0"/>
      <p:bldP spid="23" grpId="0"/>
      <p:bldP spid="24" grpId="0"/>
      <p:bldP spid="25" grpId="0"/>
      <p:bldP spid="26" grpId="0"/>
    </p:bldLst>
  </p:timing>
</p:sld>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15433945" y="6887762"/>
            <a:ext cx="2012410" cy="2610438"/>
          </a:xfrm>
          <a:custGeom>
            <a:avLst/>
            <a:gdLst/>
            <a:ahLst/>
            <a:cxnLst/>
            <a:rect l="l" t="t" r="r" b="b"/>
            <a:pathLst>
              <a:path w="2012410" h="2610438">
                <a:moveTo>
                  <a:pt x="0" y="0"/>
                </a:moveTo>
                <a:lnTo>
                  <a:pt x="2012410" y="0"/>
                </a:lnTo>
                <a:lnTo>
                  <a:pt x="2012410" y="2610438"/>
                </a:lnTo>
                <a:lnTo>
                  <a:pt x="0" y="261043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a:off x="841645" y="6887762"/>
            <a:ext cx="2012410" cy="2610438"/>
          </a:xfrm>
          <a:custGeom>
            <a:avLst/>
            <a:gdLst/>
            <a:ahLst/>
            <a:cxnLst/>
            <a:rect l="l" t="t" r="r" b="b"/>
            <a:pathLst>
              <a:path w="2012410" h="2610438">
                <a:moveTo>
                  <a:pt x="2012410" y="0"/>
                </a:moveTo>
                <a:lnTo>
                  <a:pt x="0" y="0"/>
                </a:lnTo>
                <a:lnTo>
                  <a:pt x="0" y="2610438"/>
                </a:lnTo>
                <a:lnTo>
                  <a:pt x="2012410" y="2610438"/>
                </a:lnTo>
                <a:lnTo>
                  <a:pt x="201241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1847850" y="3078213"/>
            <a:ext cx="14592300" cy="2273300"/>
          </a:xfrm>
          <a:prstGeom prst="rect">
            <a:avLst/>
          </a:prstGeom>
        </p:spPr>
        <p:txBody>
          <a:bodyPr lIns="0" tIns="0" rIns="0" bIns="0" rtlCol="0" anchor="t">
            <a:spAutoFit/>
          </a:bodyPr>
          <a:lstStyle/>
          <a:p>
            <a:pPr algn="ctr">
              <a:lnSpc>
                <a:spcPts val="9100"/>
              </a:lnSpc>
              <a:spcBef>
                <a:spcPct val="0"/>
              </a:spcBef>
            </a:pPr>
            <a:r>
              <a:rPr lang="en-US" sz="6500">
                <a:solidFill>
                  <a:srgbClr val="FFFFFF"/>
                </a:solidFill>
                <a:latin typeface="Press Start 2P"/>
                <a:ea typeface="Press Start 2P"/>
                <a:cs typeface="Press Start 2P"/>
                <a:sym typeface="Press Start 2P"/>
              </a:rPr>
              <a:t>VIDEO GAMES DEVELOPMENT</a:t>
            </a:r>
          </a:p>
        </p:txBody>
      </p:sp>
      <p:sp>
        <p:nvSpPr>
          <p:cNvPr id="5" name="Freeform 5"/>
          <p:cNvSpPr/>
          <p:nvPr/>
        </p:nvSpPr>
        <p:spPr>
          <a:xfrm>
            <a:off x="7825154" y="1028700"/>
            <a:ext cx="2637692" cy="2057400"/>
          </a:xfrm>
          <a:custGeom>
            <a:avLst/>
            <a:gdLst/>
            <a:ahLst/>
            <a:cxnLst/>
            <a:rect l="l" t="t" r="r" b="b"/>
            <a:pathLst>
              <a:path w="2637692" h="2057400">
                <a:moveTo>
                  <a:pt x="0" y="0"/>
                </a:moveTo>
                <a:lnTo>
                  <a:pt x="2637692" y="0"/>
                </a:lnTo>
                <a:lnTo>
                  <a:pt x="2637692"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5486400" y="7130512"/>
            <a:ext cx="7315200" cy="1330036"/>
          </a:xfrm>
          <a:custGeom>
            <a:avLst/>
            <a:gdLst/>
            <a:ahLst/>
            <a:cxnLst/>
            <a:rect l="l" t="t" r="r" b="b"/>
            <a:pathLst>
              <a:path w="7315200" h="1330036">
                <a:moveTo>
                  <a:pt x="0" y="0"/>
                </a:moveTo>
                <a:lnTo>
                  <a:pt x="7315200" y="0"/>
                </a:lnTo>
                <a:lnTo>
                  <a:pt x="7315200" y="1330036"/>
                </a:lnTo>
                <a:lnTo>
                  <a:pt x="0" y="133003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570600" y="8634285"/>
            <a:ext cx="1863345" cy="863914"/>
          </a:xfrm>
          <a:custGeom>
            <a:avLst/>
            <a:gdLst/>
            <a:ahLst/>
            <a:cxnLst/>
            <a:rect l="l" t="t" r="r" b="b"/>
            <a:pathLst>
              <a:path w="1863345" h="863914">
                <a:moveTo>
                  <a:pt x="0" y="0"/>
                </a:moveTo>
                <a:lnTo>
                  <a:pt x="1863345" y="0"/>
                </a:lnTo>
                <a:lnTo>
                  <a:pt x="1863345" y="863915"/>
                </a:lnTo>
                <a:lnTo>
                  <a:pt x="0" y="86391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flipH="1">
            <a:off x="2854055" y="8634285"/>
            <a:ext cx="1863345" cy="863914"/>
          </a:xfrm>
          <a:custGeom>
            <a:avLst/>
            <a:gdLst/>
            <a:ahLst/>
            <a:cxnLst/>
            <a:rect l="l" t="t" r="r" b="b"/>
            <a:pathLst>
              <a:path w="1863345" h="863914">
                <a:moveTo>
                  <a:pt x="1863345" y="0"/>
                </a:moveTo>
                <a:lnTo>
                  <a:pt x="0" y="0"/>
                </a:lnTo>
                <a:lnTo>
                  <a:pt x="0" y="863915"/>
                </a:lnTo>
                <a:lnTo>
                  <a:pt x="1863345" y="863915"/>
                </a:lnTo>
                <a:lnTo>
                  <a:pt x="1863345"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Freeform 11"/>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Freeform 12"/>
          <p:cNvSpPr/>
          <p:nvPr/>
        </p:nvSpPr>
        <p:spPr>
          <a:xfrm>
            <a:off x="-807418" y="4731574"/>
            <a:ext cx="2359993" cy="823852"/>
          </a:xfrm>
          <a:custGeom>
            <a:avLst/>
            <a:gdLst/>
            <a:ahLst/>
            <a:cxnLst/>
            <a:rect l="l" t="t" r="r" b="b"/>
            <a:pathLst>
              <a:path w="2359993" h="823852">
                <a:moveTo>
                  <a:pt x="0" y="0"/>
                </a:moveTo>
                <a:lnTo>
                  <a:pt x="2359993" y="0"/>
                </a:lnTo>
                <a:lnTo>
                  <a:pt x="2359993" y="823852"/>
                </a:lnTo>
                <a:lnTo>
                  <a:pt x="0" y="82385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3" name="Freeform 13"/>
          <p:cNvSpPr/>
          <p:nvPr/>
        </p:nvSpPr>
        <p:spPr>
          <a:xfrm flipH="1">
            <a:off x="16734472" y="4731574"/>
            <a:ext cx="2359993" cy="823852"/>
          </a:xfrm>
          <a:custGeom>
            <a:avLst/>
            <a:gdLst/>
            <a:ahLst/>
            <a:cxnLst/>
            <a:rect l="l" t="t" r="r" b="b"/>
            <a:pathLst>
              <a:path w="2359993" h="823852">
                <a:moveTo>
                  <a:pt x="2359993" y="0"/>
                </a:moveTo>
                <a:lnTo>
                  <a:pt x="0" y="0"/>
                </a:lnTo>
                <a:lnTo>
                  <a:pt x="0" y="823852"/>
                </a:lnTo>
                <a:lnTo>
                  <a:pt x="2359993" y="823852"/>
                </a:lnTo>
                <a:lnTo>
                  <a:pt x="2359993"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Freeform 14"/>
          <p:cNvSpPr/>
          <p:nvPr/>
        </p:nvSpPr>
        <p:spPr>
          <a:xfrm>
            <a:off x="1370596" y="867805"/>
            <a:ext cx="3512396" cy="625845"/>
          </a:xfrm>
          <a:custGeom>
            <a:avLst/>
            <a:gdLst/>
            <a:ahLst/>
            <a:cxnLst/>
            <a:rect l="l" t="t" r="r" b="b"/>
            <a:pathLst>
              <a:path w="3512396" h="625845">
                <a:moveTo>
                  <a:pt x="0" y="0"/>
                </a:moveTo>
                <a:lnTo>
                  <a:pt x="3512396" y="0"/>
                </a:lnTo>
                <a:lnTo>
                  <a:pt x="3512396" y="625845"/>
                </a:lnTo>
                <a:lnTo>
                  <a:pt x="0" y="625845"/>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5" name="Freeform 15"/>
          <p:cNvSpPr/>
          <p:nvPr/>
        </p:nvSpPr>
        <p:spPr>
          <a:xfrm flipH="1">
            <a:off x="13405008" y="867805"/>
            <a:ext cx="3512396" cy="625845"/>
          </a:xfrm>
          <a:custGeom>
            <a:avLst/>
            <a:gdLst/>
            <a:ahLst/>
            <a:cxnLst/>
            <a:rect l="l" t="t" r="r" b="b"/>
            <a:pathLst>
              <a:path w="3512396" h="625845">
                <a:moveTo>
                  <a:pt x="3512396" y="0"/>
                </a:moveTo>
                <a:lnTo>
                  <a:pt x="0" y="0"/>
                </a:lnTo>
                <a:lnTo>
                  <a:pt x="0" y="625845"/>
                </a:lnTo>
                <a:lnTo>
                  <a:pt x="3512396" y="625845"/>
                </a:lnTo>
                <a:lnTo>
                  <a:pt x="3512396"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733031" y="5315832"/>
            <a:ext cx="3882875" cy="4114800"/>
          </a:xfrm>
          <a:custGeom>
            <a:avLst/>
            <a:gdLst/>
            <a:ahLst/>
            <a:cxnLst/>
            <a:rect l="l" t="t" r="r" b="b"/>
            <a:pathLst>
              <a:path w="3882875" h="4114800">
                <a:moveTo>
                  <a:pt x="0" y="0"/>
                </a:moveTo>
                <a:lnTo>
                  <a:pt x="3882875" y="0"/>
                </a:lnTo>
                <a:lnTo>
                  <a:pt x="3882875"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a:off x="15138156" y="5315832"/>
            <a:ext cx="3882875" cy="4114800"/>
          </a:xfrm>
          <a:custGeom>
            <a:avLst/>
            <a:gdLst/>
            <a:ahLst/>
            <a:cxnLst/>
            <a:rect l="l" t="t" r="r" b="b"/>
            <a:pathLst>
              <a:path w="3882875" h="4114800">
                <a:moveTo>
                  <a:pt x="3882875" y="0"/>
                </a:moveTo>
                <a:lnTo>
                  <a:pt x="0" y="0"/>
                </a:lnTo>
                <a:lnTo>
                  <a:pt x="0" y="4114800"/>
                </a:lnTo>
                <a:lnTo>
                  <a:pt x="3882875" y="4114800"/>
                </a:lnTo>
                <a:lnTo>
                  <a:pt x="3882875"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7576179" y="7942628"/>
            <a:ext cx="3135642" cy="1488005"/>
          </a:xfrm>
          <a:custGeom>
            <a:avLst/>
            <a:gdLst/>
            <a:ahLst/>
            <a:cxnLst/>
            <a:rect l="l" t="t" r="r" b="b"/>
            <a:pathLst>
              <a:path w="3135642" h="1488005">
                <a:moveTo>
                  <a:pt x="0" y="0"/>
                </a:moveTo>
                <a:lnTo>
                  <a:pt x="3135642" y="0"/>
                </a:lnTo>
                <a:lnTo>
                  <a:pt x="3135642" y="1488004"/>
                </a:lnTo>
                <a:lnTo>
                  <a:pt x="0" y="148800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p:cNvSpPr txBox="1"/>
          <p:nvPr/>
        </p:nvSpPr>
        <p:spPr>
          <a:xfrm>
            <a:off x="4178934" y="2136582"/>
            <a:ext cx="9930133" cy="1811020"/>
          </a:xfrm>
          <a:prstGeom prst="rect">
            <a:avLst/>
          </a:prstGeom>
        </p:spPr>
        <p:txBody>
          <a:bodyPr lIns="0" tIns="0" rIns="0" bIns="0" rtlCol="0" anchor="t">
            <a:spAutoFit/>
          </a:bodyPr>
          <a:lstStyle/>
          <a:p>
            <a:pPr algn="ctr">
              <a:lnSpc>
                <a:spcPts val="7280"/>
              </a:lnSpc>
              <a:spcBef>
                <a:spcPct val="0"/>
              </a:spcBef>
            </a:pPr>
            <a:r>
              <a:rPr lang="en-US" sz="5200">
                <a:solidFill>
                  <a:srgbClr val="FFFFFF"/>
                </a:solidFill>
                <a:latin typeface="Press Start 2P"/>
                <a:ea typeface="Press Start 2P"/>
                <a:cs typeface="Press Start 2P"/>
                <a:sym typeface="Press Start 2P"/>
              </a:rPr>
              <a:t>WELCOME TO THE COURSE</a:t>
            </a:r>
          </a:p>
        </p:txBody>
      </p:sp>
      <p:sp>
        <p:nvSpPr>
          <p:cNvPr id="11" name="TextBox 11"/>
          <p:cNvSpPr txBox="1"/>
          <p:nvPr/>
        </p:nvSpPr>
        <p:spPr>
          <a:xfrm>
            <a:off x="3237226" y="4918535"/>
            <a:ext cx="4910851" cy="1736725"/>
          </a:xfrm>
          <a:prstGeom prst="rect">
            <a:avLst/>
          </a:prstGeom>
        </p:spPr>
        <p:txBody>
          <a:bodyPr lIns="0" tIns="0" rIns="0" bIns="0" rtlCol="0" anchor="t">
            <a:spAutoFit/>
          </a:bodyPr>
          <a:lstStyle/>
          <a:p>
            <a:pPr algn="ctr">
              <a:lnSpc>
                <a:spcPts val="3499"/>
              </a:lnSpc>
            </a:pPr>
            <a:r>
              <a:rPr lang="en-US" sz="2499">
                <a:solidFill>
                  <a:srgbClr val="FFFFFF"/>
                </a:solidFill>
                <a:latin typeface="Open Sans"/>
                <a:ea typeface="Open Sans"/>
                <a:cs typeface="Open Sans"/>
                <a:sym typeface="Open Sans"/>
              </a:rPr>
              <a:t> Course Lecturer:</a:t>
            </a:r>
          </a:p>
          <a:p>
            <a:pPr algn="ctr">
              <a:lnSpc>
                <a:spcPts val="3499"/>
              </a:lnSpc>
            </a:pPr>
            <a:r>
              <a:rPr lang="en-US" sz="2499">
                <a:solidFill>
                  <a:srgbClr val="FFFFFF"/>
                </a:solidFill>
                <a:latin typeface="Open Sans"/>
                <a:ea typeface="Open Sans"/>
                <a:cs typeface="Open Sans"/>
                <a:sym typeface="Open Sans"/>
              </a:rPr>
              <a:t>Prof. Erel Segal-Halevi</a:t>
            </a:r>
          </a:p>
          <a:p>
            <a:pPr algn="ctr">
              <a:lnSpc>
                <a:spcPts val="3499"/>
              </a:lnSpc>
            </a:pPr>
            <a:r>
              <a:rPr lang="en-US" sz="2499" u="sng">
                <a:solidFill>
                  <a:srgbClr val="FFFFFF"/>
                </a:solidFill>
                <a:latin typeface="Open Sans"/>
                <a:ea typeface="Open Sans"/>
                <a:cs typeface="Open Sans"/>
                <a:sym typeface="Open Sans"/>
                <a:hlinkClick r:id="rId6" tooltip="mailto:erelsegalhalevi@gmail.com"/>
              </a:rPr>
              <a:t>erelsegalhalevi@gmail.com</a:t>
            </a:r>
          </a:p>
          <a:p>
            <a:pPr algn="ctr">
              <a:lnSpc>
                <a:spcPts val="3499"/>
              </a:lnSpc>
              <a:spcBef>
                <a:spcPct val="0"/>
              </a:spcBef>
            </a:pPr>
            <a:endParaRPr lang="en-US" sz="2499" u="sng">
              <a:solidFill>
                <a:srgbClr val="FFFFFF"/>
              </a:solidFill>
              <a:latin typeface="Open Sans"/>
              <a:ea typeface="Open Sans"/>
              <a:cs typeface="Open Sans"/>
              <a:sym typeface="Open Sans"/>
              <a:hlinkClick r:id="rId6" tooltip="mailto:erelsegalhalevi@gmail.com"/>
            </a:endParaRPr>
          </a:p>
        </p:txBody>
      </p:sp>
      <p:sp>
        <p:nvSpPr>
          <p:cNvPr id="12" name="Freeform 12"/>
          <p:cNvSpPr/>
          <p:nvPr/>
        </p:nvSpPr>
        <p:spPr>
          <a:xfrm>
            <a:off x="5986470" y="7503760"/>
            <a:ext cx="770749" cy="1926872"/>
          </a:xfrm>
          <a:custGeom>
            <a:avLst/>
            <a:gdLst/>
            <a:ahLst/>
            <a:cxnLst/>
            <a:rect l="l" t="t" r="r" b="b"/>
            <a:pathLst>
              <a:path w="770749" h="1926872">
                <a:moveTo>
                  <a:pt x="0" y="0"/>
                </a:moveTo>
                <a:lnTo>
                  <a:pt x="770748" y="0"/>
                </a:lnTo>
                <a:lnTo>
                  <a:pt x="770748" y="1926872"/>
                </a:lnTo>
                <a:lnTo>
                  <a:pt x="0" y="192687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3" name="Freeform 13"/>
          <p:cNvSpPr/>
          <p:nvPr/>
        </p:nvSpPr>
        <p:spPr>
          <a:xfrm>
            <a:off x="4720921" y="7503760"/>
            <a:ext cx="770749" cy="1926872"/>
          </a:xfrm>
          <a:custGeom>
            <a:avLst/>
            <a:gdLst/>
            <a:ahLst/>
            <a:cxnLst/>
            <a:rect l="l" t="t" r="r" b="b"/>
            <a:pathLst>
              <a:path w="770749" h="1926872">
                <a:moveTo>
                  <a:pt x="0" y="0"/>
                </a:moveTo>
                <a:lnTo>
                  <a:pt x="770748" y="0"/>
                </a:lnTo>
                <a:lnTo>
                  <a:pt x="770748" y="1926872"/>
                </a:lnTo>
                <a:lnTo>
                  <a:pt x="0" y="192687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Freeform 14"/>
          <p:cNvSpPr/>
          <p:nvPr/>
        </p:nvSpPr>
        <p:spPr>
          <a:xfrm>
            <a:off x="3455372" y="7503760"/>
            <a:ext cx="770749" cy="1926872"/>
          </a:xfrm>
          <a:custGeom>
            <a:avLst/>
            <a:gdLst/>
            <a:ahLst/>
            <a:cxnLst/>
            <a:rect l="l" t="t" r="r" b="b"/>
            <a:pathLst>
              <a:path w="770749" h="1926872">
                <a:moveTo>
                  <a:pt x="0" y="0"/>
                </a:moveTo>
                <a:lnTo>
                  <a:pt x="770748" y="0"/>
                </a:lnTo>
                <a:lnTo>
                  <a:pt x="770748" y="1926872"/>
                </a:lnTo>
                <a:lnTo>
                  <a:pt x="0" y="192687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5" name="Freeform 15"/>
          <p:cNvSpPr/>
          <p:nvPr/>
        </p:nvSpPr>
        <p:spPr>
          <a:xfrm flipH="1">
            <a:off x="14061880" y="7503760"/>
            <a:ext cx="770749" cy="1926872"/>
          </a:xfrm>
          <a:custGeom>
            <a:avLst/>
            <a:gdLst/>
            <a:ahLst/>
            <a:cxnLst/>
            <a:rect l="l" t="t" r="r" b="b"/>
            <a:pathLst>
              <a:path w="770749" h="1926872">
                <a:moveTo>
                  <a:pt x="770748" y="0"/>
                </a:moveTo>
                <a:lnTo>
                  <a:pt x="0" y="0"/>
                </a:lnTo>
                <a:lnTo>
                  <a:pt x="0" y="1926872"/>
                </a:lnTo>
                <a:lnTo>
                  <a:pt x="770748" y="1926872"/>
                </a:lnTo>
                <a:lnTo>
                  <a:pt x="770748"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6" name="Freeform 16"/>
          <p:cNvSpPr/>
          <p:nvPr/>
        </p:nvSpPr>
        <p:spPr>
          <a:xfrm flipH="1">
            <a:off x="12796331" y="7503760"/>
            <a:ext cx="770749" cy="1926872"/>
          </a:xfrm>
          <a:custGeom>
            <a:avLst/>
            <a:gdLst/>
            <a:ahLst/>
            <a:cxnLst/>
            <a:rect l="l" t="t" r="r" b="b"/>
            <a:pathLst>
              <a:path w="770749" h="1926872">
                <a:moveTo>
                  <a:pt x="770748" y="0"/>
                </a:moveTo>
                <a:lnTo>
                  <a:pt x="0" y="0"/>
                </a:lnTo>
                <a:lnTo>
                  <a:pt x="0" y="1926872"/>
                </a:lnTo>
                <a:lnTo>
                  <a:pt x="770748" y="1926872"/>
                </a:lnTo>
                <a:lnTo>
                  <a:pt x="770748"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Freeform 17"/>
          <p:cNvSpPr/>
          <p:nvPr/>
        </p:nvSpPr>
        <p:spPr>
          <a:xfrm flipH="1">
            <a:off x="11530782" y="7503760"/>
            <a:ext cx="770749" cy="1926872"/>
          </a:xfrm>
          <a:custGeom>
            <a:avLst/>
            <a:gdLst/>
            <a:ahLst/>
            <a:cxnLst/>
            <a:rect l="l" t="t" r="r" b="b"/>
            <a:pathLst>
              <a:path w="770749" h="1926872">
                <a:moveTo>
                  <a:pt x="770748" y="0"/>
                </a:moveTo>
                <a:lnTo>
                  <a:pt x="0" y="0"/>
                </a:lnTo>
                <a:lnTo>
                  <a:pt x="0" y="1926872"/>
                </a:lnTo>
                <a:lnTo>
                  <a:pt x="770748" y="1926872"/>
                </a:lnTo>
                <a:lnTo>
                  <a:pt x="770748"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027747" y="3103938"/>
            <a:ext cx="1924760" cy="671916"/>
          </a:xfrm>
          <a:custGeom>
            <a:avLst/>
            <a:gdLst/>
            <a:ahLst/>
            <a:cxnLst/>
            <a:rect l="l" t="t" r="r" b="b"/>
            <a:pathLst>
              <a:path w="1924760" h="671916">
                <a:moveTo>
                  <a:pt x="0" y="0"/>
                </a:moveTo>
                <a:lnTo>
                  <a:pt x="1924760" y="0"/>
                </a:lnTo>
                <a:lnTo>
                  <a:pt x="1924760" y="671916"/>
                </a:lnTo>
                <a:lnTo>
                  <a:pt x="0" y="67191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9" name="Freeform 19"/>
          <p:cNvSpPr/>
          <p:nvPr/>
        </p:nvSpPr>
        <p:spPr>
          <a:xfrm flipH="1">
            <a:off x="15334540" y="3103938"/>
            <a:ext cx="1924760" cy="671916"/>
          </a:xfrm>
          <a:custGeom>
            <a:avLst/>
            <a:gdLst/>
            <a:ahLst/>
            <a:cxnLst/>
            <a:rect l="l" t="t" r="r" b="b"/>
            <a:pathLst>
              <a:path w="1924760" h="671916">
                <a:moveTo>
                  <a:pt x="1924760" y="0"/>
                </a:moveTo>
                <a:lnTo>
                  <a:pt x="0" y="0"/>
                </a:lnTo>
                <a:lnTo>
                  <a:pt x="0" y="671916"/>
                </a:lnTo>
                <a:lnTo>
                  <a:pt x="1924760" y="671916"/>
                </a:lnTo>
                <a:lnTo>
                  <a:pt x="192476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0" name="TextBox 20"/>
          <p:cNvSpPr txBox="1"/>
          <p:nvPr/>
        </p:nvSpPr>
        <p:spPr>
          <a:xfrm>
            <a:off x="11433429" y="4918535"/>
            <a:ext cx="3013825" cy="1736725"/>
          </a:xfrm>
          <a:prstGeom prst="rect">
            <a:avLst/>
          </a:prstGeom>
        </p:spPr>
        <p:txBody>
          <a:bodyPr lIns="0" tIns="0" rIns="0" bIns="0" rtlCol="0" anchor="t">
            <a:spAutoFit/>
          </a:bodyPr>
          <a:lstStyle/>
          <a:p>
            <a:pPr algn="ctr">
              <a:lnSpc>
                <a:spcPts val="3499"/>
              </a:lnSpc>
            </a:pPr>
            <a:r>
              <a:rPr lang="en-US" sz="2499">
                <a:solidFill>
                  <a:srgbClr val="FFFFFF"/>
                </a:solidFill>
                <a:latin typeface="Open Sans"/>
                <a:ea typeface="Open Sans"/>
                <a:cs typeface="Open Sans"/>
                <a:sym typeface="Open Sans"/>
              </a:rPr>
              <a:t>Teaching Assistant:</a:t>
            </a:r>
          </a:p>
          <a:p>
            <a:pPr algn="ctr">
              <a:lnSpc>
                <a:spcPts val="3499"/>
              </a:lnSpc>
            </a:pPr>
            <a:r>
              <a:rPr lang="en-US" sz="2499">
                <a:solidFill>
                  <a:srgbClr val="FFFFFF"/>
                </a:solidFill>
                <a:latin typeface="Open Sans"/>
                <a:ea typeface="Open Sans"/>
                <a:cs typeface="Open Sans"/>
                <a:sym typeface="Open Sans"/>
              </a:rPr>
              <a:t>Victor Kushnir</a:t>
            </a:r>
          </a:p>
          <a:p>
            <a:pPr algn="ctr">
              <a:lnSpc>
                <a:spcPts val="3499"/>
              </a:lnSpc>
            </a:pPr>
            <a:r>
              <a:rPr lang="en-US" sz="2499" u="sng">
                <a:solidFill>
                  <a:srgbClr val="FFFFFF"/>
                </a:solidFill>
                <a:latin typeface="Open Sans"/>
                <a:ea typeface="Open Sans"/>
                <a:cs typeface="Open Sans"/>
                <a:sym typeface="Open Sans"/>
                <a:hlinkClick r:id="rId9" tooltip="mailto:victork@ariel.ac.il"/>
              </a:rPr>
              <a:t>victork@ariel.ac.il</a:t>
            </a:r>
          </a:p>
          <a:p>
            <a:pPr algn="ctr">
              <a:lnSpc>
                <a:spcPts val="3499"/>
              </a:lnSpc>
              <a:spcBef>
                <a:spcPct val="0"/>
              </a:spcBef>
            </a:pPr>
            <a:endParaRPr lang="en-US" sz="2499" u="sng">
              <a:solidFill>
                <a:srgbClr val="FFFFFF"/>
              </a:solidFill>
              <a:latin typeface="Open Sans"/>
              <a:ea typeface="Open Sans"/>
              <a:cs typeface="Open Sans"/>
              <a:sym typeface="Open Sans"/>
              <a:hlinkClick r:id="rId9" tooltip="mailto:victork@ariel.ac.i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26185" y="5587300"/>
            <a:ext cx="1989556" cy="3880340"/>
          </a:xfrm>
          <a:custGeom>
            <a:avLst/>
            <a:gdLst/>
            <a:ahLst/>
            <a:cxnLst/>
            <a:rect l="l" t="t" r="r" b="b"/>
            <a:pathLst>
              <a:path w="1989556" h="3880340">
                <a:moveTo>
                  <a:pt x="0" y="0"/>
                </a:moveTo>
                <a:lnTo>
                  <a:pt x="1989556" y="0"/>
                </a:lnTo>
                <a:lnTo>
                  <a:pt x="1989556" y="3880340"/>
                </a:lnTo>
                <a:lnTo>
                  <a:pt x="0" y="388034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215858" y="5587300"/>
            <a:ext cx="1989556" cy="3880340"/>
          </a:xfrm>
          <a:custGeom>
            <a:avLst/>
            <a:gdLst/>
            <a:ahLst/>
            <a:cxnLst/>
            <a:rect l="l" t="t" r="r" b="b"/>
            <a:pathLst>
              <a:path w="1989556" h="3880340">
                <a:moveTo>
                  <a:pt x="0" y="0"/>
                </a:moveTo>
                <a:lnTo>
                  <a:pt x="1989556" y="0"/>
                </a:lnTo>
                <a:lnTo>
                  <a:pt x="1989556" y="3880340"/>
                </a:lnTo>
                <a:lnTo>
                  <a:pt x="0" y="388034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4457901" y="5587300"/>
            <a:ext cx="1989556" cy="3880340"/>
          </a:xfrm>
          <a:custGeom>
            <a:avLst/>
            <a:gdLst/>
            <a:ahLst/>
            <a:cxnLst/>
            <a:rect l="l" t="t" r="r" b="b"/>
            <a:pathLst>
              <a:path w="1989556" h="3880340">
                <a:moveTo>
                  <a:pt x="0" y="0"/>
                </a:moveTo>
                <a:lnTo>
                  <a:pt x="1989556" y="0"/>
                </a:lnTo>
                <a:lnTo>
                  <a:pt x="1989556" y="3880340"/>
                </a:lnTo>
                <a:lnTo>
                  <a:pt x="0" y="388034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a:off x="6699944" y="5587300"/>
            <a:ext cx="1989556" cy="3880340"/>
          </a:xfrm>
          <a:custGeom>
            <a:avLst/>
            <a:gdLst/>
            <a:ahLst/>
            <a:cxnLst/>
            <a:rect l="l" t="t" r="r" b="b"/>
            <a:pathLst>
              <a:path w="1989556" h="3880340">
                <a:moveTo>
                  <a:pt x="0" y="0"/>
                </a:moveTo>
                <a:lnTo>
                  <a:pt x="1989556" y="0"/>
                </a:lnTo>
                <a:lnTo>
                  <a:pt x="1989556" y="3880340"/>
                </a:lnTo>
                <a:lnTo>
                  <a:pt x="0" y="388034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flipH="1">
            <a:off x="8981240" y="7974654"/>
            <a:ext cx="803498" cy="1492986"/>
          </a:xfrm>
          <a:custGeom>
            <a:avLst/>
            <a:gdLst/>
            <a:ahLst/>
            <a:cxnLst/>
            <a:rect l="l" t="t" r="r" b="b"/>
            <a:pathLst>
              <a:path w="803498" h="1492986">
                <a:moveTo>
                  <a:pt x="803497" y="0"/>
                </a:moveTo>
                <a:lnTo>
                  <a:pt x="0" y="0"/>
                </a:lnTo>
                <a:lnTo>
                  <a:pt x="0" y="1492986"/>
                </a:lnTo>
                <a:lnTo>
                  <a:pt x="803497" y="1492986"/>
                </a:lnTo>
                <a:lnTo>
                  <a:pt x="80349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10041912" y="8203143"/>
            <a:ext cx="673632" cy="1264497"/>
          </a:xfrm>
          <a:custGeom>
            <a:avLst/>
            <a:gdLst/>
            <a:ahLst/>
            <a:cxnLst/>
            <a:rect l="l" t="t" r="r" b="b"/>
            <a:pathLst>
              <a:path w="673632" h="1264497">
                <a:moveTo>
                  <a:pt x="0" y="0"/>
                </a:moveTo>
                <a:lnTo>
                  <a:pt x="673633" y="0"/>
                </a:lnTo>
                <a:lnTo>
                  <a:pt x="673633" y="1264497"/>
                </a:lnTo>
                <a:lnTo>
                  <a:pt x="0" y="126449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a:off x="9548251" y="2389217"/>
            <a:ext cx="732632" cy="73263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3F1E"/>
            </a:solidFill>
          </p:spPr>
          <p:txBody>
            <a:bodyPr/>
            <a:lstStyle/>
            <a:p>
              <a:endParaRPr lang="en-US"/>
            </a:p>
          </p:txBody>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9548251" y="4592917"/>
            <a:ext cx="732632" cy="73263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61D3"/>
            </a:solidFill>
          </p:spPr>
          <p:txBody>
            <a:bodyPr/>
            <a:lstStyle/>
            <a:p>
              <a:endParaRPr lang="en-US"/>
            </a:p>
          </p:txBody>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
        <p:nvSpPr>
          <p:cNvPr id="17" name="TextBox 17"/>
          <p:cNvSpPr txBox="1"/>
          <p:nvPr/>
        </p:nvSpPr>
        <p:spPr>
          <a:xfrm>
            <a:off x="1578735" y="1732517"/>
            <a:ext cx="7565265" cy="1811020"/>
          </a:xfrm>
          <a:prstGeom prst="rect">
            <a:avLst/>
          </a:prstGeom>
        </p:spPr>
        <p:txBody>
          <a:bodyPr lIns="0" tIns="0" rIns="0" bIns="0" rtlCol="0" anchor="t">
            <a:spAutoFit/>
          </a:bodyPr>
          <a:lstStyle/>
          <a:p>
            <a:pPr algn="l">
              <a:lnSpc>
                <a:spcPts val="7280"/>
              </a:lnSpc>
              <a:spcBef>
                <a:spcPct val="0"/>
              </a:spcBef>
            </a:pPr>
            <a:r>
              <a:rPr lang="en-US" sz="5200">
                <a:solidFill>
                  <a:srgbClr val="FFFFFF"/>
                </a:solidFill>
                <a:latin typeface="Press Start 2P"/>
                <a:ea typeface="Press Start 2P"/>
                <a:cs typeface="Press Start 2P"/>
                <a:sym typeface="Press Start 2P"/>
              </a:rPr>
              <a:t>ABOUT THE COURSE</a:t>
            </a:r>
          </a:p>
        </p:txBody>
      </p:sp>
      <p:sp>
        <p:nvSpPr>
          <p:cNvPr id="18" name="TextBox 18"/>
          <p:cNvSpPr txBox="1"/>
          <p:nvPr/>
        </p:nvSpPr>
        <p:spPr>
          <a:xfrm>
            <a:off x="10638813" y="1842591"/>
            <a:ext cx="4010147" cy="1787785"/>
          </a:xfrm>
          <a:prstGeom prst="rect">
            <a:avLst/>
          </a:prstGeom>
        </p:spPr>
        <p:txBody>
          <a:bodyPr lIns="0" tIns="0" rIns="0" bIns="0" rtlCol="0" anchor="t">
            <a:spAutoFit/>
          </a:bodyPr>
          <a:lstStyle/>
          <a:p>
            <a:pPr algn="l">
              <a:lnSpc>
                <a:spcPts val="2875"/>
              </a:lnSpc>
              <a:spcBef>
                <a:spcPct val="0"/>
              </a:spcBef>
            </a:pPr>
            <a:r>
              <a:rPr lang="en-US" sz="2053">
                <a:solidFill>
                  <a:srgbClr val="FFFFFF"/>
                </a:solidFill>
                <a:latin typeface="Open Sans"/>
                <a:ea typeface="Open Sans"/>
                <a:cs typeface="Open Sans"/>
                <a:sym typeface="Open Sans"/>
              </a:rPr>
              <a:t>During the course, you will design and develop an original computer game, similar to </a:t>
            </a:r>
            <a:r>
              <a:rPr lang="en-US" sz="2053" u="sng">
                <a:solidFill>
                  <a:srgbClr val="FFFFFF"/>
                </a:solidFill>
                <a:latin typeface="Open Sans"/>
                <a:ea typeface="Open Sans"/>
                <a:cs typeface="Open Sans"/>
                <a:sym typeface="Open Sans"/>
                <a:hlinkClick r:id="rId6" tooltip="https://sites.google.com/view/gamedev-at-ariel"/>
              </a:rPr>
              <a:t>games created by students in previous years</a:t>
            </a:r>
            <a:r>
              <a:rPr lang="en-US" sz="2053">
                <a:solidFill>
                  <a:srgbClr val="FFFFFF"/>
                </a:solidFill>
                <a:latin typeface="Open Sans"/>
                <a:ea typeface="Open Sans"/>
                <a:cs typeface="Open Sans"/>
                <a:sym typeface="Open Sans"/>
              </a:rPr>
              <a:t>.</a:t>
            </a:r>
          </a:p>
        </p:txBody>
      </p:sp>
      <p:sp>
        <p:nvSpPr>
          <p:cNvPr id="19" name="TextBox 19"/>
          <p:cNvSpPr txBox="1"/>
          <p:nvPr/>
        </p:nvSpPr>
        <p:spPr>
          <a:xfrm>
            <a:off x="10638813" y="3866106"/>
            <a:ext cx="4010147" cy="2148155"/>
          </a:xfrm>
          <a:prstGeom prst="rect">
            <a:avLst/>
          </a:prstGeom>
        </p:spPr>
        <p:txBody>
          <a:bodyPr lIns="0" tIns="0" rIns="0" bIns="0" rtlCol="0" anchor="t">
            <a:spAutoFit/>
          </a:bodyPr>
          <a:lstStyle/>
          <a:p>
            <a:pPr algn="l">
              <a:lnSpc>
                <a:spcPts val="2875"/>
              </a:lnSpc>
              <a:spcBef>
                <a:spcPct val="0"/>
              </a:spcBef>
            </a:pPr>
            <a:r>
              <a:rPr lang="en-US" sz="2053">
                <a:solidFill>
                  <a:srgbClr val="FFFFFF"/>
                </a:solidFill>
                <a:latin typeface="Open Sans"/>
                <a:ea typeface="Open Sans"/>
                <a:cs typeface="Open Sans"/>
                <a:sym typeface="Open Sans"/>
              </a:rPr>
              <a:t>In the final class of the course, you will present your game to a panel of judges consisting of Senior Members From Leading Game Development Companies In Israel</a:t>
            </a:r>
          </a:p>
        </p:txBody>
      </p:sp>
      <p:sp>
        <p:nvSpPr>
          <p:cNvPr id="20" name="TextBox 20"/>
          <p:cNvSpPr txBox="1"/>
          <p:nvPr/>
        </p:nvSpPr>
        <p:spPr>
          <a:xfrm>
            <a:off x="1578735" y="4081892"/>
            <a:ext cx="6689441" cy="1323340"/>
          </a:xfrm>
          <a:prstGeom prst="rect">
            <a:avLst/>
          </a:prstGeom>
        </p:spPr>
        <p:txBody>
          <a:bodyPr lIns="0" tIns="0" rIns="0" bIns="0" rtlCol="0" anchor="t">
            <a:spAutoFit/>
          </a:bodyPr>
          <a:lstStyle/>
          <a:p>
            <a:pPr algn="l">
              <a:lnSpc>
                <a:spcPts val="2659"/>
              </a:lnSpc>
            </a:pPr>
            <a:r>
              <a:rPr lang="en-US" sz="1899">
                <a:solidFill>
                  <a:srgbClr val="FFFFFF"/>
                </a:solidFill>
                <a:latin typeface="Open Sans"/>
                <a:ea typeface="Open Sans"/>
                <a:cs typeface="Open Sans"/>
                <a:sym typeface="Open Sans"/>
              </a:rPr>
              <a:t>The course includes two main topics:</a:t>
            </a:r>
          </a:p>
          <a:p>
            <a:pPr marL="410209" lvl="1" indent="-205105" algn="l">
              <a:lnSpc>
                <a:spcPts val="2659"/>
              </a:lnSpc>
              <a:buFont typeface="Arial"/>
              <a:buChar char="•"/>
            </a:pPr>
            <a:r>
              <a:rPr lang="en-US" sz="1899">
                <a:solidFill>
                  <a:srgbClr val="FFFFFF"/>
                </a:solidFill>
                <a:latin typeface="Open Sans"/>
                <a:ea typeface="Open Sans"/>
                <a:cs typeface="Open Sans"/>
                <a:sym typeface="Open Sans"/>
              </a:rPr>
              <a:t>The process of designing and developing video games</a:t>
            </a:r>
          </a:p>
          <a:p>
            <a:pPr marL="410209" lvl="1" indent="-205105" algn="l">
              <a:lnSpc>
                <a:spcPts val="2659"/>
              </a:lnSpc>
              <a:buFont typeface="Arial"/>
              <a:buChar char="•"/>
            </a:pPr>
            <a:r>
              <a:rPr lang="en-US" sz="1899">
                <a:solidFill>
                  <a:srgbClr val="FFFFFF"/>
                </a:solidFill>
                <a:latin typeface="Open Sans"/>
                <a:ea typeface="Open Sans"/>
                <a:cs typeface="Open Sans"/>
                <a:sym typeface="Open Sans"/>
              </a:rPr>
              <a:t>Game programming in C# and the Unity engine</a:t>
            </a:r>
          </a:p>
          <a:p>
            <a:pPr algn="l">
              <a:lnSpc>
                <a:spcPts val="2659"/>
              </a:lnSpc>
              <a:spcBef>
                <a:spcPct val="0"/>
              </a:spcBef>
            </a:pPr>
            <a:endParaRPr lang="en-US" sz="1899">
              <a:solidFill>
                <a:srgbClr val="FFFFFF"/>
              </a:solidFill>
              <a:latin typeface="Open Sans"/>
              <a:ea typeface="Open Sans"/>
              <a:cs typeface="Open Sans"/>
              <a:sym typeface="Open Sans"/>
            </a:endParaRPr>
          </a:p>
        </p:txBody>
      </p:sp>
      <p:sp>
        <p:nvSpPr>
          <p:cNvPr id="21" name="Freeform 21"/>
          <p:cNvSpPr/>
          <p:nvPr/>
        </p:nvSpPr>
        <p:spPr>
          <a:xfrm>
            <a:off x="-417805" y="818270"/>
            <a:ext cx="2772796" cy="494062"/>
          </a:xfrm>
          <a:custGeom>
            <a:avLst/>
            <a:gdLst/>
            <a:ahLst/>
            <a:cxnLst/>
            <a:rect l="l" t="t" r="r" b="b"/>
            <a:pathLst>
              <a:path w="2772796" h="494062">
                <a:moveTo>
                  <a:pt x="0" y="0"/>
                </a:moveTo>
                <a:lnTo>
                  <a:pt x="2772796" y="0"/>
                </a:lnTo>
                <a:lnTo>
                  <a:pt x="2772796" y="494062"/>
                </a:lnTo>
                <a:lnTo>
                  <a:pt x="0" y="49406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2" name="Freeform 22"/>
          <p:cNvSpPr/>
          <p:nvPr/>
        </p:nvSpPr>
        <p:spPr>
          <a:xfrm>
            <a:off x="17022813" y="4959233"/>
            <a:ext cx="2772796" cy="494062"/>
          </a:xfrm>
          <a:custGeom>
            <a:avLst/>
            <a:gdLst/>
            <a:ahLst/>
            <a:cxnLst/>
            <a:rect l="l" t="t" r="r" b="b"/>
            <a:pathLst>
              <a:path w="2772796" h="494062">
                <a:moveTo>
                  <a:pt x="0" y="0"/>
                </a:moveTo>
                <a:lnTo>
                  <a:pt x="2772796" y="0"/>
                </a:lnTo>
                <a:lnTo>
                  <a:pt x="2772796" y="494062"/>
                </a:lnTo>
                <a:lnTo>
                  <a:pt x="0" y="49406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3" name="Freeform 23"/>
          <p:cNvSpPr/>
          <p:nvPr/>
        </p:nvSpPr>
        <p:spPr>
          <a:xfrm>
            <a:off x="15334540" y="640416"/>
            <a:ext cx="1924760" cy="671916"/>
          </a:xfrm>
          <a:custGeom>
            <a:avLst/>
            <a:gdLst/>
            <a:ahLst/>
            <a:cxnLst/>
            <a:rect l="l" t="t" r="r" b="b"/>
            <a:pathLst>
              <a:path w="1924760" h="671916">
                <a:moveTo>
                  <a:pt x="0" y="0"/>
                </a:moveTo>
                <a:lnTo>
                  <a:pt x="1924760" y="0"/>
                </a:lnTo>
                <a:lnTo>
                  <a:pt x="1924760" y="671916"/>
                </a:lnTo>
                <a:lnTo>
                  <a:pt x="0" y="67191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4" name="Freeform 24"/>
          <p:cNvSpPr/>
          <p:nvPr/>
        </p:nvSpPr>
        <p:spPr>
          <a:xfrm>
            <a:off x="555370" y="3470934"/>
            <a:ext cx="951586" cy="332190"/>
          </a:xfrm>
          <a:custGeom>
            <a:avLst/>
            <a:gdLst/>
            <a:ahLst/>
            <a:cxnLst/>
            <a:rect l="l" t="t" r="r" b="b"/>
            <a:pathLst>
              <a:path w="951586" h="332190">
                <a:moveTo>
                  <a:pt x="0" y="0"/>
                </a:moveTo>
                <a:lnTo>
                  <a:pt x="951585" y="0"/>
                </a:lnTo>
                <a:lnTo>
                  <a:pt x="951585" y="332190"/>
                </a:lnTo>
                <a:lnTo>
                  <a:pt x="0" y="33219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5" name="Freeform 25"/>
          <p:cNvSpPr/>
          <p:nvPr/>
        </p:nvSpPr>
        <p:spPr>
          <a:xfrm flipH="1">
            <a:off x="7832716" y="644363"/>
            <a:ext cx="1952021" cy="347815"/>
          </a:xfrm>
          <a:custGeom>
            <a:avLst/>
            <a:gdLst/>
            <a:ahLst/>
            <a:cxnLst/>
            <a:rect l="l" t="t" r="r" b="b"/>
            <a:pathLst>
              <a:path w="1952021" h="347815">
                <a:moveTo>
                  <a:pt x="1952021" y="0"/>
                </a:moveTo>
                <a:lnTo>
                  <a:pt x="0" y="0"/>
                </a:lnTo>
                <a:lnTo>
                  <a:pt x="0" y="347815"/>
                </a:lnTo>
                <a:lnTo>
                  <a:pt x="1952021" y="347815"/>
                </a:lnTo>
                <a:lnTo>
                  <a:pt x="1952021"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pic>
        <p:nvPicPr>
          <p:cNvPr id="26" name="Picture 26"/>
          <p:cNvPicPr>
            <a:picLocks noChangeAspect="1"/>
          </p:cNvPicPr>
          <p:nvPr/>
        </p:nvPicPr>
        <p:blipFill>
          <a:blip r:embed="rId9"/>
          <a:stretch>
            <a:fillRect/>
          </a:stretch>
        </p:blipFill>
        <p:spPr>
          <a:xfrm>
            <a:off x="15090841" y="1705057"/>
            <a:ext cx="2107606" cy="21076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TextBox 5"/>
          <p:cNvSpPr txBox="1"/>
          <p:nvPr/>
        </p:nvSpPr>
        <p:spPr>
          <a:xfrm>
            <a:off x="1769265" y="2279674"/>
            <a:ext cx="8055131" cy="1111251"/>
          </a:xfrm>
          <a:prstGeom prst="rect">
            <a:avLst/>
          </a:prstGeom>
        </p:spPr>
        <p:txBody>
          <a:bodyPr lIns="0" tIns="0" rIns="0" bIns="0" rtlCol="0" anchor="t">
            <a:spAutoFit/>
          </a:bodyPr>
          <a:lstStyle/>
          <a:p>
            <a:pPr algn="l">
              <a:lnSpc>
                <a:spcPts val="9099"/>
              </a:lnSpc>
              <a:spcBef>
                <a:spcPct val="0"/>
              </a:spcBef>
            </a:pPr>
            <a:r>
              <a:rPr lang="en-US" sz="6499" dirty="0">
                <a:solidFill>
                  <a:srgbClr val="D70400"/>
                </a:solidFill>
                <a:latin typeface="Press Start 2P"/>
                <a:ea typeface="Press Start 2P"/>
                <a:cs typeface="Press Start 2P"/>
                <a:sym typeface="Press Start 2P"/>
              </a:rPr>
              <a:t>DISCLAMER</a:t>
            </a:r>
          </a:p>
        </p:txBody>
      </p:sp>
      <p:sp>
        <p:nvSpPr>
          <p:cNvPr id="6" name="TextBox 6"/>
          <p:cNvSpPr txBox="1"/>
          <p:nvPr/>
        </p:nvSpPr>
        <p:spPr>
          <a:xfrm>
            <a:off x="457200" y="3399528"/>
            <a:ext cx="17678400" cy="3487943"/>
          </a:xfrm>
          <a:prstGeom prst="rect">
            <a:avLst/>
          </a:prstGeom>
        </p:spPr>
        <p:txBody>
          <a:bodyPr wrap="square" lIns="0" tIns="0" rIns="0" bIns="0" rtlCol="0" anchor="t">
            <a:spAutoFit/>
          </a:bodyPr>
          <a:lstStyle/>
          <a:p>
            <a:pPr marL="712938" lvl="1" indent="-356469" algn="l">
              <a:lnSpc>
                <a:spcPts val="4623"/>
              </a:lnSpc>
              <a:buFont typeface="Arial"/>
              <a:buChar char="•"/>
            </a:pPr>
            <a:r>
              <a:rPr lang="en-US" sz="2900" dirty="0">
                <a:solidFill>
                  <a:srgbClr val="FFFFFF"/>
                </a:solidFill>
                <a:latin typeface="Open Sans"/>
                <a:ea typeface="Open Sans"/>
                <a:cs typeface="Open Sans"/>
                <a:sym typeface="Open Sans"/>
              </a:rPr>
              <a:t>This course is intensive and time demanding</a:t>
            </a:r>
            <a:r>
              <a:rPr lang="he-IL" sz="2900" dirty="0">
                <a:solidFill>
                  <a:srgbClr val="FFFFFF"/>
                </a:solidFill>
                <a:latin typeface="Open Sans"/>
                <a:ea typeface="Open Sans"/>
                <a:cs typeface="Open Sans"/>
                <a:sym typeface="Open Sans"/>
              </a:rPr>
              <a:t>  </a:t>
            </a:r>
            <a:r>
              <a:rPr lang="en-US" sz="2900" dirty="0">
                <a:solidFill>
                  <a:srgbClr val="FFFFFF"/>
                </a:solidFill>
                <a:latin typeface="Open Sans"/>
                <a:ea typeface="Open Sans"/>
                <a:cs typeface="Open Sans"/>
                <a:sym typeface="Open Sans"/>
              </a:rPr>
              <a:t> (But really satisfying)</a:t>
            </a:r>
          </a:p>
          <a:p>
            <a:pPr marL="712938" lvl="1" indent="-356469" algn="l">
              <a:lnSpc>
                <a:spcPts val="4623"/>
              </a:lnSpc>
              <a:buFont typeface="Arial"/>
              <a:buChar char="•"/>
            </a:pPr>
            <a:r>
              <a:rPr lang="en-US" sz="2900" dirty="0">
                <a:solidFill>
                  <a:srgbClr val="FFFFFF"/>
                </a:solidFill>
                <a:latin typeface="Open Sans"/>
                <a:ea typeface="Open Sans"/>
                <a:cs typeface="Open Sans"/>
                <a:sym typeface="Open Sans"/>
              </a:rPr>
              <a:t>An Assignment Per Week (Which Is Basically A Step In Developing Your Game Through The Course)</a:t>
            </a:r>
          </a:p>
          <a:p>
            <a:pPr marL="712938" lvl="1" indent="-356469" algn="l">
              <a:lnSpc>
                <a:spcPts val="4623"/>
              </a:lnSpc>
              <a:buFont typeface="Arial"/>
              <a:buChar char="•"/>
            </a:pPr>
            <a:r>
              <a:rPr lang="en-US" sz="2900" dirty="0">
                <a:solidFill>
                  <a:srgbClr val="FFFFFF"/>
                </a:solidFill>
                <a:latin typeface="Open Sans"/>
                <a:ea typeface="Open Sans"/>
                <a:cs typeface="Open Sans"/>
                <a:sym typeface="Open Sans"/>
              </a:rPr>
              <a:t>Requires self learning and teamwork beyond class time (DUH)</a:t>
            </a:r>
          </a:p>
          <a:p>
            <a:pPr marL="712938" lvl="1" indent="-356469" algn="l">
              <a:lnSpc>
                <a:spcPts val="4623"/>
              </a:lnSpc>
              <a:buFont typeface="Arial"/>
              <a:buChar char="•"/>
            </a:pPr>
            <a:r>
              <a:rPr lang="en-US" sz="2900" dirty="0">
                <a:solidFill>
                  <a:srgbClr val="FFFFFF"/>
                </a:solidFill>
                <a:latin typeface="Open Sans"/>
                <a:ea typeface="Open Sans"/>
                <a:cs typeface="Open Sans"/>
                <a:sym typeface="Open Sans"/>
              </a:rPr>
              <a:t>Creativity Is a Must Have!</a:t>
            </a:r>
          </a:p>
          <a:p>
            <a:pPr marL="712938" lvl="1" indent="-356469" algn="l">
              <a:lnSpc>
                <a:spcPts val="4623"/>
              </a:lnSpc>
              <a:buFont typeface="Arial"/>
              <a:buChar char="•"/>
            </a:pPr>
            <a:r>
              <a:rPr lang="en-US" sz="2900" dirty="0">
                <a:solidFill>
                  <a:srgbClr val="FFFFFF"/>
                </a:solidFill>
                <a:latin typeface="Open Sans"/>
                <a:ea typeface="Open Sans"/>
                <a:cs typeface="Open Sans"/>
                <a:sym typeface="Open Sans"/>
              </a:rPr>
              <a:t>If you’re here to learn, create, and challenge yourself, then Welcome Aboard!</a:t>
            </a:r>
          </a:p>
          <a:p>
            <a:pPr algn="l">
              <a:lnSpc>
                <a:spcPts val="4623"/>
              </a:lnSpc>
              <a:spcBef>
                <a:spcPct val="0"/>
              </a:spcBef>
            </a:pPr>
            <a:endParaRPr lang="en-US" sz="2900" dirty="0">
              <a:solidFill>
                <a:srgbClr val="FFFFFF"/>
              </a:solidFill>
              <a:latin typeface="Open Sans"/>
              <a:ea typeface="Open Sans"/>
              <a:cs typeface="Open Sans"/>
              <a:sym typeface="Open Sans"/>
            </a:endParaRPr>
          </a:p>
        </p:txBody>
      </p:sp>
      <p:sp>
        <p:nvSpPr>
          <p:cNvPr id="7" name="TextBox 7"/>
          <p:cNvSpPr txBox="1"/>
          <p:nvPr/>
        </p:nvSpPr>
        <p:spPr>
          <a:xfrm>
            <a:off x="-14748" y="2128794"/>
            <a:ext cx="1784014" cy="1089730"/>
          </a:xfrm>
          <a:prstGeom prst="rect">
            <a:avLst/>
          </a:prstGeom>
        </p:spPr>
        <p:txBody>
          <a:bodyPr lIns="0" tIns="0" rIns="0" bIns="0" rtlCol="0" anchor="t">
            <a:spAutoFit/>
          </a:bodyPr>
          <a:lstStyle/>
          <a:p>
            <a:pPr algn="ctr">
              <a:lnSpc>
                <a:spcPts val="9061"/>
              </a:lnSpc>
              <a:spcBef>
                <a:spcPct val="0"/>
              </a:spcBef>
            </a:pPr>
            <a:r>
              <a:rPr lang="en-US" sz="6472" b="1" dirty="0">
                <a:solidFill>
                  <a:srgbClr val="FFFFFF"/>
                </a:solidFill>
                <a:latin typeface="Open Sans Bold"/>
                <a:ea typeface="Open Sans Bold"/>
                <a:cs typeface="Open Sans Bold"/>
                <a:sym typeface="Open Sans Bold"/>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a:off x="14871210" y="1837682"/>
            <a:ext cx="4776180" cy="7420618"/>
          </a:xfrm>
          <a:custGeom>
            <a:avLst/>
            <a:gdLst/>
            <a:ahLst/>
            <a:cxnLst/>
            <a:rect l="l" t="t" r="r" b="b"/>
            <a:pathLst>
              <a:path w="4776180" h="7420618">
                <a:moveTo>
                  <a:pt x="4776180" y="0"/>
                </a:moveTo>
                <a:lnTo>
                  <a:pt x="0" y="0"/>
                </a:lnTo>
                <a:lnTo>
                  <a:pt x="0" y="7420618"/>
                </a:lnTo>
                <a:lnTo>
                  <a:pt x="4776180" y="7420618"/>
                </a:lnTo>
                <a:lnTo>
                  <a:pt x="477618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9069133" y="7534381"/>
            <a:ext cx="1126068" cy="1126068"/>
          </a:xfrm>
          <a:custGeom>
            <a:avLst/>
            <a:gdLst/>
            <a:ahLst/>
            <a:cxnLst/>
            <a:rect l="l" t="t" r="r" b="b"/>
            <a:pathLst>
              <a:path w="1126068" h="1126068">
                <a:moveTo>
                  <a:pt x="0" y="0"/>
                </a:moveTo>
                <a:lnTo>
                  <a:pt x="1126068" y="0"/>
                </a:lnTo>
                <a:lnTo>
                  <a:pt x="1126068" y="1126068"/>
                </a:lnTo>
                <a:lnTo>
                  <a:pt x="0" y="11260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618844" y="2451478"/>
            <a:ext cx="9881185" cy="1120775"/>
          </a:xfrm>
          <a:prstGeom prst="rect">
            <a:avLst/>
          </a:prstGeom>
        </p:spPr>
        <p:txBody>
          <a:bodyPr lIns="0" tIns="0" rIns="0" bIns="0" rtlCol="0" anchor="t">
            <a:spAutoFit/>
          </a:bodyPr>
          <a:lstStyle/>
          <a:p>
            <a:pPr algn="l">
              <a:lnSpc>
                <a:spcPts val="9100"/>
              </a:lnSpc>
              <a:spcBef>
                <a:spcPct val="0"/>
              </a:spcBef>
            </a:pPr>
            <a:r>
              <a:rPr lang="en-US" sz="6500">
                <a:solidFill>
                  <a:srgbClr val="FFFFFF"/>
                </a:solidFill>
                <a:latin typeface="Press Start 2P"/>
                <a:ea typeface="Press Start 2P"/>
                <a:cs typeface="Press Start 2P"/>
                <a:sym typeface="Press Start 2P"/>
              </a:rPr>
              <a:t>GAME RULES:</a:t>
            </a:r>
          </a:p>
        </p:txBody>
      </p:sp>
      <p:sp>
        <p:nvSpPr>
          <p:cNvPr id="8" name="TextBox 8"/>
          <p:cNvSpPr txBox="1"/>
          <p:nvPr/>
        </p:nvSpPr>
        <p:spPr>
          <a:xfrm>
            <a:off x="1042654" y="4641171"/>
            <a:ext cx="15254266" cy="2663743"/>
          </a:xfrm>
          <a:prstGeom prst="rect">
            <a:avLst/>
          </a:prstGeom>
        </p:spPr>
        <p:txBody>
          <a:bodyPr lIns="0" tIns="0" rIns="0" bIns="0" rtlCol="0" anchor="t">
            <a:spAutoFit/>
          </a:bodyPr>
          <a:lstStyle/>
          <a:p>
            <a:pPr marL="540535" lvl="1" indent="-270267" algn="l">
              <a:lnSpc>
                <a:spcPts val="3505"/>
              </a:lnSpc>
              <a:buFont typeface="Arial"/>
              <a:buChar char="•"/>
            </a:pPr>
            <a:r>
              <a:rPr lang="en-US" sz="2503" dirty="0">
                <a:solidFill>
                  <a:srgbClr val="FFFFFF"/>
                </a:solidFill>
                <a:latin typeface="Open Sans"/>
                <a:ea typeface="Open Sans"/>
                <a:cs typeface="Open Sans"/>
                <a:sym typeface="Open Sans"/>
              </a:rPr>
              <a:t>No final exam:  your grade is based on points earned during the semester</a:t>
            </a:r>
          </a:p>
          <a:p>
            <a:pPr marL="540535" lvl="1" indent="-270267" algn="l">
              <a:lnSpc>
                <a:spcPts val="3505"/>
              </a:lnSpc>
              <a:buFont typeface="Arial"/>
              <a:buChar char="•"/>
            </a:pPr>
            <a:r>
              <a:rPr lang="en-US" sz="2503" dirty="0">
                <a:solidFill>
                  <a:srgbClr val="FFFFFF"/>
                </a:solidFill>
                <a:latin typeface="Open Sans"/>
                <a:ea typeface="Open Sans"/>
                <a:cs typeface="Open Sans"/>
                <a:sym typeface="Open Sans"/>
              </a:rPr>
              <a:t>Assignments:  3-6 points each (Depending On The Assignment)</a:t>
            </a:r>
          </a:p>
          <a:p>
            <a:pPr marL="540535" lvl="1" indent="-270267" algn="l">
              <a:lnSpc>
                <a:spcPts val="3505"/>
              </a:lnSpc>
              <a:buFont typeface="Arial"/>
              <a:buChar char="•"/>
            </a:pPr>
            <a:r>
              <a:rPr lang="en-US" sz="2503" dirty="0">
                <a:solidFill>
                  <a:srgbClr val="FFFFFF"/>
                </a:solidFill>
                <a:latin typeface="Open Sans"/>
                <a:ea typeface="Open Sans"/>
                <a:cs typeface="Open Sans"/>
                <a:sym typeface="Open Sans"/>
              </a:rPr>
              <a:t>In Class Presentation: 12 points for an individual presenter (split if presented by more than one)</a:t>
            </a:r>
          </a:p>
          <a:p>
            <a:pPr marL="540535" lvl="1" indent="-270267" algn="l">
              <a:lnSpc>
                <a:spcPts val="3505"/>
              </a:lnSpc>
              <a:buFont typeface="Arial"/>
              <a:buChar char="•"/>
            </a:pPr>
            <a:r>
              <a:rPr lang="en-US" sz="2503" dirty="0">
                <a:solidFill>
                  <a:srgbClr val="FFFFFF"/>
                </a:solidFill>
                <a:latin typeface="Open Sans"/>
                <a:ea typeface="Open Sans"/>
                <a:cs typeface="Open Sans"/>
                <a:sym typeface="Open Sans"/>
              </a:rPr>
              <a:t>Final Game Presentation: 10 points for showing a working 5 minute demo during Game Day</a:t>
            </a:r>
          </a:p>
          <a:p>
            <a:pPr marL="540535" lvl="1" indent="-270267" algn="l">
              <a:lnSpc>
                <a:spcPts val="3505"/>
              </a:lnSpc>
              <a:buFont typeface="Arial"/>
              <a:buChar char="•"/>
            </a:pPr>
            <a:r>
              <a:rPr lang="en-US" sz="2503" dirty="0">
                <a:solidFill>
                  <a:srgbClr val="FFFFFF"/>
                </a:solidFill>
                <a:latin typeface="Open Sans"/>
                <a:ea typeface="Open Sans"/>
                <a:cs typeface="Open Sans"/>
                <a:sym typeface="Open Sans"/>
              </a:rPr>
              <a:t>Excellence Award: +10 bonus points for top 3 teams chosen by industry judges</a:t>
            </a:r>
          </a:p>
          <a:p>
            <a:pPr algn="l">
              <a:lnSpc>
                <a:spcPts val="3505"/>
              </a:lnSpc>
              <a:spcBef>
                <a:spcPct val="0"/>
              </a:spcBef>
            </a:pPr>
            <a:endParaRPr lang="en-US" sz="2503" dirty="0">
              <a:solidFill>
                <a:srgbClr val="FFFFFF"/>
              </a:solidFill>
              <a:latin typeface="Open Sans"/>
              <a:ea typeface="Open Sans"/>
              <a:cs typeface="Open Sans"/>
              <a:sym typeface="Open Sans"/>
            </a:endParaRPr>
          </a:p>
        </p:txBody>
      </p:sp>
      <p:sp>
        <p:nvSpPr>
          <p:cNvPr id="9" name="Freeform 9"/>
          <p:cNvSpPr/>
          <p:nvPr/>
        </p:nvSpPr>
        <p:spPr>
          <a:xfrm>
            <a:off x="13303005" y="3572253"/>
            <a:ext cx="1126068" cy="1126068"/>
          </a:xfrm>
          <a:custGeom>
            <a:avLst/>
            <a:gdLst/>
            <a:ahLst/>
            <a:cxnLst/>
            <a:rect l="l" t="t" r="r" b="b"/>
            <a:pathLst>
              <a:path w="1126068" h="1126068">
                <a:moveTo>
                  <a:pt x="0" y="0"/>
                </a:moveTo>
                <a:lnTo>
                  <a:pt x="1126068" y="0"/>
                </a:lnTo>
                <a:lnTo>
                  <a:pt x="1126068" y="1126068"/>
                </a:lnTo>
                <a:lnTo>
                  <a:pt x="0" y="11260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10395044" y="751416"/>
            <a:ext cx="1126068" cy="1126068"/>
          </a:xfrm>
          <a:custGeom>
            <a:avLst/>
            <a:gdLst/>
            <a:ahLst/>
            <a:cxnLst/>
            <a:rect l="l" t="t" r="r" b="b"/>
            <a:pathLst>
              <a:path w="1126068" h="1126068">
                <a:moveTo>
                  <a:pt x="0" y="0"/>
                </a:moveTo>
                <a:lnTo>
                  <a:pt x="1126068" y="0"/>
                </a:lnTo>
                <a:lnTo>
                  <a:pt x="1126068" y="1126068"/>
                </a:lnTo>
                <a:lnTo>
                  <a:pt x="0" y="11260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15334540" y="640416"/>
            <a:ext cx="1924760" cy="671916"/>
          </a:xfrm>
          <a:custGeom>
            <a:avLst/>
            <a:gdLst/>
            <a:ahLst/>
            <a:cxnLst/>
            <a:rect l="l" t="t" r="r" b="b"/>
            <a:pathLst>
              <a:path w="1924760" h="671916">
                <a:moveTo>
                  <a:pt x="0" y="0"/>
                </a:moveTo>
                <a:lnTo>
                  <a:pt x="1924760" y="0"/>
                </a:lnTo>
                <a:lnTo>
                  <a:pt x="1924760" y="671916"/>
                </a:lnTo>
                <a:lnTo>
                  <a:pt x="0" y="6719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a:off x="-1305916" y="3781615"/>
            <a:ext cx="1924760" cy="671916"/>
          </a:xfrm>
          <a:custGeom>
            <a:avLst/>
            <a:gdLst/>
            <a:ahLst/>
            <a:cxnLst/>
            <a:rect l="l" t="t" r="r" b="b"/>
            <a:pathLst>
              <a:path w="1924760" h="671916">
                <a:moveTo>
                  <a:pt x="0" y="0"/>
                </a:moveTo>
                <a:lnTo>
                  <a:pt x="1924760" y="0"/>
                </a:lnTo>
                <a:lnTo>
                  <a:pt x="1924760" y="671916"/>
                </a:lnTo>
                <a:lnTo>
                  <a:pt x="0" y="6719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13"/>
          <p:cNvSpPr/>
          <p:nvPr/>
        </p:nvSpPr>
        <p:spPr>
          <a:xfrm>
            <a:off x="2386897" y="471267"/>
            <a:ext cx="969082" cy="338298"/>
          </a:xfrm>
          <a:custGeom>
            <a:avLst/>
            <a:gdLst/>
            <a:ahLst/>
            <a:cxnLst/>
            <a:rect l="l" t="t" r="r" b="b"/>
            <a:pathLst>
              <a:path w="969082" h="338298">
                <a:moveTo>
                  <a:pt x="0" y="0"/>
                </a:moveTo>
                <a:lnTo>
                  <a:pt x="969082" y="0"/>
                </a:lnTo>
                <a:lnTo>
                  <a:pt x="969082" y="338298"/>
                </a:lnTo>
                <a:lnTo>
                  <a:pt x="0" y="3382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a:off x="3136996" y="7281375"/>
            <a:ext cx="1126068" cy="1126068"/>
          </a:xfrm>
          <a:custGeom>
            <a:avLst/>
            <a:gdLst/>
            <a:ahLst/>
            <a:cxnLst/>
            <a:rect l="l" t="t" r="r" b="b"/>
            <a:pathLst>
              <a:path w="1126068" h="1126068">
                <a:moveTo>
                  <a:pt x="0" y="0"/>
                </a:moveTo>
                <a:lnTo>
                  <a:pt x="1126068" y="0"/>
                </a:lnTo>
                <a:lnTo>
                  <a:pt x="1126068" y="1126068"/>
                </a:lnTo>
                <a:lnTo>
                  <a:pt x="0" y="11260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2010928" y="4580466"/>
            <a:ext cx="1126068" cy="1126068"/>
          </a:xfrm>
          <a:custGeom>
            <a:avLst/>
            <a:gdLst/>
            <a:ahLst/>
            <a:cxnLst/>
            <a:rect l="l" t="t" r="r" b="b"/>
            <a:pathLst>
              <a:path w="1126068" h="1126068">
                <a:moveTo>
                  <a:pt x="0" y="0"/>
                </a:moveTo>
                <a:lnTo>
                  <a:pt x="1126068" y="0"/>
                </a:lnTo>
                <a:lnTo>
                  <a:pt x="1126068" y="1126068"/>
                </a:lnTo>
                <a:lnTo>
                  <a:pt x="0" y="11260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4996402" y="3327463"/>
            <a:ext cx="1126068" cy="1126068"/>
          </a:xfrm>
          <a:custGeom>
            <a:avLst/>
            <a:gdLst/>
            <a:ahLst/>
            <a:cxnLst/>
            <a:rect l="l" t="t" r="r" b="b"/>
            <a:pathLst>
              <a:path w="1126068" h="1126068">
                <a:moveTo>
                  <a:pt x="0" y="0"/>
                </a:moveTo>
                <a:lnTo>
                  <a:pt x="1126068" y="0"/>
                </a:lnTo>
                <a:lnTo>
                  <a:pt x="1126068" y="1126068"/>
                </a:lnTo>
                <a:lnTo>
                  <a:pt x="0" y="11260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1305916" y="3781615"/>
            <a:ext cx="1924760" cy="671916"/>
          </a:xfrm>
          <a:custGeom>
            <a:avLst/>
            <a:gdLst/>
            <a:ahLst/>
            <a:cxnLst/>
            <a:rect l="l" t="t" r="r" b="b"/>
            <a:pathLst>
              <a:path w="1924760" h="671916">
                <a:moveTo>
                  <a:pt x="0" y="0"/>
                </a:moveTo>
                <a:lnTo>
                  <a:pt x="1924760" y="0"/>
                </a:lnTo>
                <a:lnTo>
                  <a:pt x="1924760" y="671916"/>
                </a:lnTo>
                <a:lnTo>
                  <a:pt x="0" y="6719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2386897" y="471267"/>
            <a:ext cx="969082" cy="338298"/>
          </a:xfrm>
          <a:custGeom>
            <a:avLst/>
            <a:gdLst/>
            <a:ahLst/>
            <a:cxnLst/>
            <a:rect l="l" t="t" r="r" b="b"/>
            <a:pathLst>
              <a:path w="969082" h="338298">
                <a:moveTo>
                  <a:pt x="0" y="0"/>
                </a:moveTo>
                <a:lnTo>
                  <a:pt x="969082" y="0"/>
                </a:lnTo>
                <a:lnTo>
                  <a:pt x="969082" y="338298"/>
                </a:lnTo>
                <a:lnTo>
                  <a:pt x="0" y="3382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TextBox 11"/>
          <p:cNvSpPr txBox="1"/>
          <p:nvPr/>
        </p:nvSpPr>
        <p:spPr>
          <a:xfrm>
            <a:off x="618844" y="1357691"/>
            <a:ext cx="9881185" cy="1120775"/>
          </a:xfrm>
          <a:prstGeom prst="rect">
            <a:avLst/>
          </a:prstGeom>
        </p:spPr>
        <p:txBody>
          <a:bodyPr lIns="0" tIns="0" rIns="0" bIns="0" rtlCol="0" anchor="t">
            <a:spAutoFit/>
          </a:bodyPr>
          <a:lstStyle/>
          <a:p>
            <a:pPr algn="l">
              <a:lnSpc>
                <a:spcPts val="9100"/>
              </a:lnSpc>
              <a:spcBef>
                <a:spcPct val="0"/>
              </a:spcBef>
            </a:pPr>
            <a:r>
              <a:rPr lang="en-US" sz="6500">
                <a:solidFill>
                  <a:srgbClr val="FFFFFF"/>
                </a:solidFill>
                <a:latin typeface="Press Start 2P"/>
                <a:ea typeface="Press Start 2P"/>
                <a:cs typeface="Press Start 2P"/>
                <a:sym typeface="Press Start 2P"/>
              </a:rPr>
              <a:t>TIMETABLE</a:t>
            </a:r>
          </a:p>
        </p:txBody>
      </p:sp>
      <p:pic>
        <p:nvPicPr>
          <p:cNvPr id="29" name="Picture 28">
            <a:extLst>
              <a:ext uri="{FF2B5EF4-FFF2-40B4-BE49-F238E27FC236}">
                <a16:creationId xmlns:a16="http://schemas.microsoft.com/office/drawing/2014/main" id="{ED8E32A7-16B0-3D45-4C38-78DFE12196A4}"/>
              </a:ext>
            </a:extLst>
          </p:cNvPr>
          <p:cNvPicPr>
            <a:picLocks noChangeAspect="1"/>
          </p:cNvPicPr>
          <p:nvPr/>
        </p:nvPicPr>
        <p:blipFill>
          <a:blip r:embed="rId5"/>
          <a:stretch>
            <a:fillRect/>
          </a:stretch>
        </p:blipFill>
        <p:spPr>
          <a:xfrm>
            <a:off x="9982200" y="952500"/>
            <a:ext cx="6318697" cy="78843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4163B"/>
        </a:solidFill>
        <a:effectLst/>
      </p:bgPr>
    </p:bg>
    <p:spTree>
      <p:nvGrpSpPr>
        <p:cNvPr id="1" name=""/>
        <p:cNvGrpSpPr/>
        <p:nvPr/>
      </p:nvGrpSpPr>
      <p:grpSpPr>
        <a:xfrm>
          <a:off x="0" y="0"/>
          <a:ext cx="0" cy="0"/>
          <a:chOff x="0" y="0"/>
          <a:chExt cx="0" cy="0"/>
        </a:xfrm>
      </p:grpSpPr>
      <p:sp>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3943837" y="1686910"/>
            <a:ext cx="3974971" cy="7752602"/>
          </a:xfrm>
          <a:custGeom>
            <a:avLst/>
            <a:gdLst/>
            <a:ahLst/>
            <a:cxnLst/>
            <a:rect l="l" t="t" r="r" b="b"/>
            <a:pathLst>
              <a:path w="3974971" h="7752602">
                <a:moveTo>
                  <a:pt x="0" y="0"/>
                </a:moveTo>
                <a:lnTo>
                  <a:pt x="3974970" y="0"/>
                </a:lnTo>
                <a:lnTo>
                  <a:pt x="3974970" y="7752602"/>
                </a:lnTo>
                <a:lnTo>
                  <a:pt x="0" y="77526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TextBox 6"/>
          <p:cNvSpPr txBox="1"/>
          <p:nvPr/>
        </p:nvSpPr>
        <p:spPr>
          <a:xfrm>
            <a:off x="1475450" y="618677"/>
            <a:ext cx="14455872" cy="1811020"/>
          </a:xfrm>
          <a:prstGeom prst="rect">
            <a:avLst/>
          </a:prstGeom>
        </p:spPr>
        <p:txBody>
          <a:bodyPr lIns="0" tIns="0" rIns="0" bIns="0" rtlCol="0" anchor="t">
            <a:spAutoFit/>
          </a:bodyPr>
          <a:lstStyle/>
          <a:p>
            <a:pPr algn="l">
              <a:lnSpc>
                <a:spcPts val="7280"/>
              </a:lnSpc>
              <a:spcBef>
                <a:spcPct val="0"/>
              </a:spcBef>
            </a:pPr>
            <a:r>
              <a:rPr lang="en-US" sz="5200">
                <a:solidFill>
                  <a:srgbClr val="FFFFFF"/>
                </a:solidFill>
                <a:latin typeface="Press Start 2P"/>
                <a:ea typeface="Press Start 2P"/>
                <a:cs typeface="Press Start 2P"/>
                <a:sym typeface="Press Start 2P"/>
              </a:rPr>
              <a:t>GAMING INDUSTRY IN ISRAEL</a:t>
            </a:r>
          </a:p>
        </p:txBody>
      </p:sp>
      <p:sp>
        <p:nvSpPr>
          <p:cNvPr id="7" name="Freeform 7"/>
          <p:cNvSpPr/>
          <p:nvPr/>
        </p:nvSpPr>
        <p:spPr>
          <a:xfrm>
            <a:off x="17108190" y="488388"/>
            <a:ext cx="1924760" cy="671916"/>
          </a:xfrm>
          <a:custGeom>
            <a:avLst/>
            <a:gdLst/>
            <a:ahLst/>
            <a:cxnLst/>
            <a:rect l="l" t="t" r="r" b="b"/>
            <a:pathLst>
              <a:path w="1924760" h="671916">
                <a:moveTo>
                  <a:pt x="0" y="0"/>
                </a:moveTo>
                <a:lnTo>
                  <a:pt x="1924761" y="0"/>
                </a:lnTo>
                <a:lnTo>
                  <a:pt x="1924761" y="671917"/>
                </a:lnTo>
                <a:lnTo>
                  <a:pt x="0" y="6719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779970" y="692742"/>
            <a:ext cx="1924760" cy="671916"/>
          </a:xfrm>
          <a:custGeom>
            <a:avLst/>
            <a:gdLst/>
            <a:ahLst/>
            <a:cxnLst/>
            <a:rect l="l" t="t" r="r" b="b"/>
            <a:pathLst>
              <a:path w="1924760" h="671916">
                <a:moveTo>
                  <a:pt x="0" y="0"/>
                </a:moveTo>
                <a:lnTo>
                  <a:pt x="1924761" y="0"/>
                </a:lnTo>
                <a:lnTo>
                  <a:pt x="1924761" y="671916"/>
                </a:lnTo>
                <a:lnTo>
                  <a:pt x="0" y="6719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1324452" y="2582503"/>
            <a:ext cx="11458098" cy="6522991"/>
          </a:xfrm>
          <a:custGeom>
            <a:avLst/>
            <a:gdLst/>
            <a:ahLst/>
            <a:cxnLst/>
            <a:rect l="l" t="t" r="r" b="b"/>
            <a:pathLst>
              <a:path w="11458098" h="6522991">
                <a:moveTo>
                  <a:pt x="0" y="0"/>
                </a:moveTo>
                <a:lnTo>
                  <a:pt x="11458098" y="0"/>
                </a:lnTo>
                <a:lnTo>
                  <a:pt x="11458098" y="6522990"/>
                </a:lnTo>
                <a:lnTo>
                  <a:pt x="0" y="6522990"/>
                </a:lnTo>
                <a:lnTo>
                  <a:pt x="0" y="0"/>
                </a:lnTo>
                <a:close/>
              </a:path>
            </a:pathLst>
          </a:custGeom>
          <a:blipFill>
            <a:blip r:embed="rId5"/>
            <a:stretch>
              <a:fillRect t="-48883" b="-26773"/>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895987" y="5090210"/>
            <a:ext cx="1924760" cy="671916"/>
          </a:xfrm>
          <a:custGeom>
            <a:avLst/>
            <a:gdLst/>
            <a:ahLst/>
            <a:cxnLst/>
            <a:rect l="l" t="t" r="r" b="b"/>
            <a:pathLst>
              <a:path w="1924760" h="671916">
                <a:moveTo>
                  <a:pt x="0" y="0"/>
                </a:moveTo>
                <a:lnTo>
                  <a:pt x="1924761" y="0"/>
                </a:lnTo>
                <a:lnTo>
                  <a:pt x="1924761" y="671916"/>
                </a:lnTo>
                <a:lnTo>
                  <a:pt x="0" y="6719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flipH="1">
            <a:off x="17259226" y="5090210"/>
            <a:ext cx="1924760" cy="671916"/>
          </a:xfrm>
          <a:custGeom>
            <a:avLst/>
            <a:gdLst/>
            <a:ahLst/>
            <a:cxnLst/>
            <a:rect l="l" t="t" r="r" b="b"/>
            <a:pathLst>
              <a:path w="1924760" h="671916">
                <a:moveTo>
                  <a:pt x="1924761" y="0"/>
                </a:moveTo>
                <a:lnTo>
                  <a:pt x="0" y="0"/>
                </a:lnTo>
                <a:lnTo>
                  <a:pt x="0" y="671916"/>
                </a:lnTo>
                <a:lnTo>
                  <a:pt x="1924761" y="671916"/>
                </a:lnTo>
                <a:lnTo>
                  <a:pt x="1924761"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2809087" y="2893246"/>
            <a:ext cx="3807702" cy="1326278"/>
          </a:xfrm>
          <a:custGeom>
            <a:avLst/>
            <a:gdLst/>
            <a:ahLst/>
            <a:cxnLst/>
            <a:rect l="l" t="t" r="r" b="b"/>
            <a:pathLst>
              <a:path w="3807702" h="1326278">
                <a:moveTo>
                  <a:pt x="0" y="0"/>
                </a:moveTo>
                <a:lnTo>
                  <a:pt x="3807702" y="0"/>
                </a:lnTo>
                <a:lnTo>
                  <a:pt x="3807702" y="1326278"/>
                </a:lnTo>
                <a:lnTo>
                  <a:pt x="0" y="1326278"/>
                </a:lnTo>
                <a:lnTo>
                  <a:pt x="0" y="0"/>
                </a:lnTo>
                <a:close/>
              </a:path>
            </a:pathLst>
          </a:custGeom>
          <a:blipFill>
            <a:blip r:embed="rId5"/>
            <a:stretch>
              <a:fillRect/>
            </a:stretch>
          </a:blipFill>
        </p:spPr>
        <p:txBody>
          <a:bodyPr/>
          <a:lstStyle/>
          <a:p>
            <a:endParaRPr lang="en-US"/>
          </a:p>
        </p:txBody>
      </p:sp>
      <p:sp>
        <p:nvSpPr>
          <p:cNvPr id="10" name="Freeform 10"/>
          <p:cNvSpPr/>
          <p:nvPr/>
        </p:nvSpPr>
        <p:spPr>
          <a:xfrm>
            <a:off x="12395556" y="2639395"/>
            <a:ext cx="2064053" cy="2064053"/>
          </a:xfrm>
          <a:custGeom>
            <a:avLst/>
            <a:gdLst/>
            <a:ahLst/>
            <a:cxnLst/>
            <a:rect l="l" t="t" r="r" b="b"/>
            <a:pathLst>
              <a:path w="2064053" h="2064053">
                <a:moveTo>
                  <a:pt x="0" y="0"/>
                </a:moveTo>
                <a:lnTo>
                  <a:pt x="2064053" y="0"/>
                </a:lnTo>
                <a:lnTo>
                  <a:pt x="2064053" y="2064053"/>
                </a:lnTo>
                <a:lnTo>
                  <a:pt x="0" y="2064053"/>
                </a:lnTo>
                <a:lnTo>
                  <a:pt x="0" y="0"/>
                </a:lnTo>
                <a:close/>
              </a:path>
            </a:pathLst>
          </a:custGeom>
          <a:blipFill>
            <a:blip r:embed="rId6"/>
            <a:stretch>
              <a:fillRect/>
            </a:stretch>
          </a:blipFill>
        </p:spPr>
        <p:txBody>
          <a:bodyPr/>
          <a:lstStyle/>
          <a:p>
            <a:endParaRPr lang="en-US"/>
          </a:p>
        </p:txBody>
      </p:sp>
      <p:sp>
        <p:nvSpPr>
          <p:cNvPr id="11" name="TextBox 11"/>
          <p:cNvSpPr txBox="1"/>
          <p:nvPr/>
        </p:nvSpPr>
        <p:spPr>
          <a:xfrm>
            <a:off x="1210174" y="1361775"/>
            <a:ext cx="16860373" cy="887095"/>
          </a:xfrm>
          <a:prstGeom prst="rect">
            <a:avLst/>
          </a:prstGeom>
        </p:spPr>
        <p:txBody>
          <a:bodyPr lIns="0" tIns="0" rIns="0" bIns="0" rtlCol="0" anchor="t">
            <a:spAutoFit/>
          </a:bodyPr>
          <a:lstStyle/>
          <a:p>
            <a:pPr algn="ctr">
              <a:lnSpc>
                <a:spcPts val="7280"/>
              </a:lnSpc>
              <a:spcBef>
                <a:spcPct val="0"/>
              </a:spcBef>
            </a:pPr>
            <a:r>
              <a:rPr lang="en-US" sz="5200">
                <a:solidFill>
                  <a:srgbClr val="FFFFFF"/>
                </a:solidFill>
                <a:latin typeface="Press Start 2P"/>
                <a:ea typeface="Press Start 2P"/>
                <a:cs typeface="Press Start 2P"/>
                <a:sym typeface="Press Start 2P"/>
              </a:rPr>
              <a:t>TOOLS &amp; TECHNOLOGIES</a:t>
            </a:r>
          </a:p>
        </p:txBody>
      </p:sp>
      <p:sp>
        <p:nvSpPr>
          <p:cNvPr id="12" name="TextBox 12"/>
          <p:cNvSpPr txBox="1"/>
          <p:nvPr/>
        </p:nvSpPr>
        <p:spPr>
          <a:xfrm>
            <a:off x="1637534" y="4431801"/>
            <a:ext cx="7393227" cy="261302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FFFFFF"/>
                </a:solidFill>
                <a:latin typeface="Open Sans"/>
                <a:ea typeface="Open Sans"/>
                <a:cs typeface="Open Sans"/>
                <a:sym typeface="Open Sans"/>
              </a:rPr>
              <a:t>Cross platform for 2D, 3D, AR &amp; VR</a:t>
            </a:r>
          </a:p>
          <a:p>
            <a:pPr marL="539749" lvl="1" indent="-269875" algn="l">
              <a:lnSpc>
                <a:spcPts val="3499"/>
              </a:lnSpc>
              <a:buFont typeface="Arial"/>
              <a:buChar char="•"/>
            </a:pPr>
            <a:r>
              <a:rPr lang="en-US" sz="2499">
                <a:solidFill>
                  <a:srgbClr val="FFFFFF"/>
                </a:solidFill>
                <a:latin typeface="Open Sans"/>
                <a:ea typeface="Open Sans"/>
                <a:cs typeface="Open Sans"/>
                <a:sym typeface="Open Sans"/>
              </a:rPr>
              <a:t>C# scripting and component-based design</a:t>
            </a:r>
          </a:p>
          <a:p>
            <a:pPr marL="539749" lvl="1" indent="-269875" algn="l">
              <a:lnSpc>
                <a:spcPts val="3499"/>
              </a:lnSpc>
              <a:buFont typeface="Arial"/>
              <a:buChar char="•"/>
            </a:pPr>
            <a:r>
              <a:rPr lang="en-US" sz="2499">
                <a:solidFill>
                  <a:srgbClr val="FFFFFF"/>
                </a:solidFill>
                <a:latin typeface="Open Sans"/>
                <a:ea typeface="Open Sans"/>
                <a:cs typeface="Open Sans"/>
                <a:sym typeface="Open Sans"/>
              </a:rPr>
              <a:t>Real-time editor for fast prototyping</a:t>
            </a:r>
          </a:p>
          <a:p>
            <a:pPr marL="539749" lvl="1" indent="-269875" algn="l">
              <a:lnSpc>
                <a:spcPts val="3499"/>
              </a:lnSpc>
              <a:buFont typeface="Arial"/>
              <a:buChar char="•"/>
            </a:pPr>
            <a:r>
              <a:rPr lang="en-US" sz="2499">
                <a:solidFill>
                  <a:srgbClr val="FFFFFF"/>
                </a:solidFill>
                <a:latin typeface="Open Sans"/>
                <a:ea typeface="Open Sans"/>
                <a:cs typeface="Open Sans"/>
                <a:sym typeface="Open Sans"/>
              </a:rPr>
              <a:t>Built-in tools for physics, animation &amp; UI</a:t>
            </a:r>
          </a:p>
          <a:p>
            <a:pPr marL="539749" lvl="1" indent="-269875" algn="l">
              <a:lnSpc>
                <a:spcPts val="3499"/>
              </a:lnSpc>
              <a:buFont typeface="Arial"/>
              <a:buChar char="•"/>
            </a:pPr>
            <a:r>
              <a:rPr lang="en-US" sz="2499">
                <a:solidFill>
                  <a:srgbClr val="FFFFFF"/>
                </a:solidFill>
                <a:latin typeface="Open Sans"/>
                <a:ea typeface="Open Sans"/>
                <a:cs typeface="Open Sans"/>
                <a:sym typeface="Open Sans"/>
              </a:rPr>
              <a:t>Used by indie and AAA studios worldwide</a:t>
            </a:r>
          </a:p>
          <a:p>
            <a:pPr algn="l">
              <a:lnSpc>
                <a:spcPts val="3499"/>
              </a:lnSpc>
              <a:spcBef>
                <a:spcPct val="0"/>
              </a:spcBef>
            </a:pPr>
            <a:endParaRPr lang="en-US" sz="2499">
              <a:solidFill>
                <a:srgbClr val="FFFFFF"/>
              </a:solidFill>
              <a:latin typeface="Open Sans"/>
              <a:ea typeface="Open Sans"/>
              <a:cs typeface="Open Sans"/>
              <a:sym typeface="Open Sans"/>
            </a:endParaRPr>
          </a:p>
        </p:txBody>
      </p:sp>
      <p:sp>
        <p:nvSpPr>
          <p:cNvPr id="13" name="TextBox 13"/>
          <p:cNvSpPr txBox="1"/>
          <p:nvPr/>
        </p:nvSpPr>
        <p:spPr>
          <a:xfrm>
            <a:off x="9640361" y="4618522"/>
            <a:ext cx="7907745" cy="261302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FFFFFF"/>
                </a:solidFill>
                <a:latin typeface="Open Sans"/>
                <a:ea typeface="Open Sans"/>
                <a:cs typeface="Open Sans"/>
                <a:sym typeface="Open Sans"/>
              </a:rPr>
              <a:t>Manages code versions and team contributions</a:t>
            </a:r>
          </a:p>
          <a:p>
            <a:pPr marL="539749" lvl="1" indent="-269875" algn="l">
              <a:lnSpc>
                <a:spcPts val="3499"/>
              </a:lnSpc>
              <a:buFont typeface="Arial"/>
              <a:buChar char="•"/>
            </a:pPr>
            <a:r>
              <a:rPr lang="en-US" sz="2499">
                <a:solidFill>
                  <a:srgbClr val="FFFFFF"/>
                </a:solidFill>
                <a:latin typeface="Open Sans"/>
                <a:ea typeface="Open Sans"/>
                <a:cs typeface="Open Sans"/>
                <a:sym typeface="Open Sans"/>
              </a:rPr>
              <a:t>Uses Git for tracking changes and history</a:t>
            </a:r>
          </a:p>
          <a:p>
            <a:pPr marL="539749" lvl="1" indent="-269875" algn="l">
              <a:lnSpc>
                <a:spcPts val="3499"/>
              </a:lnSpc>
              <a:buFont typeface="Arial"/>
              <a:buChar char="•"/>
            </a:pPr>
            <a:r>
              <a:rPr lang="en-US" sz="2499">
                <a:solidFill>
                  <a:srgbClr val="FFFFFF"/>
                </a:solidFill>
                <a:latin typeface="Open Sans"/>
                <a:ea typeface="Open Sans"/>
                <a:cs typeface="Open Sans"/>
                <a:sym typeface="Open Sans"/>
              </a:rPr>
              <a:t>Enables branching &amp; merging for safe teamwork</a:t>
            </a:r>
          </a:p>
          <a:p>
            <a:pPr marL="539749" lvl="1" indent="-269875" algn="l">
              <a:lnSpc>
                <a:spcPts val="3499"/>
              </a:lnSpc>
              <a:buFont typeface="Arial"/>
              <a:buChar char="•"/>
            </a:pPr>
            <a:r>
              <a:rPr lang="en-US" sz="2499">
                <a:solidFill>
                  <a:srgbClr val="FFFFFF"/>
                </a:solidFill>
                <a:latin typeface="Open Sans"/>
                <a:ea typeface="Open Sans"/>
                <a:cs typeface="Open Sans"/>
                <a:sym typeface="Open Sans"/>
              </a:rPr>
              <a:t>Supports issues, pull requests &amp; reviews</a:t>
            </a:r>
          </a:p>
          <a:p>
            <a:pPr marL="539749" lvl="1" indent="-269875" algn="l">
              <a:lnSpc>
                <a:spcPts val="3499"/>
              </a:lnSpc>
              <a:buFont typeface="Arial"/>
              <a:buChar char="•"/>
            </a:pPr>
            <a:r>
              <a:rPr lang="en-US" sz="2499">
                <a:solidFill>
                  <a:srgbClr val="FFFFFF"/>
                </a:solidFill>
                <a:latin typeface="Open Sans"/>
                <a:ea typeface="Open Sans"/>
                <a:cs typeface="Open Sans"/>
                <a:sym typeface="Open Sans"/>
              </a:rPr>
              <a:t>Essential for collaboration and project backup</a:t>
            </a:r>
          </a:p>
          <a:p>
            <a:pPr algn="l">
              <a:lnSpc>
                <a:spcPts val="3499"/>
              </a:lnSpc>
              <a:spcBef>
                <a:spcPct val="0"/>
              </a:spcBef>
            </a:pPr>
            <a:endParaRPr lang="en-US" sz="2499">
              <a:solidFill>
                <a:srgbClr val="FFFFFF"/>
              </a:solidFill>
              <a:latin typeface="Open Sans"/>
              <a:ea typeface="Open Sans"/>
              <a:cs typeface="Open Sans"/>
              <a:sym typeface="Open Sans"/>
            </a:endParaRPr>
          </a:p>
        </p:txBody>
      </p:sp>
      <p:pic>
        <p:nvPicPr>
          <p:cNvPr id="14" name="Picture 14"/>
          <p:cNvPicPr>
            <a:picLocks noChangeAspect="1"/>
          </p:cNvPicPr>
          <p:nvPr/>
        </p:nvPicPr>
        <p:blipFill>
          <a:blip r:embed="rId7"/>
          <a:stretch>
            <a:fillRect/>
          </a:stretch>
        </p:blipFill>
        <p:spPr>
          <a:xfrm>
            <a:off x="3473106" y="6838187"/>
            <a:ext cx="2479663" cy="2479663"/>
          </a:xfrm>
          <a:prstGeom prst="rect">
            <a:avLst/>
          </a:prstGeom>
        </p:spPr>
      </p:pic>
      <p:pic>
        <p:nvPicPr>
          <p:cNvPr id="15" name="Picture 15"/>
          <p:cNvPicPr>
            <a:picLocks noChangeAspect="1"/>
          </p:cNvPicPr>
          <p:nvPr/>
        </p:nvPicPr>
        <p:blipFill>
          <a:blip r:embed="rId8"/>
          <a:stretch>
            <a:fillRect/>
          </a:stretch>
        </p:blipFill>
        <p:spPr>
          <a:xfrm>
            <a:off x="12230181" y="6842151"/>
            <a:ext cx="2432102" cy="24321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11056099" y="2223028"/>
            <a:ext cx="5762864" cy="7475413"/>
          </a:xfrm>
          <a:custGeom>
            <a:avLst/>
            <a:gdLst/>
            <a:ahLst/>
            <a:cxnLst/>
            <a:rect l="l" t="t" r="r" b="b"/>
            <a:pathLst>
              <a:path w="5762864" h="7475413">
                <a:moveTo>
                  <a:pt x="0" y="0"/>
                </a:moveTo>
                <a:lnTo>
                  <a:pt x="5762864" y="0"/>
                </a:lnTo>
                <a:lnTo>
                  <a:pt x="5762864" y="7475414"/>
                </a:lnTo>
                <a:lnTo>
                  <a:pt x="0" y="747541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6146443" y="6144336"/>
            <a:ext cx="1345040" cy="3362600"/>
          </a:xfrm>
          <a:custGeom>
            <a:avLst/>
            <a:gdLst/>
            <a:ahLst/>
            <a:cxnLst/>
            <a:rect l="l" t="t" r="r" b="b"/>
            <a:pathLst>
              <a:path w="1345040" h="3362600">
                <a:moveTo>
                  <a:pt x="0" y="0"/>
                </a:moveTo>
                <a:lnTo>
                  <a:pt x="1345040" y="0"/>
                </a:lnTo>
                <a:lnTo>
                  <a:pt x="1345040" y="3362600"/>
                </a:lnTo>
                <a:lnTo>
                  <a:pt x="0" y="33626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0691528" y="7721312"/>
            <a:ext cx="729142" cy="1822856"/>
          </a:xfrm>
          <a:custGeom>
            <a:avLst/>
            <a:gdLst/>
            <a:ahLst/>
            <a:cxnLst/>
            <a:rect l="l" t="t" r="r" b="b"/>
            <a:pathLst>
              <a:path w="729142" h="1822856">
                <a:moveTo>
                  <a:pt x="0" y="0"/>
                </a:moveTo>
                <a:lnTo>
                  <a:pt x="729142" y="0"/>
                </a:lnTo>
                <a:lnTo>
                  <a:pt x="729142" y="1822856"/>
                </a:lnTo>
                <a:lnTo>
                  <a:pt x="0" y="18228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69092" y="8498493"/>
            <a:ext cx="2255378" cy="1045675"/>
          </a:xfrm>
          <a:custGeom>
            <a:avLst/>
            <a:gdLst/>
            <a:ahLst/>
            <a:cxnLst/>
            <a:rect l="l" t="t" r="r" b="b"/>
            <a:pathLst>
              <a:path w="2255378" h="1045675">
                <a:moveTo>
                  <a:pt x="0" y="0"/>
                </a:moveTo>
                <a:lnTo>
                  <a:pt x="2255378" y="0"/>
                </a:lnTo>
                <a:lnTo>
                  <a:pt x="2255378" y="1045675"/>
                </a:lnTo>
                <a:lnTo>
                  <a:pt x="0" y="10456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2574575" y="8498493"/>
            <a:ext cx="2255378" cy="1045675"/>
          </a:xfrm>
          <a:custGeom>
            <a:avLst/>
            <a:gdLst/>
            <a:ahLst/>
            <a:cxnLst/>
            <a:rect l="l" t="t" r="r" b="b"/>
            <a:pathLst>
              <a:path w="2255378" h="1045675">
                <a:moveTo>
                  <a:pt x="0" y="0"/>
                </a:moveTo>
                <a:lnTo>
                  <a:pt x="2255378" y="0"/>
                </a:lnTo>
                <a:lnTo>
                  <a:pt x="2255378" y="1045675"/>
                </a:lnTo>
                <a:lnTo>
                  <a:pt x="0" y="10456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a:off x="4829953" y="8498493"/>
            <a:ext cx="2255378" cy="1045675"/>
          </a:xfrm>
          <a:custGeom>
            <a:avLst/>
            <a:gdLst/>
            <a:ahLst/>
            <a:cxnLst/>
            <a:rect l="l" t="t" r="r" b="b"/>
            <a:pathLst>
              <a:path w="2255378" h="1045675">
                <a:moveTo>
                  <a:pt x="0" y="0"/>
                </a:moveTo>
                <a:lnTo>
                  <a:pt x="2255377" y="0"/>
                </a:lnTo>
                <a:lnTo>
                  <a:pt x="2255377" y="1045675"/>
                </a:lnTo>
                <a:lnTo>
                  <a:pt x="0" y="10456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7085330" y="8498493"/>
            <a:ext cx="2255378" cy="1045675"/>
          </a:xfrm>
          <a:custGeom>
            <a:avLst/>
            <a:gdLst/>
            <a:ahLst/>
            <a:cxnLst/>
            <a:rect l="l" t="t" r="r" b="b"/>
            <a:pathLst>
              <a:path w="2255378" h="1045675">
                <a:moveTo>
                  <a:pt x="0" y="0"/>
                </a:moveTo>
                <a:lnTo>
                  <a:pt x="2255378" y="0"/>
                </a:lnTo>
                <a:lnTo>
                  <a:pt x="2255378" y="1045675"/>
                </a:lnTo>
                <a:lnTo>
                  <a:pt x="0" y="10456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TextBox 12"/>
          <p:cNvSpPr txBox="1"/>
          <p:nvPr/>
        </p:nvSpPr>
        <p:spPr>
          <a:xfrm>
            <a:off x="309699" y="1102254"/>
            <a:ext cx="12920137" cy="1120775"/>
          </a:xfrm>
          <a:prstGeom prst="rect">
            <a:avLst/>
          </a:prstGeom>
        </p:spPr>
        <p:txBody>
          <a:bodyPr lIns="0" tIns="0" rIns="0" bIns="0" rtlCol="0" anchor="t">
            <a:spAutoFit/>
          </a:bodyPr>
          <a:lstStyle/>
          <a:p>
            <a:pPr algn="l">
              <a:lnSpc>
                <a:spcPts val="9100"/>
              </a:lnSpc>
              <a:spcBef>
                <a:spcPct val="0"/>
              </a:spcBef>
            </a:pPr>
            <a:r>
              <a:rPr lang="en-US" sz="6500">
                <a:solidFill>
                  <a:srgbClr val="FFFFFF"/>
                </a:solidFill>
                <a:latin typeface="Press Start 2P"/>
                <a:ea typeface="Press Start 2P"/>
                <a:cs typeface="Press Start 2P"/>
                <a:sym typeface="Press Start 2P"/>
              </a:rPr>
              <a:t>THE COMPETITION</a:t>
            </a:r>
          </a:p>
        </p:txBody>
      </p:sp>
      <p:sp>
        <p:nvSpPr>
          <p:cNvPr id="13" name="TextBox 13"/>
          <p:cNvSpPr txBox="1"/>
          <p:nvPr/>
        </p:nvSpPr>
        <p:spPr>
          <a:xfrm>
            <a:off x="309699" y="3592286"/>
            <a:ext cx="11657403" cy="3489325"/>
          </a:xfrm>
          <a:prstGeom prst="rect">
            <a:avLst/>
          </a:prstGeom>
        </p:spPr>
        <p:txBody>
          <a:bodyPr lIns="0" tIns="0" rIns="0" bIns="0" rtlCol="0" anchor="t">
            <a:spAutoFit/>
          </a:bodyPr>
          <a:lstStyle/>
          <a:p>
            <a:pPr algn="l">
              <a:lnSpc>
                <a:spcPts val="3499"/>
              </a:lnSpc>
            </a:pPr>
            <a:r>
              <a:rPr lang="en-US" sz="2499" dirty="0">
                <a:solidFill>
                  <a:srgbClr val="FFFFFF"/>
                </a:solidFill>
                <a:latin typeface="Open Sans"/>
                <a:ea typeface="Open Sans"/>
                <a:cs typeface="Open Sans"/>
                <a:sym typeface="Open Sans"/>
              </a:rPr>
              <a:t>Game Expo, The Final Challenge:</a:t>
            </a:r>
          </a:p>
          <a:p>
            <a:pPr marL="539749" lvl="1" indent="-269875" algn="l">
              <a:lnSpc>
                <a:spcPts val="3499"/>
              </a:lnSpc>
              <a:buFont typeface="Arial"/>
              <a:buChar char="•"/>
            </a:pPr>
            <a:r>
              <a:rPr lang="en-US" sz="2499" dirty="0">
                <a:solidFill>
                  <a:srgbClr val="FFFFFF"/>
                </a:solidFill>
                <a:latin typeface="Open Sans"/>
                <a:ea typeface="Open Sans"/>
                <a:cs typeface="Open Sans"/>
                <a:sym typeface="Open Sans"/>
              </a:rPr>
              <a:t>Each team presents their own original, </a:t>
            </a:r>
            <a:r>
              <a:rPr lang="en-US" sz="2499" b="1" u="sng" dirty="0">
                <a:solidFill>
                  <a:srgbClr val="FFFFFF"/>
                </a:solidFill>
                <a:latin typeface="Open Sans Bold"/>
                <a:ea typeface="Open Sans Bold"/>
                <a:cs typeface="Open Sans Bold"/>
                <a:sym typeface="Open Sans Bold"/>
              </a:rPr>
              <a:t>playable</a:t>
            </a:r>
            <a:r>
              <a:rPr lang="en-US" sz="2499" dirty="0">
                <a:solidFill>
                  <a:srgbClr val="FFFFFF"/>
                </a:solidFill>
                <a:latin typeface="Open Sans"/>
                <a:ea typeface="Open Sans"/>
                <a:cs typeface="Open Sans"/>
                <a:sym typeface="Open Sans"/>
              </a:rPr>
              <a:t> game</a:t>
            </a:r>
          </a:p>
          <a:p>
            <a:pPr marL="539749" lvl="1" indent="-269875" algn="l">
              <a:lnSpc>
                <a:spcPts val="3499"/>
              </a:lnSpc>
              <a:buFont typeface="Arial"/>
              <a:buChar char="•"/>
            </a:pPr>
            <a:r>
              <a:rPr lang="en-US" sz="2499" dirty="0">
                <a:solidFill>
                  <a:srgbClr val="FFFFFF"/>
                </a:solidFill>
                <a:latin typeface="Open Sans"/>
                <a:ea typeface="Open Sans"/>
                <a:cs typeface="Open Sans"/>
                <a:sym typeface="Open Sans"/>
              </a:rPr>
              <a:t>The game must be stable, functional, and fun, so no excuses</a:t>
            </a:r>
          </a:p>
          <a:p>
            <a:pPr marL="539749" lvl="1" indent="-269875" algn="l">
              <a:lnSpc>
                <a:spcPts val="3499"/>
              </a:lnSpc>
              <a:buFont typeface="Arial"/>
              <a:buChar char="•"/>
            </a:pPr>
            <a:r>
              <a:rPr lang="en-US" sz="2499" dirty="0">
                <a:solidFill>
                  <a:srgbClr val="FFFFFF"/>
                </a:solidFill>
                <a:latin typeface="Open Sans"/>
                <a:ea typeface="Open Sans"/>
                <a:cs typeface="Open Sans"/>
                <a:sym typeface="Open Sans"/>
              </a:rPr>
              <a:t>It should run smoothly for at least 5 minutes without major bugs</a:t>
            </a:r>
          </a:p>
          <a:p>
            <a:pPr marL="539749" lvl="1" indent="-269875" algn="l">
              <a:lnSpc>
                <a:spcPts val="3499"/>
              </a:lnSpc>
              <a:buFont typeface="Arial"/>
              <a:buChar char="•"/>
            </a:pPr>
            <a:r>
              <a:rPr lang="en-US" sz="2499" dirty="0">
                <a:solidFill>
                  <a:srgbClr val="FFFFFF"/>
                </a:solidFill>
                <a:latin typeface="Open Sans"/>
                <a:ea typeface="Open Sans"/>
                <a:cs typeface="Open Sans"/>
                <a:sym typeface="Open Sans"/>
              </a:rPr>
              <a:t>Focus on creativity, polish, and player experience</a:t>
            </a:r>
          </a:p>
          <a:p>
            <a:pPr marL="539749" lvl="1" indent="-269875" algn="l">
              <a:lnSpc>
                <a:spcPts val="3499"/>
              </a:lnSpc>
              <a:buFont typeface="Arial"/>
              <a:buChar char="•"/>
            </a:pPr>
            <a:r>
              <a:rPr lang="en-US" sz="2499" dirty="0">
                <a:solidFill>
                  <a:srgbClr val="FFFFFF"/>
                </a:solidFill>
                <a:latin typeface="Open Sans"/>
                <a:ea typeface="Open Sans"/>
                <a:cs typeface="Open Sans"/>
                <a:sym typeface="Open Sans"/>
              </a:rPr>
              <a:t>Judges from the Israeli game industry will test and review your game</a:t>
            </a:r>
          </a:p>
          <a:p>
            <a:pPr marL="539749" lvl="1" indent="-269875" algn="l">
              <a:lnSpc>
                <a:spcPts val="3499"/>
              </a:lnSpc>
              <a:buFont typeface="Arial"/>
              <a:buChar char="•"/>
            </a:pPr>
            <a:r>
              <a:rPr lang="en-US" sz="2499" dirty="0">
                <a:solidFill>
                  <a:srgbClr val="FFFFFF"/>
                </a:solidFill>
                <a:latin typeface="Open Sans"/>
                <a:ea typeface="Open Sans"/>
                <a:cs typeface="Open Sans"/>
                <a:sym typeface="Open Sans"/>
              </a:rPr>
              <a:t>This is your chance to show what you’ve built, for real players</a:t>
            </a:r>
          </a:p>
          <a:p>
            <a:pPr algn="l">
              <a:lnSpc>
                <a:spcPts val="3499"/>
              </a:lnSpc>
              <a:spcBef>
                <a:spcPct val="0"/>
              </a:spcBef>
            </a:pPr>
            <a:endParaRPr lang="en-US" sz="2499" dirty="0">
              <a:solidFill>
                <a:srgbClr val="FFFFFF"/>
              </a:solidFill>
              <a:latin typeface="Open Sans"/>
              <a:ea typeface="Open Sans"/>
              <a:cs typeface="Open Sans"/>
              <a:sym typeface="Open Sans"/>
            </a:endParaRPr>
          </a:p>
        </p:txBody>
      </p:sp>
      <p:sp>
        <p:nvSpPr>
          <p:cNvPr id="14" name="Freeform 14"/>
          <p:cNvSpPr/>
          <p:nvPr/>
        </p:nvSpPr>
        <p:spPr>
          <a:xfrm>
            <a:off x="5486400" y="704759"/>
            <a:ext cx="1818033" cy="323941"/>
          </a:xfrm>
          <a:custGeom>
            <a:avLst/>
            <a:gdLst/>
            <a:ahLst/>
            <a:cxnLst/>
            <a:rect l="l" t="t" r="r" b="b"/>
            <a:pathLst>
              <a:path w="1818033" h="323941">
                <a:moveTo>
                  <a:pt x="0" y="0"/>
                </a:moveTo>
                <a:lnTo>
                  <a:pt x="1818033" y="0"/>
                </a:lnTo>
                <a:lnTo>
                  <a:pt x="1818033" y="323941"/>
                </a:lnTo>
                <a:lnTo>
                  <a:pt x="0" y="32394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5" name="Freeform 15"/>
          <p:cNvSpPr/>
          <p:nvPr/>
        </p:nvSpPr>
        <p:spPr>
          <a:xfrm>
            <a:off x="16440150" y="356784"/>
            <a:ext cx="1924760" cy="671916"/>
          </a:xfrm>
          <a:custGeom>
            <a:avLst/>
            <a:gdLst/>
            <a:ahLst/>
            <a:cxnLst/>
            <a:rect l="l" t="t" r="r" b="b"/>
            <a:pathLst>
              <a:path w="1924760" h="671916">
                <a:moveTo>
                  <a:pt x="0" y="0"/>
                </a:moveTo>
                <a:lnTo>
                  <a:pt x="1924760" y="0"/>
                </a:lnTo>
                <a:lnTo>
                  <a:pt x="1924760" y="671916"/>
                </a:lnTo>
                <a:lnTo>
                  <a:pt x="0" y="67191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6" name="Freeform 16"/>
          <p:cNvSpPr/>
          <p:nvPr/>
        </p:nvSpPr>
        <p:spPr>
          <a:xfrm flipH="1">
            <a:off x="16948915" y="4008751"/>
            <a:ext cx="1818033" cy="323941"/>
          </a:xfrm>
          <a:custGeom>
            <a:avLst/>
            <a:gdLst/>
            <a:ahLst/>
            <a:cxnLst/>
            <a:rect l="l" t="t" r="r" b="b"/>
            <a:pathLst>
              <a:path w="1818033" h="323941">
                <a:moveTo>
                  <a:pt x="1818034" y="0"/>
                </a:moveTo>
                <a:lnTo>
                  <a:pt x="0" y="0"/>
                </a:lnTo>
                <a:lnTo>
                  <a:pt x="0" y="323941"/>
                </a:lnTo>
                <a:lnTo>
                  <a:pt x="1818034" y="323941"/>
                </a:lnTo>
                <a:lnTo>
                  <a:pt x="1818034"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7" name="Freeform 17"/>
          <p:cNvSpPr/>
          <p:nvPr/>
        </p:nvSpPr>
        <p:spPr>
          <a:xfrm>
            <a:off x="13937531" y="609204"/>
            <a:ext cx="1703424" cy="594650"/>
          </a:xfrm>
          <a:custGeom>
            <a:avLst/>
            <a:gdLst/>
            <a:ahLst/>
            <a:cxnLst/>
            <a:rect l="l" t="t" r="r" b="b"/>
            <a:pathLst>
              <a:path w="1703424" h="594650">
                <a:moveTo>
                  <a:pt x="0" y="0"/>
                </a:moveTo>
                <a:lnTo>
                  <a:pt x="1703424" y="0"/>
                </a:lnTo>
                <a:lnTo>
                  <a:pt x="1703424" y="594649"/>
                </a:lnTo>
                <a:lnTo>
                  <a:pt x="0" y="59464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Slide title">
            <a:extLst>
              <a:ext uri="{FF2B5EF4-FFF2-40B4-BE49-F238E27FC236}">
                <a16:creationId xmlns:a16="http://schemas.microsoft.com/office/drawing/2014/main" id="{C88FE801-EF15-4BC8-8FF9-11B430F83FDB}"/>
              </a:ext>
            </a:extLst>
          </p:cNvPr>
          <p:cNvSpPr>
            <a:spLocks noGrp="1"/>
          </p:cNvSpPr>
          <p:nvPr/>
        </p:nvSpPr>
        <p:spPr>
          <a:xfrm>
            <a:off x="714375" y="1238250"/>
            <a:ext cx="16859250" cy="1143000"/>
          </a:xfrm>
          <a:prstGeom prst="rect">
            <a:avLst/>
          </a:prstGeom>
          <a:noFill/>
          <a:ln w="0">
            <a:noFill/>
          </a:ln>
        </p:spPr>
        <p:txBody>
          <a:bodyPr wrap="none" lIns="0" tIns="0" rIns="0" bIns="0" anchor="t">
            <a:noAutofit/>
          </a:bodyPr>
          <a:lstStyle>
            <a:defPPr algn="l">
              <a:defRPr sz="6500" b="0">
                <a:solidFill>
                  <a:srgbClr val="FFFFFF"/>
                </a:solidFill>
                <a:latin typeface="Press Start 2P"/>
                <a:ea typeface="Press Start 2P"/>
                <a:cs typeface="Press Start 2P"/>
              </a:defRPr>
            </a:defPPr>
            <a:lvl1pPr algn="l">
              <a:defRPr sz="6500" b="0">
                <a:solidFill>
                  <a:srgbClr val="FFFFFF"/>
                </a:solidFill>
                <a:latin typeface="Press Start 2P"/>
                <a:ea typeface="Press Start 2P"/>
                <a:cs typeface="Press Start 2P"/>
              </a:defRPr>
            </a:lvl1pPr>
            <a:lvl2pPr algn="l">
              <a:defRPr sz="6500" b="0">
                <a:solidFill>
                  <a:srgbClr val="FFFFFF"/>
                </a:solidFill>
                <a:latin typeface="Press Start 2P"/>
                <a:ea typeface="Press Start 2P"/>
                <a:cs typeface="Press Start 2P"/>
              </a:defRPr>
            </a:lvl2pPr>
            <a:lvl3pPr algn="l">
              <a:defRPr sz="6500" b="0">
                <a:solidFill>
                  <a:srgbClr val="FFFFFF"/>
                </a:solidFill>
                <a:latin typeface="Press Start 2P"/>
                <a:ea typeface="Press Start 2P"/>
                <a:cs typeface="Press Start 2P"/>
              </a:defRPr>
            </a:lvl3pPr>
            <a:lvl4pPr algn="l">
              <a:defRPr sz="6500" b="0">
                <a:solidFill>
                  <a:srgbClr val="FFFFFF"/>
                </a:solidFill>
                <a:latin typeface="Press Start 2P"/>
                <a:ea typeface="Press Start 2P"/>
                <a:cs typeface="Press Start 2P"/>
              </a:defRPr>
            </a:lvl4pPr>
            <a:lvl5pPr algn="l">
              <a:defRPr sz="6500" b="0">
                <a:solidFill>
                  <a:srgbClr val="FFFFFF"/>
                </a:solidFill>
                <a:latin typeface="Press Start 2P"/>
                <a:ea typeface="Press Start 2P"/>
                <a:cs typeface="Press Start 2P"/>
              </a:defRPr>
            </a:lvl5pPr>
            <a:lvl6pPr algn="l">
              <a:defRPr sz="6500" b="0">
                <a:solidFill>
                  <a:srgbClr val="FFFFFF"/>
                </a:solidFill>
                <a:latin typeface="Press Start 2P"/>
                <a:ea typeface="Press Start 2P"/>
                <a:cs typeface="Press Start 2P"/>
              </a:defRPr>
            </a:lvl6pPr>
            <a:lvl7pPr algn="l">
              <a:defRPr sz="6500" b="0">
                <a:solidFill>
                  <a:srgbClr val="FFFFFF"/>
                </a:solidFill>
                <a:latin typeface="Press Start 2P"/>
                <a:ea typeface="Press Start 2P"/>
                <a:cs typeface="Press Start 2P"/>
              </a:defRPr>
            </a:lvl7pPr>
            <a:lvl8pPr algn="l">
              <a:defRPr sz="6500" b="0">
                <a:solidFill>
                  <a:srgbClr val="FFFFFF"/>
                </a:solidFill>
                <a:latin typeface="Press Start 2P"/>
                <a:ea typeface="Press Start 2P"/>
                <a:cs typeface="Press Start 2P"/>
              </a:defRPr>
            </a:lvl8pPr>
            <a:lvl9pPr algn="l">
              <a:defRPr sz="6500" b="0">
                <a:solidFill>
                  <a:srgbClr val="FFFFFF"/>
                </a:solidFill>
                <a:latin typeface="Press Start 2P"/>
                <a:ea typeface="Press Start 2P"/>
                <a:cs typeface="Press Start 2P"/>
              </a:defRPr>
            </a:lvl9pPr>
          </a:lstStyle>
          <a:p>
            <a:pPr algn="l">
              <a:defRPr sz="6500" b="0">
                <a:solidFill>
                  <a:srgbClr val="FFFFFF"/>
                </a:solidFill>
                <a:latin typeface="Press Start 2P"/>
                <a:ea typeface="Press Start 2P"/>
                <a:cs typeface="Press Start 2P"/>
              </a:defRPr>
            </a:pPr>
            <a:r>
              <a:rPr lang="en-US" sz="6500" b="0" dirty="0">
                <a:solidFill>
                  <a:srgbClr val="FFFFFF"/>
                </a:solidFill>
                <a:latin typeface="Press Start 2P"/>
                <a:ea typeface="Press Start 2P"/>
                <a:cs typeface="Press Start 2P"/>
              </a:rPr>
              <a:t>Previous Level</a:t>
            </a:r>
            <a:endParaRPr sz="6500" b="0" dirty="0">
              <a:solidFill>
                <a:srgbClr val="FFFFFF"/>
              </a:solidFill>
              <a:latin typeface="Press Start 2P"/>
              <a:ea typeface="Press Start 2P"/>
              <a:cs typeface="Press Start 2P"/>
            </a:endParaRPr>
          </a:p>
        </p:txBody>
      </p:sp>
      <p:pic>
        <p:nvPicPr>
          <p:cNvPr id="8" name="Picture 7">
            <a:extLst>
              <a:ext uri="{FF2B5EF4-FFF2-40B4-BE49-F238E27FC236}">
                <a16:creationId xmlns:a16="http://schemas.microsoft.com/office/drawing/2014/main" id="{9B8E6C49-528A-44D8-841F-6EBE18BF1AA9}"/>
              </a:ext>
            </a:extLst>
          </p:cNvPr>
          <p:cNvPicPr>
            <a:picLocks noChangeAspect="1"/>
          </p:cNvPicPr>
          <p:nvPr/>
        </p:nvPicPr>
        <p:blipFill>
          <a:blip r:embed="rId5"/>
          <a:stretch/>
        </p:blipFill>
        <p:spPr>
          <a:xfrm>
            <a:off x="714375" y="2809875"/>
            <a:ext cx="11049000" cy="6215063"/>
          </a:xfrm>
          <a:prstGeom prst="rect">
            <a:avLst/>
          </a:prstGeom>
        </p:spPr>
      </p:pic>
      <p:sp>
        <p:nvSpPr>
          <p:cNvPr id="9" name="Showcase context">
            <a:extLst>
              <a:ext uri="{FF2B5EF4-FFF2-40B4-BE49-F238E27FC236}">
                <a16:creationId xmlns:a16="http://schemas.microsoft.com/office/drawing/2014/main" id="{9A06AFB1-2EDD-4615-8931-9852AD240121}"/>
              </a:ext>
            </a:extLst>
          </p:cNvPr>
          <p:cNvSpPr>
            <a:spLocks noGrp="1"/>
          </p:cNvSpPr>
          <p:nvPr/>
        </p:nvSpPr>
        <p:spPr>
          <a:xfrm>
            <a:off x="12287250" y="2809875"/>
            <a:ext cx="5286375" cy="1047750"/>
          </a:xfrm>
          <a:prstGeom prst="rect">
            <a:avLst/>
          </a:prstGeom>
          <a:noFill/>
          <a:ln w="0">
            <a:noFill/>
          </a:ln>
        </p:spPr>
        <p:txBody>
          <a:bodyPr wrap="none" lIns="0" tIns="0" rIns="0" bIns="0" anchor="t">
            <a:noAutofit/>
          </a:bodyPr>
          <a:lstStyle>
            <a:defPPr algn="l">
              <a:defRPr sz="2500" b="0">
                <a:solidFill>
                  <a:srgbClr val="FFFFFF"/>
                </a:solidFill>
                <a:latin typeface="Open Sans"/>
                <a:ea typeface="Open Sans"/>
                <a:cs typeface="Open Sans"/>
              </a:defRPr>
            </a:defPPr>
            <a:lvl1pPr algn="l">
              <a:defRPr sz="2500" b="0">
                <a:solidFill>
                  <a:srgbClr val="FFFFFF"/>
                </a:solidFill>
                <a:latin typeface="Open Sans"/>
                <a:ea typeface="Open Sans"/>
                <a:cs typeface="Open Sans"/>
              </a:defRPr>
            </a:lvl1pPr>
            <a:lvl2pPr algn="l">
              <a:defRPr sz="2500" b="0">
                <a:solidFill>
                  <a:srgbClr val="FFFFFF"/>
                </a:solidFill>
                <a:latin typeface="Open Sans"/>
                <a:ea typeface="Open Sans"/>
                <a:cs typeface="Open Sans"/>
              </a:defRPr>
            </a:lvl2pPr>
            <a:lvl3pPr algn="l">
              <a:defRPr sz="2500" b="0">
                <a:solidFill>
                  <a:srgbClr val="FFFFFF"/>
                </a:solidFill>
                <a:latin typeface="Open Sans"/>
                <a:ea typeface="Open Sans"/>
                <a:cs typeface="Open Sans"/>
              </a:defRPr>
            </a:lvl3pPr>
            <a:lvl4pPr algn="l">
              <a:defRPr sz="2500" b="0">
                <a:solidFill>
                  <a:srgbClr val="FFFFFF"/>
                </a:solidFill>
                <a:latin typeface="Open Sans"/>
                <a:ea typeface="Open Sans"/>
                <a:cs typeface="Open Sans"/>
              </a:defRPr>
            </a:lvl4pPr>
            <a:lvl5pPr algn="l">
              <a:defRPr sz="2500" b="0">
                <a:solidFill>
                  <a:srgbClr val="FFFFFF"/>
                </a:solidFill>
                <a:latin typeface="Open Sans"/>
                <a:ea typeface="Open Sans"/>
                <a:cs typeface="Open Sans"/>
              </a:defRPr>
            </a:lvl5pPr>
            <a:lvl6pPr algn="l">
              <a:defRPr sz="2500" b="0">
                <a:solidFill>
                  <a:srgbClr val="FFFFFF"/>
                </a:solidFill>
                <a:latin typeface="Open Sans"/>
                <a:ea typeface="Open Sans"/>
                <a:cs typeface="Open Sans"/>
              </a:defRPr>
            </a:lvl6pPr>
            <a:lvl7pPr algn="l">
              <a:defRPr sz="2500" b="0">
                <a:solidFill>
                  <a:srgbClr val="FFFFFF"/>
                </a:solidFill>
                <a:latin typeface="Open Sans"/>
                <a:ea typeface="Open Sans"/>
                <a:cs typeface="Open Sans"/>
              </a:defRPr>
            </a:lvl7pPr>
            <a:lvl8pPr algn="l">
              <a:defRPr sz="2500" b="0">
                <a:solidFill>
                  <a:srgbClr val="FFFFFF"/>
                </a:solidFill>
                <a:latin typeface="Open Sans"/>
                <a:ea typeface="Open Sans"/>
                <a:cs typeface="Open Sans"/>
              </a:defRPr>
            </a:lvl8pPr>
            <a:lvl9pPr algn="l">
              <a:defRPr sz="2500" b="0">
                <a:solidFill>
                  <a:srgbClr val="FFFFFF"/>
                </a:solidFill>
                <a:latin typeface="Open Sans"/>
                <a:ea typeface="Open Sans"/>
                <a:cs typeface="Open Sans"/>
              </a:defRPr>
            </a:lvl9pPr>
          </a:lstStyle>
          <a:p>
            <a:pPr algn="l">
              <a:defRPr sz="2500" b="0">
                <a:solidFill>
                  <a:srgbClr val="FFFFFF"/>
                </a:solidFill>
                <a:latin typeface="Open Sans"/>
                <a:ea typeface="Open Sans"/>
                <a:cs typeface="Open Sans"/>
              </a:defRPr>
            </a:pPr>
            <a:r>
              <a:rPr lang="en-US" sz="2900" b="1" dirty="0"/>
              <a:t>2025-2026 </a:t>
            </a:r>
            <a:r>
              <a:rPr sz="2900" b="1" dirty="0">
                <a:solidFill>
                  <a:srgbClr val="FFFFFF"/>
                </a:solidFill>
                <a:latin typeface="Open Sans"/>
                <a:ea typeface="Open Sans"/>
                <a:cs typeface="Open Sans"/>
              </a:rPr>
              <a:t>students showcased</a:t>
            </a:r>
          </a:p>
          <a:p>
            <a:pPr algn="l">
              <a:defRPr sz="2500" b="0">
                <a:solidFill>
                  <a:srgbClr val="FFFFFF"/>
                </a:solidFill>
                <a:latin typeface="Open Sans"/>
                <a:ea typeface="Open Sans"/>
                <a:cs typeface="Open Sans"/>
              </a:defRPr>
            </a:pPr>
            <a:r>
              <a:rPr sz="2900" b="1" dirty="0">
                <a:solidFill>
                  <a:srgbClr val="FFFFFF"/>
                </a:solidFill>
                <a:latin typeface="Open Sans"/>
                <a:ea typeface="Open Sans"/>
                <a:cs typeface="Open Sans"/>
              </a:rPr>
              <a:t>their games at</a:t>
            </a:r>
            <a:r>
              <a:rPr lang="en-US" sz="2900" b="1" dirty="0">
                <a:solidFill>
                  <a:srgbClr val="FFFFFF"/>
                </a:solidFill>
                <a:latin typeface="Open Sans"/>
                <a:ea typeface="Open Sans"/>
                <a:cs typeface="Open Sans"/>
              </a:rPr>
              <a:t>:</a:t>
            </a:r>
            <a:endParaRPr sz="2900" b="1" dirty="0">
              <a:solidFill>
                <a:srgbClr val="FFFFFF"/>
              </a:solidFill>
              <a:latin typeface="Open Sans"/>
              <a:ea typeface="Open Sans"/>
              <a:cs typeface="Open Sans"/>
            </a:endParaRPr>
          </a:p>
        </p:txBody>
      </p:sp>
      <p:sp>
        <p:nvSpPr>
          <p:cNvPr id="10" name="Festival">
            <a:extLst>
              <a:ext uri="{FF2B5EF4-FFF2-40B4-BE49-F238E27FC236}">
                <a16:creationId xmlns:a16="http://schemas.microsoft.com/office/drawing/2014/main" id="{9A86FDE7-F091-4866-8975-F690CF9619D6}"/>
              </a:ext>
            </a:extLst>
          </p:cNvPr>
          <p:cNvSpPr>
            <a:spLocks noGrp="1"/>
          </p:cNvSpPr>
          <p:nvPr/>
        </p:nvSpPr>
        <p:spPr>
          <a:xfrm>
            <a:off x="12287250" y="3981450"/>
            <a:ext cx="5286375" cy="1066800"/>
          </a:xfrm>
          <a:prstGeom prst="rect">
            <a:avLst/>
          </a:prstGeom>
          <a:noFill/>
          <a:ln w="0">
            <a:noFill/>
          </a:ln>
        </p:spPr>
        <p:txBody>
          <a:bodyPr wrap="none" lIns="0" tIns="0" rIns="0" bIns="0" anchor="t">
            <a:noAutofit/>
          </a:bodyPr>
          <a:lstStyle>
            <a:defPPr algn="l">
              <a:defRPr sz="3000" b="1">
                <a:solidFill>
                  <a:srgbClr val="FFFFFF"/>
                </a:solidFill>
                <a:latin typeface="Open Sans"/>
                <a:ea typeface="Open Sans"/>
                <a:cs typeface="Open Sans"/>
              </a:defRPr>
            </a:defPPr>
            <a:lvl1pPr algn="l">
              <a:defRPr sz="3000" b="1">
                <a:solidFill>
                  <a:srgbClr val="FFFFFF"/>
                </a:solidFill>
                <a:latin typeface="Open Sans"/>
                <a:ea typeface="Open Sans"/>
                <a:cs typeface="Open Sans"/>
              </a:defRPr>
            </a:lvl1pPr>
            <a:lvl2pPr algn="l">
              <a:defRPr sz="3000" b="1">
                <a:solidFill>
                  <a:srgbClr val="FFFFFF"/>
                </a:solidFill>
                <a:latin typeface="Open Sans"/>
                <a:ea typeface="Open Sans"/>
                <a:cs typeface="Open Sans"/>
              </a:defRPr>
            </a:lvl2pPr>
            <a:lvl3pPr algn="l">
              <a:defRPr sz="3000" b="1">
                <a:solidFill>
                  <a:srgbClr val="FFFFFF"/>
                </a:solidFill>
                <a:latin typeface="Open Sans"/>
                <a:ea typeface="Open Sans"/>
                <a:cs typeface="Open Sans"/>
              </a:defRPr>
            </a:lvl3pPr>
            <a:lvl4pPr algn="l">
              <a:defRPr sz="3000" b="1">
                <a:solidFill>
                  <a:srgbClr val="FFFFFF"/>
                </a:solidFill>
                <a:latin typeface="Open Sans"/>
                <a:ea typeface="Open Sans"/>
                <a:cs typeface="Open Sans"/>
              </a:defRPr>
            </a:lvl4pPr>
            <a:lvl5pPr algn="l">
              <a:defRPr sz="3000" b="1">
                <a:solidFill>
                  <a:srgbClr val="FFFFFF"/>
                </a:solidFill>
                <a:latin typeface="Open Sans"/>
                <a:ea typeface="Open Sans"/>
                <a:cs typeface="Open Sans"/>
              </a:defRPr>
            </a:lvl5pPr>
            <a:lvl6pPr algn="l">
              <a:defRPr sz="3000" b="1">
                <a:solidFill>
                  <a:srgbClr val="FFFFFF"/>
                </a:solidFill>
                <a:latin typeface="Open Sans"/>
                <a:ea typeface="Open Sans"/>
                <a:cs typeface="Open Sans"/>
              </a:defRPr>
            </a:lvl6pPr>
            <a:lvl7pPr algn="l">
              <a:defRPr sz="3000" b="1">
                <a:solidFill>
                  <a:srgbClr val="FFFFFF"/>
                </a:solidFill>
                <a:latin typeface="Open Sans"/>
                <a:ea typeface="Open Sans"/>
                <a:cs typeface="Open Sans"/>
              </a:defRPr>
            </a:lvl7pPr>
            <a:lvl8pPr algn="l">
              <a:defRPr sz="3000" b="1">
                <a:solidFill>
                  <a:srgbClr val="FFFFFF"/>
                </a:solidFill>
                <a:latin typeface="Open Sans"/>
                <a:ea typeface="Open Sans"/>
                <a:cs typeface="Open Sans"/>
              </a:defRPr>
            </a:lvl8pPr>
            <a:lvl9pPr algn="l">
              <a:defRPr sz="3000" b="1">
                <a:solidFill>
                  <a:srgbClr val="FFFFFF"/>
                </a:solidFill>
                <a:latin typeface="Open Sans"/>
                <a:ea typeface="Open Sans"/>
                <a:cs typeface="Open Sans"/>
              </a:defRPr>
            </a:lvl9pPr>
          </a:lstStyle>
          <a:p>
            <a:pPr algn="l">
              <a:defRPr sz="3000" b="1">
                <a:solidFill>
                  <a:srgbClr val="FFFFFF"/>
                </a:solidFill>
                <a:latin typeface="Open Sans"/>
                <a:ea typeface="Open Sans"/>
                <a:cs typeface="Open Sans"/>
              </a:defRPr>
            </a:pPr>
            <a:r>
              <a:rPr sz="2500" b="1" u="none" dirty="0">
                <a:solidFill>
                  <a:srgbClr val="FFFFFF"/>
                </a:solidFill>
                <a:latin typeface="Open Sans"/>
                <a:ea typeface="Open Sans"/>
                <a:cs typeface="Open Sans"/>
              </a:rPr>
              <a:t>Tel Aviv Sparks</a:t>
            </a:r>
          </a:p>
          <a:p>
            <a:pPr algn="l">
              <a:defRPr sz="3000" b="1">
                <a:solidFill>
                  <a:srgbClr val="FFFFFF"/>
                </a:solidFill>
                <a:latin typeface="Open Sans"/>
                <a:ea typeface="Open Sans"/>
                <a:cs typeface="Open Sans"/>
              </a:defRPr>
            </a:pPr>
            <a:r>
              <a:rPr sz="2500" b="1" u="none" dirty="0">
                <a:solidFill>
                  <a:srgbClr val="FFFFFF"/>
                </a:solidFill>
                <a:latin typeface="Open Sans"/>
                <a:ea typeface="Open Sans"/>
                <a:cs typeface="Open Sans"/>
              </a:rPr>
              <a:t>Innovation Festival</a:t>
            </a:r>
          </a:p>
        </p:txBody>
      </p:sp>
      <p:sp>
        <p:nvSpPr>
          <p:cNvPr id="11" name="Motivation">
            <a:extLst>
              <a:ext uri="{FF2B5EF4-FFF2-40B4-BE49-F238E27FC236}">
                <a16:creationId xmlns:a16="http://schemas.microsoft.com/office/drawing/2014/main" id="{E0675D99-C2A5-4829-A852-64E426E5F8CB}"/>
              </a:ext>
            </a:extLst>
          </p:cNvPr>
          <p:cNvSpPr>
            <a:spLocks noGrp="1"/>
          </p:cNvSpPr>
          <p:nvPr/>
        </p:nvSpPr>
        <p:spPr>
          <a:xfrm>
            <a:off x="12287250" y="5305425"/>
            <a:ext cx="5286375" cy="571500"/>
          </a:xfrm>
          <a:prstGeom prst="rect">
            <a:avLst/>
          </a:prstGeom>
          <a:noFill/>
          <a:ln w="0">
            <a:noFill/>
          </a:ln>
        </p:spPr>
        <p:txBody>
          <a:bodyPr wrap="none" lIns="0" tIns="0" rIns="0" bIns="0" anchor="t">
            <a:noAutofit/>
          </a:bodyPr>
          <a:lstStyle>
            <a:defPPr algn="l">
              <a:defRPr sz="2700" b="1">
                <a:solidFill>
                  <a:srgbClr val="FFFFFF"/>
                </a:solidFill>
                <a:latin typeface="Open Sans"/>
                <a:ea typeface="Open Sans"/>
                <a:cs typeface="Open Sans"/>
              </a:defRPr>
            </a:defPPr>
            <a:lvl1pPr algn="l">
              <a:defRPr sz="2700" b="1">
                <a:solidFill>
                  <a:srgbClr val="FFFFFF"/>
                </a:solidFill>
                <a:latin typeface="Open Sans"/>
                <a:ea typeface="Open Sans"/>
                <a:cs typeface="Open Sans"/>
              </a:defRPr>
            </a:lvl1pPr>
            <a:lvl2pPr algn="l">
              <a:defRPr sz="2700" b="1">
                <a:solidFill>
                  <a:srgbClr val="FFFFFF"/>
                </a:solidFill>
                <a:latin typeface="Open Sans"/>
                <a:ea typeface="Open Sans"/>
                <a:cs typeface="Open Sans"/>
              </a:defRPr>
            </a:lvl2pPr>
            <a:lvl3pPr algn="l">
              <a:defRPr sz="2700" b="1">
                <a:solidFill>
                  <a:srgbClr val="FFFFFF"/>
                </a:solidFill>
                <a:latin typeface="Open Sans"/>
                <a:ea typeface="Open Sans"/>
                <a:cs typeface="Open Sans"/>
              </a:defRPr>
            </a:lvl3pPr>
            <a:lvl4pPr algn="l">
              <a:defRPr sz="2700" b="1">
                <a:solidFill>
                  <a:srgbClr val="FFFFFF"/>
                </a:solidFill>
                <a:latin typeface="Open Sans"/>
                <a:ea typeface="Open Sans"/>
                <a:cs typeface="Open Sans"/>
              </a:defRPr>
            </a:lvl4pPr>
            <a:lvl5pPr algn="l">
              <a:defRPr sz="2700" b="1">
                <a:solidFill>
                  <a:srgbClr val="FFFFFF"/>
                </a:solidFill>
                <a:latin typeface="Open Sans"/>
                <a:ea typeface="Open Sans"/>
                <a:cs typeface="Open Sans"/>
              </a:defRPr>
            </a:lvl5pPr>
            <a:lvl6pPr algn="l">
              <a:defRPr sz="2700" b="1">
                <a:solidFill>
                  <a:srgbClr val="FFFFFF"/>
                </a:solidFill>
                <a:latin typeface="Open Sans"/>
                <a:ea typeface="Open Sans"/>
                <a:cs typeface="Open Sans"/>
              </a:defRPr>
            </a:lvl6pPr>
            <a:lvl7pPr algn="l">
              <a:defRPr sz="2700" b="1">
                <a:solidFill>
                  <a:srgbClr val="FFFFFF"/>
                </a:solidFill>
                <a:latin typeface="Open Sans"/>
                <a:ea typeface="Open Sans"/>
                <a:cs typeface="Open Sans"/>
              </a:defRPr>
            </a:lvl7pPr>
            <a:lvl8pPr algn="l">
              <a:defRPr sz="2700" b="1">
                <a:solidFill>
                  <a:srgbClr val="FFFFFF"/>
                </a:solidFill>
                <a:latin typeface="Open Sans"/>
                <a:ea typeface="Open Sans"/>
                <a:cs typeface="Open Sans"/>
              </a:defRPr>
            </a:lvl8pPr>
            <a:lvl9pPr algn="l">
              <a:defRPr sz="2700" b="1">
                <a:solidFill>
                  <a:srgbClr val="FFFFFF"/>
                </a:solidFill>
                <a:latin typeface="Open Sans"/>
                <a:ea typeface="Open Sans"/>
                <a:cs typeface="Open Sans"/>
              </a:defRPr>
            </a:lvl9pPr>
          </a:lstStyle>
          <a:p>
            <a:pPr algn="l">
              <a:defRPr sz="2700" b="1">
                <a:solidFill>
                  <a:srgbClr val="FFFFFF"/>
                </a:solidFill>
                <a:latin typeface="Open Sans"/>
                <a:ea typeface="Open Sans"/>
                <a:cs typeface="Open Sans"/>
              </a:defRPr>
            </a:pPr>
            <a:r>
              <a:rPr sz="2700" b="1" dirty="0">
                <a:solidFill>
                  <a:srgbClr val="FFFFFF"/>
                </a:solidFill>
                <a:latin typeface="Open Sans"/>
                <a:ea typeface="Open Sans"/>
                <a:cs typeface="Open Sans"/>
              </a:rPr>
              <a:t>What will you create?</a:t>
            </a:r>
          </a:p>
        </p:txBody>
      </p:sp>
      <p:pic>
        <p:nvPicPr>
          <p:cNvPr id="12" name="Picture 11">
            <a:extLst>
              <a:ext uri="{FF2B5EF4-FFF2-40B4-BE49-F238E27FC236}">
                <a16:creationId xmlns:a16="http://schemas.microsoft.com/office/drawing/2014/main" id="{6CF91DA0-E705-4B2D-B018-38453E6B603B}"/>
              </a:ext>
            </a:extLst>
          </p:cNvPr>
          <p:cNvPicPr>
            <a:picLocks noChangeAspect="1"/>
          </p:cNvPicPr>
          <p:nvPr/>
        </p:nvPicPr>
        <p:blipFill>
          <a:blip r:embed="rId6"/>
          <a:stretch/>
        </p:blipFill>
        <p:spPr>
          <a:xfrm>
            <a:off x="13382625" y="6276975"/>
            <a:ext cx="2571750" cy="2571750"/>
          </a:xfrm>
          <a:prstGeom prst="rect">
            <a:avLst/>
          </a:prstGeom>
        </p:spPr>
      </p:pic>
      <p:sp>
        <p:nvSpPr>
          <p:cNvPr id="13" name="Games link">
            <a:extLst>
              <a:ext uri="{FF2B5EF4-FFF2-40B4-BE49-F238E27FC236}">
                <a16:creationId xmlns:a16="http://schemas.microsoft.com/office/drawing/2014/main" id="{038795DF-5FF8-431E-A47D-6B633C843BAC}"/>
              </a:ext>
            </a:extLst>
          </p:cNvPr>
          <p:cNvSpPr>
            <a:spLocks noGrp="1"/>
          </p:cNvSpPr>
          <p:nvPr/>
        </p:nvSpPr>
        <p:spPr>
          <a:xfrm>
            <a:off x="11930062" y="5859719"/>
            <a:ext cx="5476875" cy="381000"/>
          </a:xfrm>
          <a:prstGeom prst="rect">
            <a:avLst/>
          </a:prstGeom>
          <a:noFill/>
          <a:ln w="0">
            <a:noFill/>
          </a:ln>
        </p:spPr>
        <p:txBody>
          <a:bodyPr wrap="none" lIns="0" tIns="0" rIns="0" bIns="0" anchor="t">
            <a:noAutofit/>
          </a:bodyPr>
          <a:lstStyle>
            <a:defPPr algn="ctr">
              <a:defRPr sz="2200" b="0">
                <a:solidFill>
                  <a:srgbClr val="FFFFFF"/>
                </a:solidFill>
                <a:latin typeface="Open Sans"/>
                <a:ea typeface="Open Sans"/>
                <a:cs typeface="Open Sans"/>
              </a:defRPr>
            </a:defPPr>
            <a:lvl1pPr algn="ctr">
              <a:defRPr sz="2200" b="0">
                <a:solidFill>
                  <a:srgbClr val="FFFFFF"/>
                </a:solidFill>
                <a:latin typeface="Open Sans"/>
                <a:ea typeface="Open Sans"/>
                <a:cs typeface="Open Sans"/>
              </a:defRPr>
            </a:lvl1pPr>
            <a:lvl2pPr algn="ctr">
              <a:defRPr sz="2200" b="0">
                <a:solidFill>
                  <a:srgbClr val="FFFFFF"/>
                </a:solidFill>
                <a:latin typeface="Open Sans"/>
                <a:ea typeface="Open Sans"/>
                <a:cs typeface="Open Sans"/>
              </a:defRPr>
            </a:lvl2pPr>
            <a:lvl3pPr algn="ctr">
              <a:defRPr sz="2200" b="0">
                <a:solidFill>
                  <a:srgbClr val="FFFFFF"/>
                </a:solidFill>
                <a:latin typeface="Open Sans"/>
                <a:ea typeface="Open Sans"/>
                <a:cs typeface="Open Sans"/>
              </a:defRPr>
            </a:lvl3pPr>
            <a:lvl4pPr algn="ctr">
              <a:defRPr sz="2200" b="0">
                <a:solidFill>
                  <a:srgbClr val="FFFFFF"/>
                </a:solidFill>
                <a:latin typeface="Open Sans"/>
                <a:ea typeface="Open Sans"/>
                <a:cs typeface="Open Sans"/>
              </a:defRPr>
            </a:lvl4pPr>
            <a:lvl5pPr algn="ctr">
              <a:defRPr sz="2200" b="0">
                <a:solidFill>
                  <a:srgbClr val="FFFFFF"/>
                </a:solidFill>
                <a:latin typeface="Open Sans"/>
                <a:ea typeface="Open Sans"/>
                <a:cs typeface="Open Sans"/>
              </a:defRPr>
            </a:lvl5pPr>
            <a:lvl6pPr algn="ctr">
              <a:defRPr sz="2200" b="0">
                <a:solidFill>
                  <a:srgbClr val="FFFFFF"/>
                </a:solidFill>
                <a:latin typeface="Open Sans"/>
                <a:ea typeface="Open Sans"/>
                <a:cs typeface="Open Sans"/>
              </a:defRPr>
            </a:lvl6pPr>
            <a:lvl7pPr algn="ctr">
              <a:defRPr sz="2200" b="0">
                <a:solidFill>
                  <a:srgbClr val="FFFFFF"/>
                </a:solidFill>
                <a:latin typeface="Open Sans"/>
                <a:ea typeface="Open Sans"/>
                <a:cs typeface="Open Sans"/>
              </a:defRPr>
            </a:lvl7pPr>
            <a:lvl8pPr algn="ctr">
              <a:defRPr sz="2200" b="0">
                <a:solidFill>
                  <a:srgbClr val="FFFFFF"/>
                </a:solidFill>
                <a:latin typeface="Open Sans"/>
                <a:ea typeface="Open Sans"/>
                <a:cs typeface="Open Sans"/>
              </a:defRPr>
            </a:lvl8pPr>
            <a:lvl9pPr algn="ctr">
              <a:defRPr sz="2200" b="0">
                <a:solidFill>
                  <a:srgbClr val="FFFFFF"/>
                </a:solidFill>
                <a:latin typeface="Open Sans"/>
                <a:ea typeface="Open Sans"/>
                <a:cs typeface="Open Sans"/>
              </a:defRPr>
            </a:lvl9pPr>
          </a:lstStyle>
          <a:p>
            <a:pPr algn="ctr">
              <a:defRPr sz="2200" b="0">
                <a:solidFill>
                  <a:srgbClr val="FFFFFF"/>
                </a:solidFill>
                <a:latin typeface="Open Sans"/>
                <a:ea typeface="Open Sans"/>
                <a:cs typeface="Open Sans"/>
              </a:defRPr>
            </a:pPr>
            <a:r>
              <a:rPr lang="en-US" sz="2200" b="0" u="none" dirty="0">
                <a:solidFill>
                  <a:srgbClr val="FFFFFF"/>
                </a:solidFill>
                <a:latin typeface="Open Sans"/>
                <a:ea typeface="Open Sans"/>
                <a:cs typeface="Open Sans"/>
              </a:rPr>
              <a:t>Check Them Out</a:t>
            </a:r>
            <a:endParaRPr sz="2200" b="0" u="none" dirty="0">
              <a:solidFill>
                <a:srgbClr val="FFFFFF"/>
              </a:solidFill>
              <a:latin typeface="Open Sans"/>
              <a:ea typeface="Open Sans"/>
              <a:cs typeface="Open Sans"/>
            </a:endParaRPr>
          </a:p>
        </p:txBody>
      </p:sp>
    </p:spTree>
    <p:extLst>
      <p:ext uri="{BB962C8B-B14F-4D97-AF65-F5344CB8AC3E}">
        <p14:creationId xmlns:p14="http://schemas.microsoft.com/office/powerpoint/2010/main" val="283244880"/>
      </p:ext>
    </p:extLst>
  </p:cSld>
  <p:clrMapOvr>
    <a:masterClrMapping/>
  </p:clrMapOvr>
</p:sld>
</file>

<file path=ppt/slides/slide11.xml><?xml version="1.0" encoding="utf-8"?>
<p:sld xmlns:p="http://schemas.openxmlformats.org/presentationml/2006/main">
  <p:cSld>
    <p:bg>
      <p:bgPr>
        <a:solidFill xmlns:a="http://schemas.openxmlformats.org/drawingml/2006/main">
          <a:srgbClr val="1A022B"/>
        </a:solidFill>
      </p:bgPr>
    </p:bg>
    <p:spTree>
      <p:nvGrpSpPr>
        <p:cNvPr id="1" name=""/>
        <p:cNvGrpSpPr/>
        <p:nvPr/>
      </p:nvGrpSpPr>
      <p:grpSpPr>
        <a:xfrm xmlns:a="http://schemas.openxmlformats.org/drawingml/2006/main"/>
      </p:grpSpPr>
      <p:sp xmlns:a="http://schemas.openxmlformats.org/drawingml/2006/main" xmlns:r="http://schemas.openxmlformats.org/officeDocument/2006/relationships">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3" name="Freeform 3"/>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4" name="Freeform 4"/>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5" name="Freeform 5"/>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bg_clouds"/>
            <a:stretch>
              <a:fillRect/>
            </a:stretch>
          </a:blipFill>
        </p:spPr>
        <p:txBody>
          <a:bodyPr/>
          <a:lstStyle/>
          <a:p>
            <a:endParaRPr lang="en-US"/>
          </a:p>
        </p:txBody>
      </p:sp>
      <p:sp xmlns:a="http://schemas.openxmlformats.org/drawingml/2006/main" xmlns:r="http://schemas.openxmlformats.org/officeDocument/2006/relationships">
        <p:nvSpPr>
          <p:cNvPr id="6" name="Freeform 6"/>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bg_clouds"/>
            <a:stretch>
              <a:fillRect/>
            </a:stretch>
          </a:blipFill>
        </p:spPr>
        <p:txBody>
          <a:bodyPr/>
          <a:lstStyle/>
          <a:p>
            <a:endParaRPr lang="en-US"/>
          </a:p>
        </p:txBody>
      </p:sp>
      <p:sp>
        <p:nvSpPr>
          <p:cNvPr id="7" name="Slide title">
            <a:extLst xmlns:a="http://schemas.openxmlformats.org/drawingml/2006/main">
              <a:ext uri="{FF2B5EF4-FFF2-40B4-BE49-F238E27FC236}">
                <a16:creationId xmlns:a16="http://schemas.microsoft.com/office/drawing/2014/main" id="{CAFF3B7E-4166-4730-AA17-F0290E279635}"/>
              </a:ext>
            </a:extLst>
          </p:cNvPr>
          <p:cNvSpPr>
            <a:spLocks xmlns:a="http://schemas.openxmlformats.org/drawingml/2006/main" noGrp="1"/>
          </p:cNvSpPr>
          <p:nvPr/>
        </p:nvSpPr>
        <p:spPr>
          <a:xfrm xmlns:a="http://schemas.openxmlformats.org/drawingml/2006/main">
            <a:off x="714375" y="1381125"/>
            <a:ext cx="1685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xmlns:a="http://schemas.openxmlformats.org/drawingml/2006/main">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SMALL TEAMS. BIG REACH.</a:t>
            </a:r>
          </a:p>
        </p:txBody>
      </p:sp>
      <p:sp>
        <p:nvSpPr>
          <p:cNvPr id="8" name="Papers title">
            <a:extLst xmlns:a="http://schemas.openxmlformats.org/drawingml/2006/main">
              <a:ext uri="{FF2B5EF4-FFF2-40B4-BE49-F238E27FC236}">
                <a16:creationId xmlns:a16="http://schemas.microsoft.com/office/drawing/2014/main" id="{7375E4A6-2FA9-4DE1-BAE2-DBFB8607E073}"/>
              </a:ext>
            </a:extLst>
          </p:cNvPr>
          <p:cNvSpPr>
            <a:spLocks xmlns:a="http://schemas.openxmlformats.org/drawingml/2006/main" noGrp="1"/>
          </p:cNvSpPr>
          <p:nvPr/>
        </p:nvSpPr>
        <p:spPr>
          <a:xfrm xmlns:a="http://schemas.openxmlformats.org/drawingml/2006/main">
            <a:off x="762000" y="257175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FFFFFF"/>
                </a:solidFill>
                <a:latin typeface="Open Sans"/>
                <a:ea typeface="Open Sans"/>
                <a:cs typeface="Open Sans"/>
              </a:defRPr>
            </a:defPPr>
            <a:lvl1pPr algn="l">
              <a:defRPr sz="3000" b="1">
                <a:solidFill>
                  <a:srgbClr val="FFFFFF"/>
                </a:solidFill>
                <a:latin typeface="Open Sans"/>
                <a:ea typeface="Open Sans"/>
                <a:cs typeface="Open Sans"/>
              </a:defRPr>
            </a:lvl1pPr>
            <a:lvl2pPr algn="l">
              <a:defRPr sz="3000" b="1">
                <a:solidFill>
                  <a:srgbClr val="FFFFFF"/>
                </a:solidFill>
                <a:latin typeface="Open Sans"/>
                <a:ea typeface="Open Sans"/>
                <a:cs typeface="Open Sans"/>
              </a:defRPr>
            </a:lvl2pPr>
            <a:lvl3pPr algn="l">
              <a:defRPr sz="3000" b="1">
                <a:solidFill>
                  <a:srgbClr val="FFFFFF"/>
                </a:solidFill>
                <a:latin typeface="Open Sans"/>
                <a:ea typeface="Open Sans"/>
                <a:cs typeface="Open Sans"/>
              </a:defRPr>
            </a:lvl3pPr>
            <a:lvl4pPr algn="l">
              <a:defRPr sz="3000" b="1">
                <a:solidFill>
                  <a:srgbClr val="FFFFFF"/>
                </a:solidFill>
                <a:latin typeface="Open Sans"/>
                <a:ea typeface="Open Sans"/>
                <a:cs typeface="Open Sans"/>
              </a:defRPr>
            </a:lvl4pPr>
            <a:lvl5pPr algn="l">
              <a:defRPr sz="3000" b="1">
                <a:solidFill>
                  <a:srgbClr val="FFFFFF"/>
                </a:solidFill>
                <a:latin typeface="Open Sans"/>
                <a:ea typeface="Open Sans"/>
                <a:cs typeface="Open Sans"/>
              </a:defRPr>
            </a:lvl5pPr>
            <a:lvl6pPr algn="l">
              <a:defRPr sz="3000" b="1">
                <a:solidFill>
                  <a:srgbClr val="FFFFFF"/>
                </a:solidFill>
                <a:latin typeface="Open Sans"/>
                <a:ea typeface="Open Sans"/>
                <a:cs typeface="Open Sans"/>
              </a:defRPr>
            </a:lvl6pPr>
            <a:lvl7pPr algn="l">
              <a:defRPr sz="3000" b="1">
                <a:solidFill>
                  <a:srgbClr val="FFFFFF"/>
                </a:solidFill>
                <a:latin typeface="Open Sans"/>
                <a:ea typeface="Open Sans"/>
                <a:cs typeface="Open Sans"/>
              </a:defRPr>
            </a:lvl7pPr>
            <a:lvl8pPr algn="l">
              <a:defRPr sz="3000" b="1">
                <a:solidFill>
                  <a:srgbClr val="FFFFFF"/>
                </a:solidFill>
                <a:latin typeface="Open Sans"/>
                <a:ea typeface="Open Sans"/>
                <a:cs typeface="Open Sans"/>
              </a:defRPr>
            </a:lvl8pPr>
            <a:lvl9pPr algn="l">
              <a:defRPr sz="3000" b="1">
                <a:solidFill>
                  <a:srgbClr val="FFFFFF"/>
                </a:solidFill>
                <a:latin typeface="Open Sans"/>
                <a:ea typeface="Open Sans"/>
                <a:cs typeface="Open Sans"/>
              </a:defRPr>
            </a:lvl9pPr>
          </a:lstStyle>
          <a:p xmlns:a="http://schemas.openxmlformats.org/drawingml/2006/main">
            <a:pPr algn="l">
              <a:defRPr sz="3000" b="1">
                <a:solidFill>
                  <a:srgbClr val="FFFFFF"/>
                </a:solidFill>
                <a:latin typeface="Open Sans"/>
                <a:ea typeface="Open Sans"/>
                <a:cs typeface="Open Sans"/>
              </a:defRPr>
            </a:pPr>
            <a:r>
              <a:rPr sz="3000" b="1">
                <a:solidFill>
                  <a:srgbClr val="FFFFFF"/>
                </a:solidFill>
                <a:latin typeface="Open Sans"/>
                <a:ea typeface="Open Sans"/>
                <a:cs typeface="Open Sans"/>
              </a:rPr>
              <a:t>PAPERS, PLEASE</a:t>
            </a:r>
          </a:p>
        </p:txBody>
      </p:sp>
      <p:sp>
        <p:nvSpPr>
          <p:cNvPr id="9" name="Papers creator">
            <a:extLst xmlns:a="http://schemas.openxmlformats.org/drawingml/2006/main">
              <a:ext uri="{FF2B5EF4-FFF2-40B4-BE49-F238E27FC236}">
                <a16:creationId xmlns:a16="http://schemas.microsoft.com/office/drawing/2014/main" id="{51F5F816-BBDA-406F-A70E-67B5BDA00107}"/>
              </a:ext>
            </a:extLst>
          </p:cNvPr>
          <p:cNvSpPr>
            <a:spLocks xmlns:a="http://schemas.openxmlformats.org/drawingml/2006/main" noGrp="1"/>
          </p:cNvSpPr>
          <p:nvPr/>
        </p:nvSpPr>
        <p:spPr>
          <a:xfrm xmlns:a="http://schemas.openxmlformats.org/drawingml/2006/main">
            <a:off x="762000" y="3076575"/>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FFFFFF"/>
                </a:solidFill>
                <a:latin typeface="Open Sans"/>
                <a:ea typeface="Open Sans"/>
                <a:cs typeface="Open Sans"/>
              </a:defRPr>
            </a:defPPr>
            <a:lvl1pPr algn="l">
              <a:defRPr sz="2250" b="0">
                <a:solidFill>
                  <a:srgbClr val="FFFFFF"/>
                </a:solidFill>
                <a:latin typeface="Open Sans"/>
                <a:ea typeface="Open Sans"/>
                <a:cs typeface="Open Sans"/>
              </a:defRPr>
            </a:lvl1pPr>
            <a:lvl2pPr algn="l">
              <a:defRPr sz="2250" b="0">
                <a:solidFill>
                  <a:srgbClr val="FFFFFF"/>
                </a:solidFill>
                <a:latin typeface="Open Sans"/>
                <a:ea typeface="Open Sans"/>
                <a:cs typeface="Open Sans"/>
              </a:defRPr>
            </a:lvl2pPr>
            <a:lvl3pPr algn="l">
              <a:defRPr sz="2250" b="0">
                <a:solidFill>
                  <a:srgbClr val="FFFFFF"/>
                </a:solidFill>
                <a:latin typeface="Open Sans"/>
                <a:ea typeface="Open Sans"/>
                <a:cs typeface="Open Sans"/>
              </a:defRPr>
            </a:lvl3pPr>
            <a:lvl4pPr algn="l">
              <a:defRPr sz="2250" b="0">
                <a:solidFill>
                  <a:srgbClr val="FFFFFF"/>
                </a:solidFill>
                <a:latin typeface="Open Sans"/>
                <a:ea typeface="Open Sans"/>
                <a:cs typeface="Open Sans"/>
              </a:defRPr>
            </a:lvl4pPr>
            <a:lvl5pPr algn="l">
              <a:defRPr sz="2250" b="0">
                <a:solidFill>
                  <a:srgbClr val="FFFFFF"/>
                </a:solidFill>
                <a:latin typeface="Open Sans"/>
                <a:ea typeface="Open Sans"/>
                <a:cs typeface="Open Sans"/>
              </a:defRPr>
            </a:lvl5pPr>
            <a:lvl6pPr algn="l">
              <a:defRPr sz="2250" b="0">
                <a:solidFill>
                  <a:srgbClr val="FFFFFF"/>
                </a:solidFill>
                <a:latin typeface="Open Sans"/>
                <a:ea typeface="Open Sans"/>
                <a:cs typeface="Open Sans"/>
              </a:defRPr>
            </a:lvl6pPr>
            <a:lvl7pPr algn="l">
              <a:defRPr sz="2250" b="0">
                <a:solidFill>
                  <a:srgbClr val="FFFFFF"/>
                </a:solidFill>
                <a:latin typeface="Open Sans"/>
                <a:ea typeface="Open Sans"/>
                <a:cs typeface="Open Sans"/>
              </a:defRPr>
            </a:lvl7pPr>
            <a:lvl8pPr algn="l">
              <a:defRPr sz="2250" b="0">
                <a:solidFill>
                  <a:srgbClr val="FFFFFF"/>
                </a:solidFill>
                <a:latin typeface="Open Sans"/>
                <a:ea typeface="Open Sans"/>
                <a:cs typeface="Open Sans"/>
              </a:defRPr>
            </a:lvl8pPr>
            <a:lvl9pPr algn="l">
              <a:defRPr sz="2250" b="0">
                <a:solidFill>
                  <a:srgbClr val="FFFFFF"/>
                </a:solidFill>
                <a:latin typeface="Open Sans"/>
                <a:ea typeface="Open Sans"/>
                <a:cs typeface="Open Sans"/>
              </a:defRPr>
            </a:lvl9pPr>
          </a:lstStyle>
          <a:p xmlns:a="http://schemas.openxmlformats.org/drawingml/2006/main">
            <a:pPr algn="l">
              <a:defRPr sz="2250" b="0">
                <a:solidFill>
                  <a:srgbClr val="FFFFFF"/>
                </a:solidFill>
                <a:latin typeface="Open Sans"/>
                <a:ea typeface="Open Sans"/>
                <a:cs typeface="Open Sans"/>
              </a:defRPr>
            </a:pPr>
            <a:r>
              <a:rPr sz="2250" b="0">
                <a:solidFill>
                  <a:srgbClr val="FFFFFF"/>
                </a:solidFill>
                <a:latin typeface="Open Sans"/>
                <a:ea typeface="Open Sans"/>
                <a:cs typeface="Open Sans"/>
              </a:rPr>
              <a:t>Lucas Pope / self-published</a:t>
            </a:r>
          </a:p>
        </p:txBody>
      </p:sp>
      <p:sp>
        <p:nvSpPr>
          <p:cNvPr id="10" name="Balatro title">
            <a:extLst xmlns:a="http://schemas.openxmlformats.org/drawingml/2006/main">
              <a:ext uri="{FF2B5EF4-FFF2-40B4-BE49-F238E27FC236}">
                <a16:creationId xmlns:a16="http://schemas.microsoft.com/office/drawing/2014/main" id="{D0806B5E-D81A-4C36-BCDD-5BC540BF0204}"/>
              </a:ext>
            </a:extLst>
          </p:cNvPr>
          <p:cNvSpPr>
            <a:spLocks xmlns:a="http://schemas.openxmlformats.org/drawingml/2006/main" noGrp="1"/>
          </p:cNvSpPr>
          <p:nvPr/>
        </p:nvSpPr>
        <p:spPr>
          <a:xfrm xmlns:a="http://schemas.openxmlformats.org/drawingml/2006/main">
            <a:off x="9525000" y="257175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FFFFFF"/>
                </a:solidFill>
                <a:latin typeface="Open Sans"/>
                <a:ea typeface="Open Sans"/>
                <a:cs typeface="Open Sans"/>
              </a:defRPr>
            </a:defPPr>
            <a:lvl1pPr algn="l">
              <a:defRPr sz="3000" b="1">
                <a:solidFill>
                  <a:srgbClr val="FFFFFF"/>
                </a:solidFill>
                <a:latin typeface="Open Sans"/>
                <a:ea typeface="Open Sans"/>
                <a:cs typeface="Open Sans"/>
              </a:defRPr>
            </a:lvl1pPr>
            <a:lvl2pPr algn="l">
              <a:defRPr sz="3000" b="1">
                <a:solidFill>
                  <a:srgbClr val="FFFFFF"/>
                </a:solidFill>
                <a:latin typeface="Open Sans"/>
                <a:ea typeface="Open Sans"/>
                <a:cs typeface="Open Sans"/>
              </a:defRPr>
            </a:lvl2pPr>
            <a:lvl3pPr algn="l">
              <a:defRPr sz="3000" b="1">
                <a:solidFill>
                  <a:srgbClr val="FFFFFF"/>
                </a:solidFill>
                <a:latin typeface="Open Sans"/>
                <a:ea typeface="Open Sans"/>
                <a:cs typeface="Open Sans"/>
              </a:defRPr>
            </a:lvl3pPr>
            <a:lvl4pPr algn="l">
              <a:defRPr sz="3000" b="1">
                <a:solidFill>
                  <a:srgbClr val="FFFFFF"/>
                </a:solidFill>
                <a:latin typeface="Open Sans"/>
                <a:ea typeface="Open Sans"/>
                <a:cs typeface="Open Sans"/>
              </a:defRPr>
            </a:lvl4pPr>
            <a:lvl5pPr algn="l">
              <a:defRPr sz="3000" b="1">
                <a:solidFill>
                  <a:srgbClr val="FFFFFF"/>
                </a:solidFill>
                <a:latin typeface="Open Sans"/>
                <a:ea typeface="Open Sans"/>
                <a:cs typeface="Open Sans"/>
              </a:defRPr>
            </a:lvl5pPr>
            <a:lvl6pPr algn="l">
              <a:defRPr sz="3000" b="1">
                <a:solidFill>
                  <a:srgbClr val="FFFFFF"/>
                </a:solidFill>
                <a:latin typeface="Open Sans"/>
                <a:ea typeface="Open Sans"/>
                <a:cs typeface="Open Sans"/>
              </a:defRPr>
            </a:lvl6pPr>
            <a:lvl7pPr algn="l">
              <a:defRPr sz="3000" b="1">
                <a:solidFill>
                  <a:srgbClr val="FFFFFF"/>
                </a:solidFill>
                <a:latin typeface="Open Sans"/>
                <a:ea typeface="Open Sans"/>
                <a:cs typeface="Open Sans"/>
              </a:defRPr>
            </a:lvl7pPr>
            <a:lvl8pPr algn="l">
              <a:defRPr sz="3000" b="1">
                <a:solidFill>
                  <a:srgbClr val="FFFFFF"/>
                </a:solidFill>
                <a:latin typeface="Open Sans"/>
                <a:ea typeface="Open Sans"/>
                <a:cs typeface="Open Sans"/>
              </a:defRPr>
            </a:lvl8pPr>
            <a:lvl9pPr algn="l">
              <a:defRPr sz="3000" b="1">
                <a:solidFill>
                  <a:srgbClr val="FFFFFF"/>
                </a:solidFill>
                <a:latin typeface="Open Sans"/>
                <a:ea typeface="Open Sans"/>
                <a:cs typeface="Open Sans"/>
              </a:defRPr>
            </a:lvl9pPr>
          </a:lstStyle>
          <a:p xmlns:a="http://schemas.openxmlformats.org/drawingml/2006/main">
            <a:pPr algn="l">
              <a:defRPr sz="3000" b="1">
                <a:solidFill>
                  <a:srgbClr val="FFFFFF"/>
                </a:solidFill>
                <a:latin typeface="Open Sans"/>
                <a:ea typeface="Open Sans"/>
                <a:cs typeface="Open Sans"/>
              </a:defRPr>
            </a:pPr>
            <a:r>
              <a:rPr sz="3000" b="1">
                <a:solidFill>
                  <a:srgbClr val="FFFFFF"/>
                </a:solidFill>
                <a:latin typeface="Open Sans"/>
                <a:ea typeface="Open Sans"/>
                <a:cs typeface="Open Sans"/>
              </a:rPr>
              <a:t>BALATRO</a:t>
            </a:r>
          </a:p>
        </p:txBody>
      </p:sp>
      <p:sp>
        <p:nvSpPr>
          <p:cNvPr id="11" name="Balatro creator">
            <a:extLst xmlns:a="http://schemas.openxmlformats.org/drawingml/2006/main">
              <a:ext uri="{FF2B5EF4-FFF2-40B4-BE49-F238E27FC236}">
                <a16:creationId xmlns:a16="http://schemas.microsoft.com/office/drawing/2014/main" id="{6C760A89-A567-46C2-AA46-8DD3F186345E}"/>
              </a:ext>
            </a:extLst>
          </p:cNvPr>
          <p:cNvSpPr>
            <a:spLocks xmlns:a="http://schemas.openxmlformats.org/drawingml/2006/main" noGrp="1"/>
          </p:cNvSpPr>
          <p:nvPr/>
        </p:nvSpPr>
        <p:spPr>
          <a:xfrm xmlns:a="http://schemas.openxmlformats.org/drawingml/2006/main">
            <a:off x="9525000" y="3076575"/>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FFFFFF"/>
                </a:solidFill>
                <a:latin typeface="Open Sans"/>
                <a:ea typeface="Open Sans"/>
                <a:cs typeface="Open Sans"/>
              </a:defRPr>
            </a:defPPr>
            <a:lvl1pPr algn="l">
              <a:defRPr sz="2250" b="0">
                <a:solidFill>
                  <a:srgbClr val="FFFFFF"/>
                </a:solidFill>
                <a:latin typeface="Open Sans"/>
                <a:ea typeface="Open Sans"/>
                <a:cs typeface="Open Sans"/>
              </a:defRPr>
            </a:lvl1pPr>
            <a:lvl2pPr algn="l">
              <a:defRPr sz="2250" b="0">
                <a:solidFill>
                  <a:srgbClr val="FFFFFF"/>
                </a:solidFill>
                <a:latin typeface="Open Sans"/>
                <a:ea typeface="Open Sans"/>
                <a:cs typeface="Open Sans"/>
              </a:defRPr>
            </a:lvl2pPr>
            <a:lvl3pPr algn="l">
              <a:defRPr sz="2250" b="0">
                <a:solidFill>
                  <a:srgbClr val="FFFFFF"/>
                </a:solidFill>
                <a:latin typeface="Open Sans"/>
                <a:ea typeface="Open Sans"/>
                <a:cs typeface="Open Sans"/>
              </a:defRPr>
            </a:lvl3pPr>
            <a:lvl4pPr algn="l">
              <a:defRPr sz="2250" b="0">
                <a:solidFill>
                  <a:srgbClr val="FFFFFF"/>
                </a:solidFill>
                <a:latin typeface="Open Sans"/>
                <a:ea typeface="Open Sans"/>
                <a:cs typeface="Open Sans"/>
              </a:defRPr>
            </a:lvl4pPr>
            <a:lvl5pPr algn="l">
              <a:defRPr sz="2250" b="0">
                <a:solidFill>
                  <a:srgbClr val="FFFFFF"/>
                </a:solidFill>
                <a:latin typeface="Open Sans"/>
                <a:ea typeface="Open Sans"/>
                <a:cs typeface="Open Sans"/>
              </a:defRPr>
            </a:lvl5pPr>
            <a:lvl6pPr algn="l">
              <a:defRPr sz="2250" b="0">
                <a:solidFill>
                  <a:srgbClr val="FFFFFF"/>
                </a:solidFill>
                <a:latin typeface="Open Sans"/>
                <a:ea typeface="Open Sans"/>
                <a:cs typeface="Open Sans"/>
              </a:defRPr>
            </a:lvl6pPr>
            <a:lvl7pPr algn="l">
              <a:defRPr sz="2250" b="0">
                <a:solidFill>
                  <a:srgbClr val="FFFFFF"/>
                </a:solidFill>
                <a:latin typeface="Open Sans"/>
                <a:ea typeface="Open Sans"/>
                <a:cs typeface="Open Sans"/>
              </a:defRPr>
            </a:lvl7pPr>
            <a:lvl8pPr algn="l">
              <a:defRPr sz="2250" b="0">
                <a:solidFill>
                  <a:srgbClr val="FFFFFF"/>
                </a:solidFill>
                <a:latin typeface="Open Sans"/>
                <a:ea typeface="Open Sans"/>
                <a:cs typeface="Open Sans"/>
              </a:defRPr>
            </a:lvl8pPr>
            <a:lvl9pPr algn="l">
              <a:defRPr sz="2250" b="0">
                <a:solidFill>
                  <a:srgbClr val="FFFFFF"/>
                </a:solidFill>
                <a:latin typeface="Open Sans"/>
                <a:ea typeface="Open Sans"/>
                <a:cs typeface="Open Sans"/>
              </a:defRPr>
            </a:lvl9pPr>
          </a:lstStyle>
          <a:p xmlns:a="http://schemas.openxmlformats.org/drawingml/2006/main">
            <a:pPr algn="l">
              <a:defRPr sz="2250" b="0">
                <a:solidFill>
                  <a:srgbClr val="FFFFFF"/>
                </a:solidFill>
                <a:latin typeface="Open Sans"/>
                <a:ea typeface="Open Sans"/>
                <a:cs typeface="Open Sans"/>
              </a:defRPr>
            </a:pPr>
            <a:r>
              <a:rPr sz="2250" b="0">
                <a:solidFill>
                  <a:srgbClr val="FFFFFF"/>
                </a:solidFill>
                <a:latin typeface="Open Sans"/>
                <a:ea typeface="Open Sans"/>
                <a:cs typeface="Open Sans"/>
              </a:rPr>
              <a:t>LocalThunk / Playstack</a:t>
            </a:r>
          </a:p>
        </p:txBody>
      </p:sp>
      <p:pic>
        <p:nvPicPr>
          <p:cNvPr id="12" name="">
            <a:extLst xmlns:a="http://schemas.openxmlformats.org/drawingml/2006/main">
              <a:ext uri="{FF2B5EF4-FFF2-40B4-BE49-F238E27FC236}">
                <a16:creationId xmlns:a16="http://schemas.microsoft.com/office/drawing/2014/main" id="{5BB4A88D-2AEC-4F76-A401-FBEEDDFF9397}"/>
              </a:ext>
            </a:extLst>
          </p:cNvPr>
          <p:cNvPicPr>
            <a:picLocks xmlns:a="http://schemas.openxmlformats.org/drawingml/2006/main" noChangeAspect="1"/>
          </p:cNvPicPr>
          <p:nvPr/>
        </p:nvPicPr>
        <p:blipFill>
          <a:blip xmlns:r="http://schemas.openxmlformats.org/officeDocument/2006/relationships" xmlns:a="http://schemas.openxmlformats.org/drawingml/2006/main" r:embed="Rdd112f11f24a4439"/>
          <a:stretch xmlns:a="http://schemas.openxmlformats.org/drawingml/2006/main"/>
        </p:blipFill>
        <p:spPr>
          <a:xfrm xmlns:a="http://schemas.openxmlformats.org/drawingml/2006/main">
            <a:off x="762000" y="3619505"/>
            <a:ext cx="8001000" cy="4491789"/>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C9D771EF-B4D6-408D-B7A2-670F1C458E8F}"/>
              </a:ext>
            </a:extLst>
          </p:cNvPr>
          <p:cNvPicPr>
            <a:picLocks xmlns:a="http://schemas.openxmlformats.org/drawingml/2006/main" noChangeAspect="1"/>
          </p:cNvPicPr>
          <p:nvPr/>
        </p:nvPicPr>
        <p:blipFill>
          <a:blip xmlns:r="http://schemas.openxmlformats.org/officeDocument/2006/relationships" xmlns:a="http://schemas.openxmlformats.org/drawingml/2006/main" r:embed="R7cb04f527b92440e"/>
          <a:stretch xmlns:a="http://schemas.openxmlformats.org/drawingml/2006/main"/>
        </p:blipFill>
        <p:spPr>
          <a:xfrm xmlns:a="http://schemas.openxmlformats.org/drawingml/2006/main">
            <a:off x="9525000" y="3619500"/>
            <a:ext cx="8001000" cy="4500563"/>
          </a:xfrm>
          <a:prstGeom xmlns:a="http://schemas.openxmlformats.org/drawingml/2006/main" prst="rect">
            <a:avLst/>
          </a:prstGeom>
        </p:spPr>
      </p:pic>
      <p:sp>
        <p:nvSpPr>
          <p:cNvPr id="14" name="Sales milestone Aug 2023">
            <a:extLst xmlns:a="http://schemas.openxmlformats.org/drawingml/2006/main">
              <a:ext uri="{FF2B5EF4-FFF2-40B4-BE49-F238E27FC236}">
                <a16:creationId xmlns:a16="http://schemas.microsoft.com/office/drawing/2014/main" id="{758297D0-E0DB-4C23-9547-08DFE25AE5BD}"/>
              </a:ext>
            </a:extLst>
          </p:cNvPr>
          <p:cNvSpPr>
            <a:spLocks xmlns:a="http://schemas.openxmlformats.org/drawingml/2006/main" noGrp="1"/>
          </p:cNvSpPr>
          <p:nvPr/>
        </p:nvSpPr>
        <p:spPr>
          <a:xfrm xmlns:a="http://schemas.openxmlformats.org/drawingml/2006/main">
            <a:off x="762000" y="824865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00" b="0">
                <a:solidFill>
                  <a:srgbClr val="9AFFD2"/>
                </a:solidFill>
                <a:latin typeface="Press Start 2P"/>
                <a:ea typeface="Press Start 2P"/>
                <a:cs typeface="Press Start 2P"/>
              </a:defRPr>
            </a:defPPr>
            <a:lvl1pPr algn="l">
              <a:defRPr sz="4800" b="0">
                <a:solidFill>
                  <a:srgbClr val="9AFFD2"/>
                </a:solidFill>
                <a:latin typeface="Press Start 2P"/>
                <a:ea typeface="Press Start 2P"/>
                <a:cs typeface="Press Start 2P"/>
              </a:defRPr>
            </a:lvl1pPr>
            <a:lvl2pPr algn="l">
              <a:defRPr sz="4800" b="0">
                <a:solidFill>
                  <a:srgbClr val="9AFFD2"/>
                </a:solidFill>
                <a:latin typeface="Press Start 2P"/>
                <a:ea typeface="Press Start 2P"/>
                <a:cs typeface="Press Start 2P"/>
              </a:defRPr>
            </a:lvl2pPr>
            <a:lvl3pPr algn="l">
              <a:defRPr sz="4800" b="0">
                <a:solidFill>
                  <a:srgbClr val="9AFFD2"/>
                </a:solidFill>
                <a:latin typeface="Press Start 2P"/>
                <a:ea typeface="Press Start 2P"/>
                <a:cs typeface="Press Start 2P"/>
              </a:defRPr>
            </a:lvl3pPr>
            <a:lvl4pPr algn="l">
              <a:defRPr sz="4800" b="0">
                <a:solidFill>
                  <a:srgbClr val="9AFFD2"/>
                </a:solidFill>
                <a:latin typeface="Press Start 2P"/>
                <a:ea typeface="Press Start 2P"/>
                <a:cs typeface="Press Start 2P"/>
              </a:defRPr>
            </a:lvl4pPr>
            <a:lvl5pPr algn="l">
              <a:defRPr sz="4800" b="0">
                <a:solidFill>
                  <a:srgbClr val="9AFFD2"/>
                </a:solidFill>
                <a:latin typeface="Press Start 2P"/>
                <a:ea typeface="Press Start 2P"/>
                <a:cs typeface="Press Start 2P"/>
              </a:defRPr>
            </a:lvl5pPr>
            <a:lvl6pPr algn="l">
              <a:defRPr sz="4800" b="0">
                <a:solidFill>
                  <a:srgbClr val="9AFFD2"/>
                </a:solidFill>
                <a:latin typeface="Press Start 2P"/>
                <a:ea typeface="Press Start 2P"/>
                <a:cs typeface="Press Start 2P"/>
              </a:defRPr>
            </a:lvl6pPr>
            <a:lvl7pPr algn="l">
              <a:defRPr sz="4800" b="0">
                <a:solidFill>
                  <a:srgbClr val="9AFFD2"/>
                </a:solidFill>
                <a:latin typeface="Press Start 2P"/>
                <a:ea typeface="Press Start 2P"/>
                <a:cs typeface="Press Start 2P"/>
              </a:defRPr>
            </a:lvl7pPr>
            <a:lvl8pPr algn="l">
              <a:defRPr sz="4800" b="0">
                <a:solidFill>
                  <a:srgbClr val="9AFFD2"/>
                </a:solidFill>
                <a:latin typeface="Press Start 2P"/>
                <a:ea typeface="Press Start 2P"/>
                <a:cs typeface="Press Start 2P"/>
              </a:defRPr>
            </a:lvl8pPr>
            <a:lvl9pPr algn="l">
              <a:defRPr sz="4800" b="0">
                <a:solidFill>
                  <a:srgbClr val="9AFFD2"/>
                </a:solidFill>
                <a:latin typeface="Press Start 2P"/>
                <a:ea typeface="Press Start 2P"/>
                <a:cs typeface="Press Start 2P"/>
              </a:defRPr>
            </a:lvl9pPr>
          </a:lstStyle>
          <a:p xmlns:a="http://schemas.openxmlformats.org/drawingml/2006/main">
            <a:pPr algn="l">
              <a:defRPr sz="4800" b="0">
                <a:solidFill>
                  <a:srgbClr val="9AFFD2"/>
                </a:solidFill>
                <a:latin typeface="Press Start 2P"/>
                <a:ea typeface="Press Start 2P"/>
                <a:cs typeface="Press Start 2P"/>
              </a:defRPr>
            </a:pPr>
            <a:r>
              <a:rPr sz="4800" b="0">
                <a:solidFill>
                  <a:srgbClr val="9AFFD2"/>
                </a:solidFill>
                <a:latin typeface="Press Start 2P"/>
                <a:ea typeface="Press Start 2P"/>
                <a:cs typeface="Press Start 2P"/>
              </a:rPr>
              <a:t>5M+</a:t>
            </a:r>
          </a:p>
        </p:txBody>
      </p:sp>
      <p:sp>
        <p:nvSpPr>
          <p:cNvPr id="15" name="Sales milestone date Aug 2023">
            <a:extLst xmlns:a="http://schemas.openxmlformats.org/drawingml/2006/main">
              <a:ext uri="{FF2B5EF4-FFF2-40B4-BE49-F238E27FC236}">
                <a16:creationId xmlns:a16="http://schemas.microsoft.com/office/drawing/2014/main" id="{8C5534DE-5BF2-4B0A-A9FA-330089E7F2D0}"/>
              </a:ext>
            </a:extLst>
          </p:cNvPr>
          <p:cNvSpPr>
            <a:spLocks xmlns:a="http://schemas.openxmlformats.org/drawingml/2006/main" noGrp="1"/>
          </p:cNvSpPr>
          <p:nvPr/>
        </p:nvSpPr>
        <p:spPr>
          <a:xfrm xmlns:a="http://schemas.openxmlformats.org/drawingml/2006/main">
            <a:off x="3810000" y="83724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0">
                <a:solidFill>
                  <a:srgbClr val="FFFFFF"/>
                </a:solidFill>
                <a:latin typeface="Open Sans"/>
                <a:ea typeface="Open Sans"/>
                <a:cs typeface="Open Sans"/>
              </a:defRPr>
            </a:defPPr>
            <a:lvl1pPr algn="l">
              <a:defRPr sz="2325" b="0">
                <a:solidFill>
                  <a:srgbClr val="FFFFFF"/>
                </a:solidFill>
                <a:latin typeface="Open Sans"/>
                <a:ea typeface="Open Sans"/>
                <a:cs typeface="Open Sans"/>
              </a:defRPr>
            </a:lvl1pPr>
            <a:lvl2pPr algn="l">
              <a:defRPr sz="2325" b="0">
                <a:solidFill>
                  <a:srgbClr val="FFFFFF"/>
                </a:solidFill>
                <a:latin typeface="Open Sans"/>
                <a:ea typeface="Open Sans"/>
                <a:cs typeface="Open Sans"/>
              </a:defRPr>
            </a:lvl2pPr>
            <a:lvl3pPr algn="l">
              <a:defRPr sz="2325" b="0">
                <a:solidFill>
                  <a:srgbClr val="FFFFFF"/>
                </a:solidFill>
                <a:latin typeface="Open Sans"/>
                <a:ea typeface="Open Sans"/>
                <a:cs typeface="Open Sans"/>
              </a:defRPr>
            </a:lvl3pPr>
            <a:lvl4pPr algn="l">
              <a:defRPr sz="2325" b="0">
                <a:solidFill>
                  <a:srgbClr val="FFFFFF"/>
                </a:solidFill>
                <a:latin typeface="Open Sans"/>
                <a:ea typeface="Open Sans"/>
                <a:cs typeface="Open Sans"/>
              </a:defRPr>
            </a:lvl4pPr>
            <a:lvl5pPr algn="l">
              <a:defRPr sz="2325" b="0">
                <a:solidFill>
                  <a:srgbClr val="FFFFFF"/>
                </a:solidFill>
                <a:latin typeface="Open Sans"/>
                <a:ea typeface="Open Sans"/>
                <a:cs typeface="Open Sans"/>
              </a:defRPr>
            </a:lvl5pPr>
            <a:lvl6pPr algn="l">
              <a:defRPr sz="2325" b="0">
                <a:solidFill>
                  <a:srgbClr val="FFFFFF"/>
                </a:solidFill>
                <a:latin typeface="Open Sans"/>
                <a:ea typeface="Open Sans"/>
                <a:cs typeface="Open Sans"/>
              </a:defRPr>
            </a:lvl6pPr>
            <a:lvl7pPr algn="l">
              <a:defRPr sz="2325" b="0">
                <a:solidFill>
                  <a:srgbClr val="FFFFFF"/>
                </a:solidFill>
                <a:latin typeface="Open Sans"/>
                <a:ea typeface="Open Sans"/>
                <a:cs typeface="Open Sans"/>
              </a:defRPr>
            </a:lvl7pPr>
            <a:lvl8pPr algn="l">
              <a:defRPr sz="2325" b="0">
                <a:solidFill>
                  <a:srgbClr val="FFFFFF"/>
                </a:solidFill>
                <a:latin typeface="Open Sans"/>
                <a:ea typeface="Open Sans"/>
                <a:cs typeface="Open Sans"/>
              </a:defRPr>
            </a:lvl8pPr>
            <a:lvl9pPr algn="l">
              <a:defRPr sz="2325" b="0">
                <a:solidFill>
                  <a:srgbClr val="FFFFFF"/>
                </a:solidFill>
                <a:latin typeface="Open Sans"/>
                <a:ea typeface="Open Sans"/>
                <a:cs typeface="Open Sans"/>
              </a:defRPr>
            </a:lvl9pPr>
          </a:lstStyle>
          <a:p xmlns:a="http://schemas.openxmlformats.org/drawingml/2006/main">
            <a:pPr algn="l">
              <a:defRPr sz="2325" b="0">
                <a:solidFill>
                  <a:srgbClr val="FFFFFF"/>
                </a:solidFill>
                <a:latin typeface="Open Sans"/>
                <a:ea typeface="Open Sans"/>
                <a:cs typeface="Open Sans"/>
              </a:defRPr>
            </a:pPr>
            <a:r>
              <a:rPr sz="2325" b="0">
                <a:solidFill>
                  <a:srgbClr val="FFFFFF"/>
                </a:solidFill>
                <a:latin typeface="Open Sans"/>
                <a:ea typeface="Open Sans"/>
                <a:cs typeface="Open Sans"/>
              </a:rPr>
              <a:t>copies / Aug 2023</a:t>
            </a:r>
          </a:p>
        </p:txBody>
      </p:sp>
      <p:sp>
        <p:nvSpPr>
          <p:cNvPr id="16" name="Sales milestone Jan 2025">
            <a:extLst xmlns:a="http://schemas.openxmlformats.org/drawingml/2006/main">
              <a:ext uri="{FF2B5EF4-FFF2-40B4-BE49-F238E27FC236}">
                <a16:creationId xmlns:a16="http://schemas.microsoft.com/office/drawing/2014/main" id="{69C77D08-D858-4252-95EB-2C76E1845F05}"/>
              </a:ext>
            </a:extLst>
          </p:cNvPr>
          <p:cNvSpPr>
            <a:spLocks xmlns:a="http://schemas.openxmlformats.org/drawingml/2006/main" noGrp="1"/>
          </p:cNvSpPr>
          <p:nvPr/>
        </p:nvSpPr>
        <p:spPr>
          <a:xfrm xmlns:a="http://schemas.openxmlformats.org/drawingml/2006/main">
            <a:off x="9525000" y="824865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00" b="0">
                <a:solidFill>
                  <a:srgbClr val="9AFFD2"/>
                </a:solidFill>
                <a:latin typeface="Press Start 2P"/>
                <a:ea typeface="Press Start 2P"/>
                <a:cs typeface="Press Start 2P"/>
              </a:defRPr>
            </a:defPPr>
            <a:lvl1pPr algn="l">
              <a:defRPr sz="4800" b="0">
                <a:solidFill>
                  <a:srgbClr val="9AFFD2"/>
                </a:solidFill>
                <a:latin typeface="Press Start 2P"/>
                <a:ea typeface="Press Start 2P"/>
                <a:cs typeface="Press Start 2P"/>
              </a:defRPr>
            </a:lvl1pPr>
            <a:lvl2pPr algn="l">
              <a:defRPr sz="4800" b="0">
                <a:solidFill>
                  <a:srgbClr val="9AFFD2"/>
                </a:solidFill>
                <a:latin typeface="Press Start 2P"/>
                <a:ea typeface="Press Start 2P"/>
                <a:cs typeface="Press Start 2P"/>
              </a:defRPr>
            </a:lvl2pPr>
            <a:lvl3pPr algn="l">
              <a:defRPr sz="4800" b="0">
                <a:solidFill>
                  <a:srgbClr val="9AFFD2"/>
                </a:solidFill>
                <a:latin typeface="Press Start 2P"/>
                <a:ea typeface="Press Start 2P"/>
                <a:cs typeface="Press Start 2P"/>
              </a:defRPr>
            </a:lvl3pPr>
            <a:lvl4pPr algn="l">
              <a:defRPr sz="4800" b="0">
                <a:solidFill>
                  <a:srgbClr val="9AFFD2"/>
                </a:solidFill>
                <a:latin typeface="Press Start 2P"/>
                <a:ea typeface="Press Start 2P"/>
                <a:cs typeface="Press Start 2P"/>
              </a:defRPr>
            </a:lvl4pPr>
            <a:lvl5pPr algn="l">
              <a:defRPr sz="4800" b="0">
                <a:solidFill>
                  <a:srgbClr val="9AFFD2"/>
                </a:solidFill>
                <a:latin typeface="Press Start 2P"/>
                <a:ea typeface="Press Start 2P"/>
                <a:cs typeface="Press Start 2P"/>
              </a:defRPr>
            </a:lvl5pPr>
            <a:lvl6pPr algn="l">
              <a:defRPr sz="4800" b="0">
                <a:solidFill>
                  <a:srgbClr val="9AFFD2"/>
                </a:solidFill>
                <a:latin typeface="Press Start 2P"/>
                <a:ea typeface="Press Start 2P"/>
                <a:cs typeface="Press Start 2P"/>
              </a:defRPr>
            </a:lvl6pPr>
            <a:lvl7pPr algn="l">
              <a:defRPr sz="4800" b="0">
                <a:solidFill>
                  <a:srgbClr val="9AFFD2"/>
                </a:solidFill>
                <a:latin typeface="Press Start 2P"/>
                <a:ea typeface="Press Start 2P"/>
                <a:cs typeface="Press Start 2P"/>
              </a:defRPr>
            </a:lvl7pPr>
            <a:lvl8pPr algn="l">
              <a:defRPr sz="4800" b="0">
                <a:solidFill>
                  <a:srgbClr val="9AFFD2"/>
                </a:solidFill>
                <a:latin typeface="Press Start 2P"/>
                <a:ea typeface="Press Start 2P"/>
                <a:cs typeface="Press Start 2P"/>
              </a:defRPr>
            </a:lvl8pPr>
            <a:lvl9pPr algn="l">
              <a:defRPr sz="4800" b="0">
                <a:solidFill>
                  <a:srgbClr val="9AFFD2"/>
                </a:solidFill>
                <a:latin typeface="Press Start 2P"/>
                <a:ea typeface="Press Start 2P"/>
                <a:cs typeface="Press Start 2P"/>
              </a:defRPr>
            </a:lvl9pPr>
          </a:lstStyle>
          <a:p xmlns:a="http://schemas.openxmlformats.org/drawingml/2006/main">
            <a:pPr algn="l">
              <a:defRPr sz="4800" b="0">
                <a:solidFill>
                  <a:srgbClr val="9AFFD2"/>
                </a:solidFill>
                <a:latin typeface="Press Start 2P"/>
                <a:ea typeface="Press Start 2P"/>
                <a:cs typeface="Press Start 2P"/>
              </a:defRPr>
            </a:pPr>
            <a:r>
              <a:rPr sz="4800" b="0">
                <a:solidFill>
                  <a:srgbClr val="9AFFD2"/>
                </a:solidFill>
                <a:latin typeface="Press Start 2P"/>
                <a:ea typeface="Press Start 2P"/>
                <a:cs typeface="Press Start 2P"/>
              </a:rPr>
              <a:t>5M+</a:t>
            </a:r>
          </a:p>
        </p:txBody>
      </p:sp>
      <p:sp>
        <p:nvSpPr>
          <p:cNvPr id="17" name="Sales milestone date Jan 2025">
            <a:extLst xmlns:a="http://schemas.openxmlformats.org/drawingml/2006/main">
              <a:ext uri="{FF2B5EF4-FFF2-40B4-BE49-F238E27FC236}">
                <a16:creationId xmlns:a16="http://schemas.microsoft.com/office/drawing/2014/main" id="{AD7BE1B4-E832-4E73-94D8-D437CE2299C8}"/>
              </a:ext>
            </a:extLst>
          </p:cNvPr>
          <p:cNvSpPr>
            <a:spLocks xmlns:a="http://schemas.openxmlformats.org/drawingml/2006/main" noGrp="1"/>
          </p:cNvSpPr>
          <p:nvPr/>
        </p:nvSpPr>
        <p:spPr>
          <a:xfrm xmlns:a="http://schemas.openxmlformats.org/drawingml/2006/main">
            <a:off x="12573000" y="83724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0">
                <a:solidFill>
                  <a:srgbClr val="FFFFFF"/>
                </a:solidFill>
                <a:latin typeface="Open Sans"/>
                <a:ea typeface="Open Sans"/>
                <a:cs typeface="Open Sans"/>
              </a:defRPr>
            </a:defPPr>
            <a:lvl1pPr algn="l">
              <a:defRPr sz="2325" b="0">
                <a:solidFill>
                  <a:srgbClr val="FFFFFF"/>
                </a:solidFill>
                <a:latin typeface="Open Sans"/>
                <a:ea typeface="Open Sans"/>
                <a:cs typeface="Open Sans"/>
              </a:defRPr>
            </a:lvl1pPr>
            <a:lvl2pPr algn="l">
              <a:defRPr sz="2325" b="0">
                <a:solidFill>
                  <a:srgbClr val="FFFFFF"/>
                </a:solidFill>
                <a:latin typeface="Open Sans"/>
                <a:ea typeface="Open Sans"/>
                <a:cs typeface="Open Sans"/>
              </a:defRPr>
            </a:lvl2pPr>
            <a:lvl3pPr algn="l">
              <a:defRPr sz="2325" b="0">
                <a:solidFill>
                  <a:srgbClr val="FFFFFF"/>
                </a:solidFill>
                <a:latin typeface="Open Sans"/>
                <a:ea typeface="Open Sans"/>
                <a:cs typeface="Open Sans"/>
              </a:defRPr>
            </a:lvl3pPr>
            <a:lvl4pPr algn="l">
              <a:defRPr sz="2325" b="0">
                <a:solidFill>
                  <a:srgbClr val="FFFFFF"/>
                </a:solidFill>
                <a:latin typeface="Open Sans"/>
                <a:ea typeface="Open Sans"/>
                <a:cs typeface="Open Sans"/>
              </a:defRPr>
            </a:lvl4pPr>
            <a:lvl5pPr algn="l">
              <a:defRPr sz="2325" b="0">
                <a:solidFill>
                  <a:srgbClr val="FFFFFF"/>
                </a:solidFill>
                <a:latin typeface="Open Sans"/>
                <a:ea typeface="Open Sans"/>
                <a:cs typeface="Open Sans"/>
              </a:defRPr>
            </a:lvl5pPr>
            <a:lvl6pPr algn="l">
              <a:defRPr sz="2325" b="0">
                <a:solidFill>
                  <a:srgbClr val="FFFFFF"/>
                </a:solidFill>
                <a:latin typeface="Open Sans"/>
                <a:ea typeface="Open Sans"/>
                <a:cs typeface="Open Sans"/>
              </a:defRPr>
            </a:lvl6pPr>
            <a:lvl7pPr algn="l">
              <a:defRPr sz="2325" b="0">
                <a:solidFill>
                  <a:srgbClr val="FFFFFF"/>
                </a:solidFill>
                <a:latin typeface="Open Sans"/>
                <a:ea typeface="Open Sans"/>
                <a:cs typeface="Open Sans"/>
              </a:defRPr>
            </a:lvl7pPr>
            <a:lvl8pPr algn="l">
              <a:defRPr sz="2325" b="0">
                <a:solidFill>
                  <a:srgbClr val="FFFFFF"/>
                </a:solidFill>
                <a:latin typeface="Open Sans"/>
                <a:ea typeface="Open Sans"/>
                <a:cs typeface="Open Sans"/>
              </a:defRPr>
            </a:lvl8pPr>
            <a:lvl9pPr algn="l">
              <a:defRPr sz="2325" b="0">
                <a:solidFill>
                  <a:srgbClr val="FFFFFF"/>
                </a:solidFill>
                <a:latin typeface="Open Sans"/>
                <a:ea typeface="Open Sans"/>
                <a:cs typeface="Open Sans"/>
              </a:defRPr>
            </a:lvl9pPr>
          </a:lstStyle>
          <a:p xmlns:a="http://schemas.openxmlformats.org/drawingml/2006/main">
            <a:pPr algn="l">
              <a:defRPr sz="2325" b="0">
                <a:solidFill>
                  <a:srgbClr val="FFFFFF"/>
                </a:solidFill>
                <a:latin typeface="Open Sans"/>
                <a:ea typeface="Open Sans"/>
                <a:cs typeface="Open Sans"/>
              </a:defRPr>
            </a:pPr>
            <a:r>
              <a:rPr sz="2325" b="0">
                <a:solidFill>
                  <a:srgbClr val="FFFFFF"/>
                </a:solidFill>
                <a:latin typeface="Open Sans"/>
                <a:ea typeface="Open Sans"/>
                <a:cs typeface="Open Sans"/>
              </a:rPr>
              <a:t>copies / Jan 2025</a:t>
            </a:r>
          </a:p>
        </p:txBody>
      </p:sp>
      <p:sp>
        <p:nvSpPr>
          <p:cNvPr id="18" name="Success context">
            <a:extLst xmlns:a="http://schemas.openxmlformats.org/drawingml/2006/main">
              <a:ext uri="{FF2B5EF4-FFF2-40B4-BE49-F238E27FC236}">
                <a16:creationId xmlns:a16="http://schemas.microsoft.com/office/drawing/2014/main" id="{F68B5B18-7CF9-4D06-816E-BA94E3EA2D26}"/>
              </a:ext>
            </a:extLst>
          </p:cNvPr>
          <p:cNvSpPr>
            <a:spLocks xmlns:a="http://schemas.openxmlformats.org/drawingml/2006/main" noGrp="1"/>
          </p:cNvSpPr>
          <p:nvPr/>
        </p:nvSpPr>
        <p:spPr>
          <a:xfrm xmlns:a="http://schemas.openxmlformats.org/drawingml/2006/main">
            <a:off x="762000" y="8905875"/>
            <a:ext cx="1676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00" b="0">
                <a:solidFill>
                  <a:srgbClr val="FFFFFF"/>
                </a:solidFill>
                <a:latin typeface="Open Sans"/>
                <a:ea typeface="Open Sans"/>
                <a:cs typeface="Open Sans"/>
              </a:defRPr>
            </a:defPPr>
            <a:lvl1pPr algn="l">
              <a:defRPr sz="1900" b="0">
                <a:solidFill>
                  <a:srgbClr val="FFFFFF"/>
                </a:solidFill>
                <a:latin typeface="Open Sans"/>
                <a:ea typeface="Open Sans"/>
                <a:cs typeface="Open Sans"/>
              </a:defRPr>
            </a:lvl1pPr>
            <a:lvl2pPr algn="l">
              <a:defRPr sz="1900" b="0">
                <a:solidFill>
                  <a:srgbClr val="FFFFFF"/>
                </a:solidFill>
                <a:latin typeface="Open Sans"/>
                <a:ea typeface="Open Sans"/>
                <a:cs typeface="Open Sans"/>
              </a:defRPr>
            </a:lvl2pPr>
            <a:lvl3pPr algn="l">
              <a:defRPr sz="1900" b="0">
                <a:solidFill>
                  <a:srgbClr val="FFFFFF"/>
                </a:solidFill>
                <a:latin typeface="Open Sans"/>
                <a:ea typeface="Open Sans"/>
                <a:cs typeface="Open Sans"/>
              </a:defRPr>
            </a:lvl3pPr>
            <a:lvl4pPr algn="l">
              <a:defRPr sz="1900" b="0">
                <a:solidFill>
                  <a:srgbClr val="FFFFFF"/>
                </a:solidFill>
                <a:latin typeface="Open Sans"/>
                <a:ea typeface="Open Sans"/>
                <a:cs typeface="Open Sans"/>
              </a:defRPr>
            </a:lvl4pPr>
            <a:lvl5pPr algn="l">
              <a:defRPr sz="1900" b="0">
                <a:solidFill>
                  <a:srgbClr val="FFFFFF"/>
                </a:solidFill>
                <a:latin typeface="Open Sans"/>
                <a:ea typeface="Open Sans"/>
                <a:cs typeface="Open Sans"/>
              </a:defRPr>
            </a:lvl5pPr>
            <a:lvl6pPr algn="l">
              <a:defRPr sz="1900" b="0">
                <a:solidFill>
                  <a:srgbClr val="FFFFFF"/>
                </a:solidFill>
                <a:latin typeface="Open Sans"/>
                <a:ea typeface="Open Sans"/>
                <a:cs typeface="Open Sans"/>
              </a:defRPr>
            </a:lvl6pPr>
            <a:lvl7pPr algn="l">
              <a:defRPr sz="1900" b="0">
                <a:solidFill>
                  <a:srgbClr val="FFFFFF"/>
                </a:solidFill>
                <a:latin typeface="Open Sans"/>
                <a:ea typeface="Open Sans"/>
                <a:cs typeface="Open Sans"/>
              </a:defRPr>
            </a:lvl7pPr>
            <a:lvl8pPr algn="l">
              <a:defRPr sz="1900" b="0">
                <a:solidFill>
                  <a:srgbClr val="FFFFFF"/>
                </a:solidFill>
                <a:latin typeface="Open Sans"/>
                <a:ea typeface="Open Sans"/>
                <a:cs typeface="Open Sans"/>
              </a:defRPr>
            </a:lvl8pPr>
            <a:lvl9pPr algn="l">
              <a:defRPr sz="1900" b="0">
                <a:solidFill>
                  <a:srgbClr val="FFFFFF"/>
                </a:solidFill>
                <a:latin typeface="Open Sans"/>
                <a:ea typeface="Open Sans"/>
                <a:cs typeface="Open Sans"/>
              </a:defRPr>
            </a:lvl9pPr>
          </a:lstStyle>
          <a:p xmlns:a="http://schemas.openxmlformats.org/drawingml/2006/main">
            <a:pPr algn="l">
              <a:defRPr sz="1900" b="0">
                <a:solidFill>
                  <a:srgbClr val="FFFFFF"/>
                </a:solidFill>
                <a:latin typeface="Open Sans"/>
                <a:ea typeface="Open Sans"/>
                <a:cs typeface="Open Sans"/>
              </a:defRPr>
            </a:pPr>
            <a:r>
              <a:rPr sz="1900" b="0">
                <a:solidFill>
                  <a:srgbClr val="FFFFFF"/>
                </a:solidFill>
                <a:latin typeface="Open Sans"/>
                <a:ea typeface="Open Sans"/>
                <a:cs typeface="Open Sans"/>
              </a:rPr>
              <a:t>All platforms. Exceptional hits.</a:t>
            </a:r>
          </a:p>
        </p:txBody>
      </p:sp>
    </p:spTree>
    <p:extLst>
      <p:ext uri="{BB962C8B-B14F-4D97-AF65-F5344CB8AC3E}">
        <p14:creationId xmlns:p14="http://schemas.microsoft.com/office/powerpoint/2010/main" val="389358379"/>
      </p:ext>
    </p:extLst>
  </p:cSld>
</p:sld>
</file>

<file path=ppt/slides/slide12.xml><?xml version="1.0" encoding="utf-8"?>
<p:sld xmlns:p="http://schemas.openxmlformats.org/presentationml/2006/main">
  <p:cSld>
    <p:bg>
      <p:bgPr>
        <a:solidFill xmlns:a="http://schemas.openxmlformats.org/drawingml/2006/main">
          <a:srgbClr val="1A022B"/>
        </a:solidFill>
      </p:bgPr>
    </p:bg>
    <p:spTree>
      <p:nvGrpSpPr>
        <p:cNvPr id="1" name=""/>
        <p:cNvGrpSpPr/>
        <p:nvPr/>
      </p:nvGrpSpPr>
      <p:grpSpPr>
        <a:xfrm xmlns:a="http://schemas.openxmlformats.org/drawingml/2006/main"/>
      </p:grpSpPr>
      <p:sp xmlns:a="http://schemas.openxmlformats.org/drawingml/2006/main" xmlns:r="http://schemas.openxmlformats.org/officeDocument/2006/relationships">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3" name="Freeform 3"/>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4" name="Freeform 4"/>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5" name="Freeform 5"/>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bg_clouds"/>
            <a:stretch>
              <a:fillRect/>
            </a:stretch>
          </a:blipFill>
        </p:spPr>
        <p:txBody>
          <a:bodyPr/>
          <a:lstStyle/>
          <a:p>
            <a:endParaRPr lang="en-US"/>
          </a:p>
        </p:txBody>
      </p:sp>
      <p:sp xmlns:a="http://schemas.openxmlformats.org/drawingml/2006/main" xmlns:r="http://schemas.openxmlformats.org/officeDocument/2006/relationships">
        <p:nvSpPr>
          <p:cNvPr id="6" name="Freeform 6"/>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bg_clouds"/>
            <a:stretch>
              <a:fillRect/>
            </a:stretch>
          </a:blipFill>
        </p:spPr>
        <p:txBody>
          <a:bodyPr/>
          <a:lstStyle/>
          <a:p>
            <a:endParaRPr lang="en-US"/>
          </a:p>
        </p:txBody>
      </p:sp>
      <p:sp>
        <p:nvSpPr>
          <p:cNvPr id="7" name="Slide title">
            <a:extLst xmlns:a="http://schemas.openxmlformats.org/drawingml/2006/main">
              <a:ext uri="{FF2B5EF4-FFF2-40B4-BE49-F238E27FC236}">
                <a16:creationId xmlns:a16="http://schemas.microsoft.com/office/drawing/2014/main" id="{D6D14960-ED14-498D-93D4-0AA8075B3ED9}"/>
              </a:ext>
            </a:extLst>
          </p:cNvPr>
          <p:cNvSpPr>
            <a:spLocks xmlns:a="http://schemas.openxmlformats.org/drawingml/2006/main" noGrp="1"/>
          </p:cNvSpPr>
          <p:nvPr/>
        </p:nvSpPr>
        <p:spPr>
          <a:xfrm xmlns:a="http://schemas.openxmlformats.org/drawingml/2006/main">
            <a:off x="714375" y="1381125"/>
            <a:ext cx="1685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xmlns:a="http://schemas.openxmlformats.org/drawingml/2006/main">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LEVEL UP YOUR SALES</a:t>
            </a:r>
          </a:p>
        </p:txBody>
      </p:sp>
      <p:sp>
        <p:nvSpPr>
          <p:cNvPr id="8" name="Output measure">
            <a:extLst xmlns:a="http://schemas.openxmlformats.org/drawingml/2006/main">
              <a:ext uri="{FF2B5EF4-FFF2-40B4-BE49-F238E27FC236}">
                <a16:creationId xmlns:a16="http://schemas.microsoft.com/office/drawing/2014/main" id="{E3D1955B-27CF-4C28-9ADB-14A65507F571}"/>
              </a:ext>
            </a:extLst>
          </p:cNvPr>
          <p:cNvSpPr>
            <a:spLocks xmlns:a="http://schemas.openxmlformats.org/drawingml/2006/main" noGrp="1"/>
          </p:cNvSpPr>
          <p:nvPr/>
        </p:nvSpPr>
        <p:spPr>
          <a:xfrm xmlns:a="http://schemas.openxmlformats.org/drawingml/2006/main">
            <a:off x="762000" y="2667000"/>
            <a:ext cx="1676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FFFFFF"/>
                </a:solidFill>
                <a:latin typeface="Open Sans"/>
                <a:ea typeface="Open Sans"/>
                <a:cs typeface="Open Sans"/>
              </a:defRPr>
            </a:defPPr>
            <a:lvl1pPr algn="l">
              <a:defRPr sz="2200" b="0">
                <a:solidFill>
                  <a:srgbClr val="FFFFFF"/>
                </a:solidFill>
                <a:latin typeface="Open Sans"/>
                <a:ea typeface="Open Sans"/>
                <a:cs typeface="Open Sans"/>
              </a:defRPr>
            </a:lvl1pPr>
            <a:lvl2pPr algn="l">
              <a:defRPr sz="2200" b="0">
                <a:solidFill>
                  <a:srgbClr val="FFFFFF"/>
                </a:solidFill>
                <a:latin typeface="Open Sans"/>
                <a:ea typeface="Open Sans"/>
                <a:cs typeface="Open Sans"/>
              </a:defRPr>
            </a:lvl2pPr>
            <a:lvl3pPr algn="l">
              <a:defRPr sz="2200" b="0">
                <a:solidFill>
                  <a:srgbClr val="FFFFFF"/>
                </a:solidFill>
                <a:latin typeface="Open Sans"/>
                <a:ea typeface="Open Sans"/>
                <a:cs typeface="Open Sans"/>
              </a:defRPr>
            </a:lvl3pPr>
            <a:lvl4pPr algn="l">
              <a:defRPr sz="2200" b="0">
                <a:solidFill>
                  <a:srgbClr val="FFFFFF"/>
                </a:solidFill>
                <a:latin typeface="Open Sans"/>
                <a:ea typeface="Open Sans"/>
                <a:cs typeface="Open Sans"/>
              </a:defRPr>
            </a:lvl4pPr>
            <a:lvl5pPr algn="l">
              <a:defRPr sz="2200" b="0">
                <a:solidFill>
                  <a:srgbClr val="FFFFFF"/>
                </a:solidFill>
                <a:latin typeface="Open Sans"/>
                <a:ea typeface="Open Sans"/>
                <a:cs typeface="Open Sans"/>
              </a:defRPr>
            </a:lvl5pPr>
            <a:lvl6pPr algn="l">
              <a:defRPr sz="2200" b="0">
                <a:solidFill>
                  <a:srgbClr val="FFFFFF"/>
                </a:solidFill>
                <a:latin typeface="Open Sans"/>
                <a:ea typeface="Open Sans"/>
                <a:cs typeface="Open Sans"/>
              </a:defRPr>
            </a:lvl6pPr>
            <a:lvl7pPr algn="l">
              <a:defRPr sz="2200" b="0">
                <a:solidFill>
                  <a:srgbClr val="FFFFFF"/>
                </a:solidFill>
                <a:latin typeface="Open Sans"/>
                <a:ea typeface="Open Sans"/>
                <a:cs typeface="Open Sans"/>
              </a:defRPr>
            </a:lvl7pPr>
            <a:lvl8pPr algn="l">
              <a:defRPr sz="2200" b="0">
                <a:solidFill>
                  <a:srgbClr val="FFFFFF"/>
                </a:solidFill>
                <a:latin typeface="Open Sans"/>
                <a:ea typeface="Open Sans"/>
                <a:cs typeface="Open Sans"/>
              </a:defRPr>
            </a:lvl8pPr>
            <a:lvl9pPr algn="l">
              <a:defRPr sz="2200" b="0">
                <a:solidFill>
                  <a:srgbClr val="FFFFFF"/>
                </a:solidFill>
                <a:latin typeface="Open Sans"/>
                <a:ea typeface="Open Sans"/>
                <a:cs typeface="Open Sans"/>
              </a:defRPr>
            </a:lvl9pPr>
          </a:lstStyle>
          <a:p xmlns:a="http://schemas.openxmlformats.org/drawingml/2006/main">
            <a:pPr algn="l">
              <a:defRPr sz="2200" b="0">
                <a:solidFill>
                  <a:srgbClr val="FFFFFF"/>
                </a:solidFill>
                <a:latin typeface="Open Sans"/>
                <a:ea typeface="Open Sans"/>
                <a:cs typeface="Open Sans"/>
              </a:defRPr>
            </a:pPr>
            <a:r>
              <a:rPr sz="2200" b="0">
                <a:solidFill>
                  <a:srgbClr val="FFFFFF"/>
                </a:solidFill>
                <a:latin typeface="Open Sans"/>
                <a:ea typeface="Open Sans"/>
                <a:cs typeface="Open Sans"/>
              </a:rPr>
              <a:t>TOTAL REVENUE AFTER FEES (USD)</a:t>
            </a:r>
          </a:p>
        </p:txBody>
      </p:sp>
      <p:sp>
        <p:nvSpPr>
          <p:cNvPr id="9" name="Copies label">
            <a:extLst xmlns:a="http://schemas.openxmlformats.org/drawingml/2006/main">
              <a:ext uri="{FF2B5EF4-FFF2-40B4-BE49-F238E27FC236}">
                <a16:creationId xmlns:a16="http://schemas.microsoft.com/office/drawing/2014/main" id="{EBD982F5-3D43-4285-A843-FBEEDB390654}"/>
              </a:ext>
            </a:extLst>
          </p:cNvPr>
          <p:cNvSpPr>
            <a:spLocks xmlns:a="http://schemas.openxmlformats.org/drawingml/2006/main" noGrp="1"/>
          </p:cNvSpPr>
          <p:nvPr/>
        </p:nvSpPr>
        <p:spPr>
          <a:xfrm xmlns:a="http://schemas.openxmlformats.org/drawingml/2006/main">
            <a:off x="762000" y="361950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FFFFFF"/>
                </a:solidFill>
                <a:latin typeface="Open Sans"/>
                <a:ea typeface="Open Sans"/>
                <a:cs typeface="Open Sans"/>
              </a:defRPr>
            </a:defPPr>
            <a:lvl1pPr algn="l">
              <a:defRPr sz="2700" b="1">
                <a:solidFill>
                  <a:srgbClr val="FFFFFF"/>
                </a:solidFill>
                <a:latin typeface="Open Sans"/>
                <a:ea typeface="Open Sans"/>
                <a:cs typeface="Open Sans"/>
              </a:defRPr>
            </a:lvl1pPr>
            <a:lvl2pPr algn="l">
              <a:defRPr sz="2700" b="1">
                <a:solidFill>
                  <a:srgbClr val="FFFFFF"/>
                </a:solidFill>
                <a:latin typeface="Open Sans"/>
                <a:ea typeface="Open Sans"/>
                <a:cs typeface="Open Sans"/>
              </a:defRPr>
            </a:lvl2pPr>
            <a:lvl3pPr algn="l">
              <a:defRPr sz="2700" b="1">
                <a:solidFill>
                  <a:srgbClr val="FFFFFF"/>
                </a:solidFill>
                <a:latin typeface="Open Sans"/>
                <a:ea typeface="Open Sans"/>
                <a:cs typeface="Open Sans"/>
              </a:defRPr>
            </a:lvl3pPr>
            <a:lvl4pPr algn="l">
              <a:defRPr sz="2700" b="1">
                <a:solidFill>
                  <a:srgbClr val="FFFFFF"/>
                </a:solidFill>
                <a:latin typeface="Open Sans"/>
                <a:ea typeface="Open Sans"/>
                <a:cs typeface="Open Sans"/>
              </a:defRPr>
            </a:lvl4pPr>
            <a:lvl5pPr algn="l">
              <a:defRPr sz="2700" b="1">
                <a:solidFill>
                  <a:srgbClr val="FFFFFF"/>
                </a:solidFill>
                <a:latin typeface="Open Sans"/>
                <a:ea typeface="Open Sans"/>
                <a:cs typeface="Open Sans"/>
              </a:defRPr>
            </a:lvl5pPr>
            <a:lvl6pPr algn="l">
              <a:defRPr sz="2700" b="1">
                <a:solidFill>
                  <a:srgbClr val="FFFFFF"/>
                </a:solidFill>
                <a:latin typeface="Open Sans"/>
                <a:ea typeface="Open Sans"/>
                <a:cs typeface="Open Sans"/>
              </a:defRPr>
            </a:lvl6pPr>
            <a:lvl7pPr algn="l">
              <a:defRPr sz="2700" b="1">
                <a:solidFill>
                  <a:srgbClr val="FFFFFF"/>
                </a:solidFill>
                <a:latin typeface="Open Sans"/>
                <a:ea typeface="Open Sans"/>
                <a:cs typeface="Open Sans"/>
              </a:defRPr>
            </a:lvl7pPr>
            <a:lvl8pPr algn="l">
              <a:defRPr sz="2700" b="1">
                <a:solidFill>
                  <a:srgbClr val="FFFFFF"/>
                </a:solidFill>
                <a:latin typeface="Open Sans"/>
                <a:ea typeface="Open Sans"/>
                <a:cs typeface="Open Sans"/>
              </a:defRPr>
            </a:lvl8pPr>
            <a:lvl9pPr algn="l">
              <a:defRPr sz="2700" b="1">
                <a:solidFill>
                  <a:srgbClr val="FFFFFF"/>
                </a:solidFill>
                <a:latin typeface="Open Sans"/>
                <a:ea typeface="Open Sans"/>
                <a:cs typeface="Open Sans"/>
              </a:defRPr>
            </a:lvl9pPr>
          </a:lstStyle>
          <a:p xmlns:a="http://schemas.openxmlformats.org/drawingml/2006/main">
            <a:pPr algn="l">
              <a:defRPr sz="2700" b="1">
                <a:solidFill>
                  <a:srgbClr val="FFFFFF"/>
                </a:solidFill>
                <a:latin typeface="Open Sans"/>
                <a:ea typeface="Open Sans"/>
                <a:cs typeface="Open Sans"/>
              </a:defRPr>
            </a:pPr>
            <a:r>
              <a:rPr sz="2700" b="1">
                <a:solidFill>
                  <a:srgbClr val="FFFFFF"/>
                </a:solidFill>
                <a:latin typeface="Open Sans"/>
                <a:ea typeface="Open Sans"/>
                <a:cs typeface="Open Sans"/>
              </a:rPr>
              <a:t>COPIES</a:t>
            </a:r>
          </a:p>
        </p:txBody>
      </p:sp>
      <p:sp>
        <p:nvSpPr>
          <p:cNvPr id="10" name="Steam heading">
            <a:extLst xmlns:a="http://schemas.openxmlformats.org/drawingml/2006/main">
              <a:ext uri="{FF2B5EF4-FFF2-40B4-BE49-F238E27FC236}">
                <a16:creationId xmlns:a16="http://schemas.microsoft.com/office/drawing/2014/main" id="{90A10F87-426E-495B-855D-CB81D88E0F45}"/>
              </a:ext>
            </a:extLst>
          </p:cNvPr>
          <p:cNvSpPr>
            <a:spLocks xmlns:a="http://schemas.openxmlformats.org/drawingml/2006/main" noGrp="1"/>
          </p:cNvSpPr>
          <p:nvPr/>
        </p:nvSpPr>
        <p:spPr>
          <a:xfrm xmlns:a="http://schemas.openxmlformats.org/drawingml/2006/main">
            <a:off x="4953000" y="3333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Open Sans"/>
                <a:ea typeface="Open Sans"/>
                <a:cs typeface="Open Sans"/>
              </a:defRPr>
            </a:defPPr>
            <a:lvl1pPr algn="l">
              <a:defRPr sz="3300" b="1">
                <a:solidFill>
                  <a:srgbClr val="FFFFFF"/>
                </a:solidFill>
                <a:latin typeface="Open Sans"/>
                <a:ea typeface="Open Sans"/>
                <a:cs typeface="Open Sans"/>
              </a:defRPr>
            </a:lvl1pPr>
            <a:lvl2pPr algn="l">
              <a:defRPr sz="3300" b="1">
                <a:solidFill>
                  <a:srgbClr val="FFFFFF"/>
                </a:solidFill>
                <a:latin typeface="Open Sans"/>
                <a:ea typeface="Open Sans"/>
                <a:cs typeface="Open Sans"/>
              </a:defRPr>
            </a:lvl2pPr>
            <a:lvl3pPr algn="l">
              <a:defRPr sz="3300" b="1">
                <a:solidFill>
                  <a:srgbClr val="FFFFFF"/>
                </a:solidFill>
                <a:latin typeface="Open Sans"/>
                <a:ea typeface="Open Sans"/>
                <a:cs typeface="Open Sans"/>
              </a:defRPr>
            </a:lvl3pPr>
            <a:lvl4pPr algn="l">
              <a:defRPr sz="3300" b="1">
                <a:solidFill>
                  <a:srgbClr val="FFFFFF"/>
                </a:solidFill>
                <a:latin typeface="Open Sans"/>
                <a:ea typeface="Open Sans"/>
                <a:cs typeface="Open Sans"/>
              </a:defRPr>
            </a:lvl4pPr>
            <a:lvl5pPr algn="l">
              <a:defRPr sz="3300" b="1">
                <a:solidFill>
                  <a:srgbClr val="FFFFFF"/>
                </a:solidFill>
                <a:latin typeface="Open Sans"/>
                <a:ea typeface="Open Sans"/>
                <a:cs typeface="Open Sans"/>
              </a:defRPr>
            </a:lvl5pPr>
            <a:lvl6pPr algn="l">
              <a:defRPr sz="3300" b="1">
                <a:solidFill>
                  <a:srgbClr val="FFFFFF"/>
                </a:solidFill>
                <a:latin typeface="Open Sans"/>
                <a:ea typeface="Open Sans"/>
                <a:cs typeface="Open Sans"/>
              </a:defRPr>
            </a:lvl6pPr>
            <a:lvl7pPr algn="l">
              <a:defRPr sz="3300" b="1">
                <a:solidFill>
                  <a:srgbClr val="FFFFFF"/>
                </a:solidFill>
                <a:latin typeface="Open Sans"/>
                <a:ea typeface="Open Sans"/>
                <a:cs typeface="Open Sans"/>
              </a:defRPr>
            </a:lvl7pPr>
            <a:lvl8pPr algn="l">
              <a:defRPr sz="3300" b="1">
                <a:solidFill>
                  <a:srgbClr val="FFFFFF"/>
                </a:solidFill>
                <a:latin typeface="Open Sans"/>
                <a:ea typeface="Open Sans"/>
                <a:cs typeface="Open Sans"/>
              </a:defRPr>
            </a:lvl8pPr>
            <a:lvl9pPr algn="l">
              <a:defRPr sz="3300" b="1">
                <a:solidFill>
                  <a:srgbClr val="FFFFFF"/>
                </a:solidFill>
                <a:latin typeface="Open Sans"/>
                <a:ea typeface="Open Sans"/>
                <a:cs typeface="Open Sans"/>
              </a:defRPr>
            </a:lvl9pPr>
          </a:lstStyle>
          <a:p xmlns:a="http://schemas.openxmlformats.org/drawingml/2006/main">
            <a:pPr algn="l">
              <a:defRPr sz="3300" b="1">
                <a:solidFill>
                  <a:srgbClr val="FFFFFF"/>
                </a:solidFill>
                <a:latin typeface="Open Sans"/>
                <a:ea typeface="Open Sans"/>
                <a:cs typeface="Open Sans"/>
              </a:defRPr>
            </a:pPr>
            <a:r>
              <a:rPr sz="3300" b="1">
                <a:solidFill>
                  <a:srgbClr val="FFFFFF"/>
                </a:solidFill>
                <a:latin typeface="Open Sans"/>
                <a:ea typeface="Open Sans"/>
                <a:cs typeface="Open Sans"/>
              </a:rPr>
              <a:t>STEAM</a:t>
            </a:r>
          </a:p>
        </p:txBody>
      </p:sp>
      <p:sp>
        <p:nvSpPr>
          <p:cNvPr id="11" name="Steam assumption">
            <a:extLst xmlns:a="http://schemas.openxmlformats.org/drawingml/2006/main">
              <a:ext uri="{FF2B5EF4-FFF2-40B4-BE49-F238E27FC236}">
                <a16:creationId xmlns:a16="http://schemas.microsoft.com/office/drawing/2014/main" id="{6AEF5E61-B353-45D5-9AB2-E34388E97CDC}"/>
              </a:ext>
            </a:extLst>
          </p:cNvPr>
          <p:cNvSpPr>
            <a:spLocks xmlns:a="http://schemas.openxmlformats.org/drawingml/2006/main" noGrp="1"/>
          </p:cNvSpPr>
          <p:nvPr/>
        </p:nvSpPr>
        <p:spPr>
          <a:xfrm xmlns:a="http://schemas.openxmlformats.org/drawingml/2006/main">
            <a:off x="4953000" y="3914775"/>
            <a:ext cx="600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0">
                <a:solidFill>
                  <a:srgbClr val="FFFFFF"/>
                </a:solidFill>
                <a:latin typeface="Open Sans"/>
                <a:ea typeface="Open Sans"/>
                <a:cs typeface="Open Sans"/>
              </a:defRPr>
            </a:defPPr>
            <a:lvl1pPr algn="l">
              <a:defRPr sz="2325" b="0">
                <a:solidFill>
                  <a:srgbClr val="FFFFFF"/>
                </a:solidFill>
                <a:latin typeface="Open Sans"/>
                <a:ea typeface="Open Sans"/>
                <a:cs typeface="Open Sans"/>
              </a:defRPr>
            </a:lvl1pPr>
            <a:lvl2pPr algn="l">
              <a:defRPr sz="2325" b="0">
                <a:solidFill>
                  <a:srgbClr val="FFFFFF"/>
                </a:solidFill>
                <a:latin typeface="Open Sans"/>
                <a:ea typeface="Open Sans"/>
                <a:cs typeface="Open Sans"/>
              </a:defRPr>
            </a:lvl2pPr>
            <a:lvl3pPr algn="l">
              <a:defRPr sz="2325" b="0">
                <a:solidFill>
                  <a:srgbClr val="FFFFFF"/>
                </a:solidFill>
                <a:latin typeface="Open Sans"/>
                <a:ea typeface="Open Sans"/>
                <a:cs typeface="Open Sans"/>
              </a:defRPr>
            </a:lvl3pPr>
            <a:lvl4pPr algn="l">
              <a:defRPr sz="2325" b="0">
                <a:solidFill>
                  <a:srgbClr val="FFFFFF"/>
                </a:solidFill>
                <a:latin typeface="Open Sans"/>
                <a:ea typeface="Open Sans"/>
                <a:cs typeface="Open Sans"/>
              </a:defRPr>
            </a:lvl4pPr>
            <a:lvl5pPr algn="l">
              <a:defRPr sz="2325" b="0">
                <a:solidFill>
                  <a:srgbClr val="FFFFFF"/>
                </a:solidFill>
                <a:latin typeface="Open Sans"/>
                <a:ea typeface="Open Sans"/>
                <a:cs typeface="Open Sans"/>
              </a:defRPr>
            </a:lvl5pPr>
            <a:lvl6pPr algn="l">
              <a:defRPr sz="2325" b="0">
                <a:solidFill>
                  <a:srgbClr val="FFFFFF"/>
                </a:solidFill>
                <a:latin typeface="Open Sans"/>
                <a:ea typeface="Open Sans"/>
                <a:cs typeface="Open Sans"/>
              </a:defRPr>
            </a:lvl6pPr>
            <a:lvl7pPr algn="l">
              <a:defRPr sz="2325" b="0">
                <a:solidFill>
                  <a:srgbClr val="FFFFFF"/>
                </a:solidFill>
                <a:latin typeface="Open Sans"/>
                <a:ea typeface="Open Sans"/>
                <a:cs typeface="Open Sans"/>
              </a:defRPr>
            </a:lvl7pPr>
            <a:lvl8pPr algn="l">
              <a:defRPr sz="2325" b="0">
                <a:solidFill>
                  <a:srgbClr val="FFFFFF"/>
                </a:solidFill>
                <a:latin typeface="Open Sans"/>
                <a:ea typeface="Open Sans"/>
                <a:cs typeface="Open Sans"/>
              </a:defRPr>
            </a:lvl8pPr>
            <a:lvl9pPr algn="l">
              <a:defRPr sz="2325" b="0">
                <a:solidFill>
                  <a:srgbClr val="FFFFFF"/>
                </a:solidFill>
                <a:latin typeface="Open Sans"/>
                <a:ea typeface="Open Sans"/>
                <a:cs typeface="Open Sans"/>
              </a:defRPr>
            </a:lvl9pPr>
          </a:lstStyle>
          <a:p xmlns:a="http://schemas.openxmlformats.org/drawingml/2006/main">
            <a:pPr algn="l">
              <a:defRPr sz="2325" b="0">
                <a:solidFill>
                  <a:srgbClr val="FFFFFF"/>
                </a:solidFill>
                <a:latin typeface="Open Sans"/>
                <a:ea typeface="Open Sans"/>
                <a:cs typeface="Open Sans"/>
              </a:defRPr>
            </a:pPr>
            <a:r>
              <a:rPr sz="2325" b="0">
                <a:solidFill>
                  <a:srgbClr val="FFFFFF"/>
                </a:solidFill>
                <a:latin typeface="Open Sans"/>
                <a:ea typeface="Open Sans"/>
                <a:cs typeface="Open Sans"/>
              </a:rPr>
              <a:t>$10/copy / 30% fee</a:t>
            </a:r>
          </a:p>
        </p:txBody>
      </p:sp>
      <p:sp>
        <p:nvSpPr>
          <p:cNvPr id="12" name="Play heading">
            <a:extLst xmlns:a="http://schemas.openxmlformats.org/drawingml/2006/main">
              <a:ext uri="{FF2B5EF4-FFF2-40B4-BE49-F238E27FC236}">
                <a16:creationId xmlns:a16="http://schemas.microsoft.com/office/drawing/2014/main" id="{E8886274-7A19-4FD9-BE07-8878C851E298}"/>
              </a:ext>
            </a:extLst>
          </p:cNvPr>
          <p:cNvSpPr>
            <a:spLocks xmlns:a="http://schemas.openxmlformats.org/drawingml/2006/main" noGrp="1"/>
          </p:cNvSpPr>
          <p:nvPr/>
        </p:nvSpPr>
        <p:spPr>
          <a:xfrm xmlns:a="http://schemas.openxmlformats.org/drawingml/2006/main">
            <a:off x="11430000" y="3333750"/>
            <a:ext cx="609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Open Sans"/>
                <a:ea typeface="Open Sans"/>
                <a:cs typeface="Open Sans"/>
              </a:defRPr>
            </a:defPPr>
            <a:lvl1pPr algn="l">
              <a:defRPr sz="3300" b="1">
                <a:solidFill>
                  <a:srgbClr val="FFFFFF"/>
                </a:solidFill>
                <a:latin typeface="Open Sans"/>
                <a:ea typeface="Open Sans"/>
                <a:cs typeface="Open Sans"/>
              </a:defRPr>
            </a:lvl1pPr>
            <a:lvl2pPr algn="l">
              <a:defRPr sz="3300" b="1">
                <a:solidFill>
                  <a:srgbClr val="FFFFFF"/>
                </a:solidFill>
                <a:latin typeface="Open Sans"/>
                <a:ea typeface="Open Sans"/>
                <a:cs typeface="Open Sans"/>
              </a:defRPr>
            </a:lvl2pPr>
            <a:lvl3pPr algn="l">
              <a:defRPr sz="3300" b="1">
                <a:solidFill>
                  <a:srgbClr val="FFFFFF"/>
                </a:solidFill>
                <a:latin typeface="Open Sans"/>
                <a:ea typeface="Open Sans"/>
                <a:cs typeface="Open Sans"/>
              </a:defRPr>
            </a:lvl3pPr>
            <a:lvl4pPr algn="l">
              <a:defRPr sz="3300" b="1">
                <a:solidFill>
                  <a:srgbClr val="FFFFFF"/>
                </a:solidFill>
                <a:latin typeface="Open Sans"/>
                <a:ea typeface="Open Sans"/>
                <a:cs typeface="Open Sans"/>
              </a:defRPr>
            </a:lvl4pPr>
            <a:lvl5pPr algn="l">
              <a:defRPr sz="3300" b="1">
                <a:solidFill>
                  <a:srgbClr val="FFFFFF"/>
                </a:solidFill>
                <a:latin typeface="Open Sans"/>
                <a:ea typeface="Open Sans"/>
                <a:cs typeface="Open Sans"/>
              </a:defRPr>
            </a:lvl5pPr>
            <a:lvl6pPr algn="l">
              <a:defRPr sz="3300" b="1">
                <a:solidFill>
                  <a:srgbClr val="FFFFFF"/>
                </a:solidFill>
                <a:latin typeface="Open Sans"/>
                <a:ea typeface="Open Sans"/>
                <a:cs typeface="Open Sans"/>
              </a:defRPr>
            </a:lvl6pPr>
            <a:lvl7pPr algn="l">
              <a:defRPr sz="3300" b="1">
                <a:solidFill>
                  <a:srgbClr val="FFFFFF"/>
                </a:solidFill>
                <a:latin typeface="Open Sans"/>
                <a:ea typeface="Open Sans"/>
                <a:cs typeface="Open Sans"/>
              </a:defRPr>
            </a:lvl7pPr>
            <a:lvl8pPr algn="l">
              <a:defRPr sz="3300" b="1">
                <a:solidFill>
                  <a:srgbClr val="FFFFFF"/>
                </a:solidFill>
                <a:latin typeface="Open Sans"/>
                <a:ea typeface="Open Sans"/>
                <a:cs typeface="Open Sans"/>
              </a:defRPr>
            </a:lvl8pPr>
            <a:lvl9pPr algn="l">
              <a:defRPr sz="3300" b="1">
                <a:solidFill>
                  <a:srgbClr val="FFFFFF"/>
                </a:solidFill>
                <a:latin typeface="Open Sans"/>
                <a:ea typeface="Open Sans"/>
                <a:cs typeface="Open Sans"/>
              </a:defRPr>
            </a:lvl9pPr>
          </a:lstStyle>
          <a:p xmlns:a="http://schemas.openxmlformats.org/drawingml/2006/main">
            <a:pPr algn="l">
              <a:defRPr sz="3300" b="1">
                <a:solidFill>
                  <a:srgbClr val="FFFFFF"/>
                </a:solidFill>
                <a:latin typeface="Open Sans"/>
                <a:ea typeface="Open Sans"/>
                <a:cs typeface="Open Sans"/>
              </a:defRPr>
            </a:pPr>
            <a:r>
              <a:rPr sz="3300" b="1">
                <a:solidFill>
                  <a:srgbClr val="FFFFFF"/>
                </a:solidFill>
                <a:latin typeface="Open Sans"/>
                <a:ea typeface="Open Sans"/>
                <a:cs typeface="Open Sans"/>
              </a:rPr>
              <a:t>GOOGLE PLAY</a:t>
            </a:r>
          </a:p>
        </p:txBody>
      </p:sp>
      <p:sp>
        <p:nvSpPr>
          <p:cNvPr id="13" name="Play assumption">
            <a:extLst xmlns:a="http://schemas.openxmlformats.org/drawingml/2006/main">
              <a:ext uri="{FF2B5EF4-FFF2-40B4-BE49-F238E27FC236}">
                <a16:creationId xmlns:a16="http://schemas.microsoft.com/office/drawing/2014/main" id="{7C9FE9AC-DB3C-40CD-8894-0FFD8B584EA2}"/>
              </a:ext>
            </a:extLst>
          </p:cNvPr>
          <p:cNvSpPr>
            <a:spLocks xmlns:a="http://schemas.openxmlformats.org/drawingml/2006/main" noGrp="1"/>
          </p:cNvSpPr>
          <p:nvPr/>
        </p:nvSpPr>
        <p:spPr>
          <a:xfrm xmlns:a="http://schemas.openxmlformats.org/drawingml/2006/main">
            <a:off x="11430000" y="3914775"/>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0">
                <a:solidFill>
                  <a:srgbClr val="FFFFFF"/>
                </a:solidFill>
                <a:latin typeface="Open Sans"/>
                <a:ea typeface="Open Sans"/>
                <a:cs typeface="Open Sans"/>
              </a:defRPr>
            </a:defPPr>
            <a:lvl1pPr algn="l">
              <a:defRPr sz="2325" b="0">
                <a:solidFill>
                  <a:srgbClr val="FFFFFF"/>
                </a:solidFill>
                <a:latin typeface="Open Sans"/>
                <a:ea typeface="Open Sans"/>
                <a:cs typeface="Open Sans"/>
              </a:defRPr>
            </a:lvl1pPr>
            <a:lvl2pPr algn="l">
              <a:defRPr sz="2325" b="0">
                <a:solidFill>
                  <a:srgbClr val="FFFFFF"/>
                </a:solidFill>
                <a:latin typeface="Open Sans"/>
                <a:ea typeface="Open Sans"/>
                <a:cs typeface="Open Sans"/>
              </a:defRPr>
            </a:lvl2pPr>
            <a:lvl3pPr algn="l">
              <a:defRPr sz="2325" b="0">
                <a:solidFill>
                  <a:srgbClr val="FFFFFF"/>
                </a:solidFill>
                <a:latin typeface="Open Sans"/>
                <a:ea typeface="Open Sans"/>
                <a:cs typeface="Open Sans"/>
              </a:defRPr>
            </a:lvl3pPr>
            <a:lvl4pPr algn="l">
              <a:defRPr sz="2325" b="0">
                <a:solidFill>
                  <a:srgbClr val="FFFFFF"/>
                </a:solidFill>
                <a:latin typeface="Open Sans"/>
                <a:ea typeface="Open Sans"/>
                <a:cs typeface="Open Sans"/>
              </a:defRPr>
            </a:lvl4pPr>
            <a:lvl5pPr algn="l">
              <a:defRPr sz="2325" b="0">
                <a:solidFill>
                  <a:srgbClr val="FFFFFF"/>
                </a:solidFill>
                <a:latin typeface="Open Sans"/>
                <a:ea typeface="Open Sans"/>
                <a:cs typeface="Open Sans"/>
              </a:defRPr>
            </a:lvl5pPr>
            <a:lvl6pPr algn="l">
              <a:defRPr sz="2325" b="0">
                <a:solidFill>
                  <a:srgbClr val="FFFFFF"/>
                </a:solidFill>
                <a:latin typeface="Open Sans"/>
                <a:ea typeface="Open Sans"/>
                <a:cs typeface="Open Sans"/>
              </a:defRPr>
            </a:lvl6pPr>
            <a:lvl7pPr algn="l">
              <a:defRPr sz="2325" b="0">
                <a:solidFill>
                  <a:srgbClr val="FFFFFF"/>
                </a:solidFill>
                <a:latin typeface="Open Sans"/>
                <a:ea typeface="Open Sans"/>
                <a:cs typeface="Open Sans"/>
              </a:defRPr>
            </a:lvl7pPr>
            <a:lvl8pPr algn="l">
              <a:defRPr sz="2325" b="0">
                <a:solidFill>
                  <a:srgbClr val="FFFFFF"/>
                </a:solidFill>
                <a:latin typeface="Open Sans"/>
                <a:ea typeface="Open Sans"/>
                <a:cs typeface="Open Sans"/>
              </a:defRPr>
            </a:lvl8pPr>
            <a:lvl9pPr algn="l">
              <a:defRPr sz="2325" b="0">
                <a:solidFill>
                  <a:srgbClr val="FFFFFF"/>
                </a:solidFill>
                <a:latin typeface="Open Sans"/>
                <a:ea typeface="Open Sans"/>
                <a:cs typeface="Open Sans"/>
              </a:defRPr>
            </a:lvl9pPr>
          </a:lstStyle>
          <a:p xmlns:a="http://schemas.openxmlformats.org/drawingml/2006/main">
            <a:pPr algn="l">
              <a:defRPr sz="2325" b="0">
                <a:solidFill>
                  <a:srgbClr val="FFFFFF"/>
                </a:solidFill>
                <a:latin typeface="Open Sans"/>
                <a:ea typeface="Open Sans"/>
                <a:cs typeface="Open Sans"/>
              </a:defRPr>
            </a:pPr>
            <a:r>
              <a:rPr sz="2325" b="0">
                <a:solidFill>
                  <a:srgbClr val="FFFFFF"/>
                </a:solidFill>
                <a:latin typeface="Open Sans"/>
                <a:ea typeface="Open Sans"/>
                <a:cs typeface="Open Sans"/>
              </a:rPr>
              <a:t>$3/copy / 15% fee*</a:t>
            </a:r>
          </a:p>
        </p:txBody>
      </p:sp>
      <p:graphicFrame>
        <p:nvGraphicFramePr>
          <p:cNvPr id="14" name="">
            <a:extLst xmlns:a="http://schemas.openxmlformats.org/drawingml/2006/main">
              <a:ext uri="{FF2B5EF4-FFF2-40B4-BE49-F238E27FC236}">
                <a16:creationId xmlns:a16="http://schemas.microsoft.com/office/drawing/2014/main" id="{6C078011-6E87-45C6-B1AB-658722C5DD69}"/>
              </a:ext>
            </a:extLst>
          </p:cNvPr>
          <p:cNvGraphicFramePr/>
          <p:nvPr/>
        </p:nvGraphicFramePr>
        <p:xfrm>
          <a:off xmlns:a="http://schemas.openxmlformats.org/drawingml/2006/main" x="762000" y="4524375"/>
          <a:ext xmlns:a="http://schemas.openxmlformats.org/drawingml/2006/main" cx="16764000" cy="3571875"/>
        </p:xfrm>
        <a:graphic xmlns:a="http://schemas.openxmlformats.org/drawingml/2006/main">
          <a:graphicData uri="http://schemas.openxmlformats.org/drawingml/2006/table">
            <a:tbl>
              <a:tblPr/>
              <a:tblGrid>
                <a:gridCol w="4191000"/>
                <a:gridCol w="6477000"/>
                <a:gridCol w="6096000"/>
              </a:tblGrid>
              <a:tr h="1785938">
                <a:tc>
                  <a:txBody>
                    <a:bodyPr wrap="none" lIns="0" tIns="0" rIns="0" bIns="0"/>
                    <a:lstStyle/>
                    <a:p>
                      <a:pPr algn="l"/>
                      <a:r>
                        <a:rPr sz="4800">
                          <a:solidFill>
                            <a:srgbClr val="FFFFFF"/>
                          </a:solidFill>
                          <a:latin typeface="Press Start 2P"/>
                          <a:ea typeface="Press Start 2P"/>
                          <a:cs typeface="Press Start 2P"/>
                        </a:rPr>
                        <a:t>1K</a:t>
                      </a:r>
                    </a:p>
                  </a:txBody>
                  <a:tcPr marL="91440" marR="91440" marT="45720" marB="45720" anchor="ctr">
                    <a:lnL w="0">
                      <a:noFill/>
                    </a:lnL>
                    <a:lnR w="0">
                      <a:noFill/>
                    </a:lnR>
                    <a:lnT w="0">
                      <a:noFill/>
                    </a:lnT>
                    <a:lnB w="0">
                      <a:noFill/>
                    </a:lnB>
                    <a:solidFill>
                      <a:srgbClr val="1A022B"/>
                    </a:solidFill>
                  </a:tcPr>
                </a:tc>
                <a:tc>
                  <a:txBody>
                    <a:bodyPr wrap="none" lIns="0" tIns="0" rIns="0" bIns="0"/>
                    <a:lstStyle/>
                    <a:p>
                      <a:pPr algn="l"/>
                      <a:r>
                        <a:rPr sz="4800">
                          <a:solidFill>
                            <a:srgbClr val="9AFFD2"/>
                          </a:solidFill>
                          <a:latin typeface="Press Start 2P"/>
                          <a:ea typeface="Press Start 2P"/>
                          <a:cs typeface="Press Start 2P"/>
                        </a:rPr>
                        <a:t>$7,000</a:t>
                      </a:r>
                    </a:p>
                  </a:txBody>
                  <a:tcPr marL="91440" marR="91440" marT="45720" marB="45720" anchor="ctr">
                    <a:lnR w="0">
                      <a:noFill/>
                    </a:lnR>
                    <a:lnT w="0">
                      <a:noFill/>
                    </a:lnT>
                    <a:lnB w="0">
                      <a:noFill/>
                    </a:lnB>
                    <a:solidFill>
                      <a:srgbClr val="1A022B"/>
                    </a:solidFill>
                  </a:tcPr>
                </a:tc>
                <a:tc>
                  <a:txBody>
                    <a:bodyPr wrap="none" lIns="0" tIns="0" rIns="0" bIns="0"/>
                    <a:lstStyle/>
                    <a:p>
                      <a:pPr algn="l"/>
                      <a:r>
                        <a:rPr sz="4800">
                          <a:solidFill>
                            <a:srgbClr val="9AFFD2"/>
                          </a:solidFill>
                          <a:latin typeface="Press Start 2P"/>
                          <a:ea typeface="Press Start 2P"/>
                          <a:cs typeface="Press Start 2P"/>
                        </a:rPr>
                        <a:t>$2,550</a:t>
                      </a:r>
                    </a:p>
                  </a:txBody>
                  <a:tcPr marL="91440" marR="91440" marT="45720" marB="45720" anchor="ctr">
                    <a:lnR w="0">
                      <a:noFill/>
                    </a:lnR>
                    <a:lnT w="0">
                      <a:noFill/>
                    </a:lnT>
                    <a:lnB w="0">
                      <a:noFill/>
                    </a:lnB>
                    <a:solidFill>
                      <a:srgbClr val="1A022B"/>
                    </a:solidFill>
                  </a:tcPr>
                </a:tc>
              </a:tr>
              <a:tr h="1785938">
                <a:tc>
                  <a:txBody>
                    <a:bodyPr wrap="none" lIns="0" tIns="0" rIns="0" bIns="0"/>
                    <a:lstStyle/>
                    <a:p>
                      <a:pPr algn="l"/>
                      <a:r>
                        <a:rPr sz="4800">
                          <a:solidFill>
                            <a:srgbClr val="FFFFFF"/>
                          </a:solidFill>
                          <a:latin typeface="Press Start 2P"/>
                          <a:ea typeface="Press Start 2P"/>
                          <a:cs typeface="Press Start 2P"/>
                        </a:rPr>
                        <a:t>10K</a:t>
                      </a:r>
                    </a:p>
                  </a:txBody>
                  <a:tcPr marL="91440" marR="91440" marT="45720" marB="45720" anchor="ctr">
                    <a:lnL w="0">
                      <a:noFill/>
                    </a:lnL>
                    <a:lnR w="0">
                      <a:noFill/>
                    </a:lnR>
                    <a:lnB w="0">
                      <a:noFill/>
                    </a:lnB>
                    <a:solidFill>
                      <a:srgbClr val="1A022B"/>
                    </a:solidFill>
                  </a:tcPr>
                </a:tc>
                <a:tc>
                  <a:txBody>
                    <a:bodyPr wrap="none" lIns="0" tIns="0" rIns="0" bIns="0"/>
                    <a:lstStyle/>
                    <a:p>
                      <a:pPr algn="l"/>
                      <a:r>
                        <a:rPr sz="4800">
                          <a:solidFill>
                            <a:srgbClr val="9AFFD2"/>
                          </a:solidFill>
                          <a:latin typeface="Press Start 2P"/>
                          <a:ea typeface="Press Start 2P"/>
                          <a:cs typeface="Press Start 2P"/>
                        </a:rPr>
                        <a:t>$70,000</a:t>
                      </a:r>
                    </a:p>
                  </a:txBody>
                  <a:tcPr marL="91440" marR="91440" marT="45720" marB="45720" anchor="ctr">
                    <a:lnR w="0">
                      <a:noFill/>
                    </a:lnR>
                    <a:lnB w="0">
                      <a:noFill/>
                    </a:lnB>
                    <a:solidFill>
                      <a:srgbClr val="1A022B"/>
                    </a:solidFill>
                  </a:tcPr>
                </a:tc>
                <a:tc>
                  <a:txBody>
                    <a:bodyPr wrap="none" lIns="0" tIns="0" rIns="0" bIns="0"/>
                    <a:lstStyle/>
                    <a:p>
                      <a:pPr algn="l"/>
                      <a:r>
                        <a:rPr sz="4800">
                          <a:solidFill>
                            <a:srgbClr val="9AFFD2"/>
                          </a:solidFill>
                          <a:latin typeface="Press Start 2P"/>
                          <a:ea typeface="Press Start 2P"/>
                          <a:cs typeface="Press Start 2P"/>
                        </a:rPr>
                        <a:t>$25,500</a:t>
                      </a:r>
                    </a:p>
                  </a:txBody>
                  <a:tcPr marL="91440" marR="91440" marT="45720" marB="45720" anchor="ctr">
                    <a:lnR w="0">
                      <a:noFill/>
                    </a:lnR>
                    <a:lnB w="0">
                      <a:noFill/>
                    </a:lnB>
                    <a:solidFill>
                      <a:srgbClr val="1A022B"/>
                    </a:solidFill>
                  </a:tcPr>
                </a:tc>
              </a:tr>
            </a:tbl>
          </a:graphicData>
        </a:graphic>
      </p:graphicFrame>
      <p:sp>
        <p:nvSpPr>
          <p:cNvPr id="15" name="Scenario basis">
            <a:extLst xmlns:a="http://schemas.openxmlformats.org/drawingml/2006/main">
              <a:ext uri="{FF2B5EF4-FFF2-40B4-BE49-F238E27FC236}">
                <a16:creationId xmlns:a16="http://schemas.microsoft.com/office/drawing/2014/main" id="{B767AF6E-5CF6-4D30-99F2-513CBAA7AE17}"/>
              </a:ext>
            </a:extLst>
          </p:cNvPr>
          <p:cNvSpPr>
            <a:spLocks xmlns:a="http://schemas.openxmlformats.org/drawingml/2006/main" noGrp="1"/>
          </p:cNvSpPr>
          <p:nvPr/>
        </p:nvSpPr>
        <p:spPr>
          <a:xfrm xmlns:a="http://schemas.openxmlformats.org/drawingml/2006/main">
            <a:off x="762000" y="8477250"/>
            <a:ext cx="1676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FFFFFF"/>
                </a:solidFill>
                <a:latin typeface="Open Sans"/>
                <a:ea typeface="Open Sans"/>
                <a:cs typeface="Open Sans"/>
              </a:defRPr>
            </a:defPPr>
            <a:lvl1pPr algn="l">
              <a:defRPr sz="2025" b="0">
                <a:solidFill>
                  <a:srgbClr val="FFFFFF"/>
                </a:solidFill>
                <a:latin typeface="Open Sans"/>
                <a:ea typeface="Open Sans"/>
                <a:cs typeface="Open Sans"/>
              </a:defRPr>
            </a:lvl1pPr>
            <a:lvl2pPr algn="l">
              <a:defRPr sz="2025" b="0">
                <a:solidFill>
                  <a:srgbClr val="FFFFFF"/>
                </a:solidFill>
                <a:latin typeface="Open Sans"/>
                <a:ea typeface="Open Sans"/>
                <a:cs typeface="Open Sans"/>
              </a:defRPr>
            </a:lvl2pPr>
            <a:lvl3pPr algn="l">
              <a:defRPr sz="2025" b="0">
                <a:solidFill>
                  <a:srgbClr val="FFFFFF"/>
                </a:solidFill>
                <a:latin typeface="Open Sans"/>
                <a:ea typeface="Open Sans"/>
                <a:cs typeface="Open Sans"/>
              </a:defRPr>
            </a:lvl3pPr>
            <a:lvl4pPr algn="l">
              <a:defRPr sz="2025" b="0">
                <a:solidFill>
                  <a:srgbClr val="FFFFFF"/>
                </a:solidFill>
                <a:latin typeface="Open Sans"/>
                <a:ea typeface="Open Sans"/>
                <a:cs typeface="Open Sans"/>
              </a:defRPr>
            </a:lvl4pPr>
            <a:lvl5pPr algn="l">
              <a:defRPr sz="2025" b="0">
                <a:solidFill>
                  <a:srgbClr val="FFFFFF"/>
                </a:solidFill>
                <a:latin typeface="Open Sans"/>
                <a:ea typeface="Open Sans"/>
                <a:cs typeface="Open Sans"/>
              </a:defRPr>
            </a:lvl5pPr>
            <a:lvl6pPr algn="l">
              <a:defRPr sz="2025" b="0">
                <a:solidFill>
                  <a:srgbClr val="FFFFFF"/>
                </a:solidFill>
                <a:latin typeface="Open Sans"/>
                <a:ea typeface="Open Sans"/>
                <a:cs typeface="Open Sans"/>
              </a:defRPr>
            </a:lvl6pPr>
            <a:lvl7pPr algn="l">
              <a:defRPr sz="2025" b="0">
                <a:solidFill>
                  <a:srgbClr val="FFFFFF"/>
                </a:solidFill>
                <a:latin typeface="Open Sans"/>
                <a:ea typeface="Open Sans"/>
                <a:cs typeface="Open Sans"/>
              </a:defRPr>
            </a:lvl7pPr>
            <a:lvl8pPr algn="l">
              <a:defRPr sz="2025" b="0">
                <a:solidFill>
                  <a:srgbClr val="FFFFFF"/>
                </a:solidFill>
                <a:latin typeface="Open Sans"/>
                <a:ea typeface="Open Sans"/>
                <a:cs typeface="Open Sans"/>
              </a:defRPr>
            </a:lvl8pPr>
            <a:lvl9pPr algn="l">
              <a:defRPr sz="2025" b="0">
                <a:solidFill>
                  <a:srgbClr val="FFFFFF"/>
                </a:solidFill>
                <a:latin typeface="Open Sans"/>
                <a:ea typeface="Open Sans"/>
                <a:cs typeface="Open Sans"/>
              </a:defRPr>
            </a:lvl9pPr>
          </a:lstStyle>
          <a:p xmlns:a="http://schemas.openxmlformats.org/drawingml/2006/main">
            <a:pPr algn="l">
              <a:defRPr sz="2025" b="0">
                <a:solidFill>
                  <a:srgbClr val="FFFFFF"/>
                </a:solidFill>
                <a:latin typeface="Open Sans"/>
                <a:ea typeface="Open Sans"/>
                <a:cs typeface="Open Sans"/>
              </a:defRPr>
            </a:pPr>
            <a:r>
              <a:rPr sz="2025" b="0">
                <a:solidFill>
                  <a:srgbClr val="FFFFFF"/>
                </a:solidFill>
                <a:latin typeface="Open Sans"/>
                <a:ea typeface="Open Sans"/>
                <a:cs typeface="Open Sans"/>
              </a:rPr>
              <a:t>Illustrative. *Eligible Play tier.</a:t>
            </a:r>
          </a:p>
        </p:txBody>
      </p:sp>
      <p:sp>
        <p:nvSpPr>
          <p:cNvPr id="16" name="Excluded costs">
            <a:extLst xmlns:a="http://schemas.openxmlformats.org/drawingml/2006/main">
              <a:ext uri="{FF2B5EF4-FFF2-40B4-BE49-F238E27FC236}">
                <a16:creationId xmlns:a16="http://schemas.microsoft.com/office/drawing/2014/main" id="{BA682AD1-A9E8-4AD5-8730-E5DD1B7ABCE3}"/>
              </a:ext>
            </a:extLst>
          </p:cNvPr>
          <p:cNvSpPr>
            <a:spLocks xmlns:a="http://schemas.openxmlformats.org/drawingml/2006/main" noGrp="1"/>
          </p:cNvSpPr>
          <p:nvPr/>
        </p:nvSpPr>
        <p:spPr>
          <a:xfrm xmlns:a="http://schemas.openxmlformats.org/drawingml/2006/main">
            <a:off x="762000" y="8915400"/>
            <a:ext cx="1676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00" b="0">
                <a:solidFill>
                  <a:srgbClr val="FFFFFF"/>
                </a:solidFill>
                <a:latin typeface="Open Sans"/>
                <a:ea typeface="Open Sans"/>
                <a:cs typeface="Open Sans"/>
              </a:defRPr>
            </a:defPPr>
            <a:lvl1pPr algn="l">
              <a:defRPr sz="2000" b="0">
                <a:solidFill>
                  <a:srgbClr val="FFFFFF"/>
                </a:solidFill>
                <a:latin typeface="Open Sans"/>
                <a:ea typeface="Open Sans"/>
                <a:cs typeface="Open Sans"/>
              </a:defRPr>
            </a:lvl1pPr>
            <a:lvl2pPr algn="l">
              <a:defRPr sz="2000" b="0">
                <a:solidFill>
                  <a:srgbClr val="FFFFFF"/>
                </a:solidFill>
                <a:latin typeface="Open Sans"/>
                <a:ea typeface="Open Sans"/>
                <a:cs typeface="Open Sans"/>
              </a:defRPr>
            </a:lvl2pPr>
            <a:lvl3pPr algn="l">
              <a:defRPr sz="2000" b="0">
                <a:solidFill>
                  <a:srgbClr val="FFFFFF"/>
                </a:solidFill>
                <a:latin typeface="Open Sans"/>
                <a:ea typeface="Open Sans"/>
                <a:cs typeface="Open Sans"/>
              </a:defRPr>
            </a:lvl3pPr>
            <a:lvl4pPr algn="l">
              <a:defRPr sz="2000" b="0">
                <a:solidFill>
                  <a:srgbClr val="FFFFFF"/>
                </a:solidFill>
                <a:latin typeface="Open Sans"/>
                <a:ea typeface="Open Sans"/>
                <a:cs typeface="Open Sans"/>
              </a:defRPr>
            </a:lvl4pPr>
            <a:lvl5pPr algn="l">
              <a:defRPr sz="2000" b="0">
                <a:solidFill>
                  <a:srgbClr val="FFFFFF"/>
                </a:solidFill>
                <a:latin typeface="Open Sans"/>
                <a:ea typeface="Open Sans"/>
                <a:cs typeface="Open Sans"/>
              </a:defRPr>
            </a:lvl5pPr>
            <a:lvl6pPr algn="l">
              <a:defRPr sz="2000" b="0">
                <a:solidFill>
                  <a:srgbClr val="FFFFFF"/>
                </a:solidFill>
                <a:latin typeface="Open Sans"/>
                <a:ea typeface="Open Sans"/>
                <a:cs typeface="Open Sans"/>
              </a:defRPr>
            </a:lvl6pPr>
            <a:lvl7pPr algn="l">
              <a:defRPr sz="2000" b="0">
                <a:solidFill>
                  <a:srgbClr val="FFFFFF"/>
                </a:solidFill>
                <a:latin typeface="Open Sans"/>
                <a:ea typeface="Open Sans"/>
                <a:cs typeface="Open Sans"/>
              </a:defRPr>
            </a:lvl7pPr>
            <a:lvl8pPr algn="l">
              <a:defRPr sz="2000" b="0">
                <a:solidFill>
                  <a:srgbClr val="FFFFFF"/>
                </a:solidFill>
                <a:latin typeface="Open Sans"/>
                <a:ea typeface="Open Sans"/>
                <a:cs typeface="Open Sans"/>
              </a:defRPr>
            </a:lvl8pPr>
            <a:lvl9pPr algn="l">
              <a:defRPr sz="2000" b="0">
                <a:solidFill>
                  <a:srgbClr val="FFFFFF"/>
                </a:solidFill>
                <a:latin typeface="Open Sans"/>
                <a:ea typeface="Open Sans"/>
                <a:cs typeface="Open Sans"/>
              </a:defRPr>
            </a:lvl9pPr>
          </a:lstStyle>
          <a:p xmlns:a="http://schemas.openxmlformats.org/drawingml/2006/main">
            <a:pPr algn="l">
              <a:defRPr sz="2000" b="0">
                <a:solidFill>
                  <a:srgbClr val="FFFFFF"/>
                </a:solidFill>
                <a:latin typeface="Open Sans"/>
                <a:ea typeface="Open Sans"/>
                <a:cs typeface="Open Sans"/>
              </a:defRPr>
            </a:pPr>
            <a:r>
              <a:rPr sz="2000" b="0">
                <a:solidFill>
                  <a:srgbClr val="FFFFFF"/>
                </a:solidFill>
                <a:latin typeface="Open Sans"/>
                <a:ea typeface="Open Sans"/>
                <a:cs typeface="Open Sans"/>
              </a:rPr>
              <a:t>Before tax, refunds, costs &amp; publisher share.</a:t>
            </a:r>
          </a:p>
        </p:txBody>
      </p:sp>
    </p:spTree>
    <p:extLst>
      <p:ext uri="{BB962C8B-B14F-4D97-AF65-F5344CB8AC3E}">
        <p14:creationId xmlns:p14="http://schemas.microsoft.com/office/powerpoint/2010/main" val="1233760775"/>
      </p:ext>
    </p:extLst>
  </p:cSld>
</p:sld>
</file>

<file path=ppt/slides/slide13.xml><?xml version="1.0" encoding="utf-8"?>
<p:sld xmlns:p="http://schemas.openxmlformats.org/presentationml/2006/main">
  <p:cSld>
    <p:bg>
      <p:bgPr>
        <a:solidFill xmlns:a="http://schemas.openxmlformats.org/drawingml/2006/main">
          <a:srgbClr val="1A022B"/>
        </a:solidFill>
      </p:bgPr>
    </p:bg>
    <p:spTree>
      <p:nvGrpSpPr>
        <p:cNvPr id="1" name=""/>
        <p:cNvGrpSpPr/>
        <p:nvPr/>
      </p:nvGrpSpPr>
      <p:grpSpPr>
        <a:xfrm xmlns:a="http://schemas.openxmlformats.org/drawingml/2006/main"/>
      </p:grpSpPr>
      <p:sp xmlns:a="http://schemas.openxmlformats.org/drawingml/2006/main" xmlns:r="http://schemas.openxmlformats.org/officeDocument/2006/relationships">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3" name="Freeform 3"/>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4" name="Freeform 4"/>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5" name="Freeform 5"/>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bg_clouds"/>
            <a:stretch>
              <a:fillRect/>
            </a:stretch>
          </a:blipFill>
        </p:spPr>
        <p:txBody>
          <a:bodyPr/>
          <a:lstStyle/>
          <a:p>
            <a:endParaRPr lang="en-US"/>
          </a:p>
        </p:txBody>
      </p:sp>
      <p:sp xmlns:a="http://schemas.openxmlformats.org/drawingml/2006/main" xmlns:r="http://schemas.openxmlformats.org/officeDocument/2006/relationships">
        <p:nvSpPr>
          <p:cNvPr id="6" name="Freeform 6"/>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bg_clouds"/>
            <a:stretch>
              <a:fillRect/>
            </a:stretch>
          </a:blipFill>
        </p:spPr>
        <p:txBody>
          <a:bodyPr/>
          <a:lstStyle/>
          <a:p>
            <a:endParaRPr lang="en-US"/>
          </a:p>
        </p:txBody>
      </p:sp>
      <p:sp>
        <p:nvSpPr>
          <p:cNvPr id="7" name="Slide title">
            <a:extLst xmlns:a="http://schemas.openxmlformats.org/drawingml/2006/main">
              <a:ext uri="{FF2B5EF4-FFF2-40B4-BE49-F238E27FC236}">
                <a16:creationId xmlns:a16="http://schemas.microsoft.com/office/drawing/2014/main" id="{AA9FA5C8-F091-49D3-B1AF-2118B5372ED5}"/>
              </a:ext>
            </a:extLst>
          </p:cNvPr>
          <p:cNvSpPr>
            <a:spLocks xmlns:a="http://schemas.openxmlformats.org/drawingml/2006/main" noGrp="1"/>
          </p:cNvSpPr>
          <p:nvPr/>
        </p:nvSpPr>
        <p:spPr>
          <a:xfrm xmlns:a="http://schemas.openxmlformats.org/drawingml/2006/main">
            <a:off x="714375" y="1381125"/>
            <a:ext cx="1685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xmlns:a="http://schemas.openxmlformats.org/drawingml/2006/main">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FREE GAMES CAN EARN</a:t>
            </a:r>
          </a:p>
        </p:txBody>
      </p:sp>
      <p:pic>
        <p:nvPicPr>
          <p:cNvPr id="8" name="">
            <a:extLst xmlns:a="http://schemas.openxmlformats.org/drawingml/2006/main">
              <a:ext uri="{FF2B5EF4-FFF2-40B4-BE49-F238E27FC236}">
                <a16:creationId xmlns:a16="http://schemas.microsoft.com/office/drawing/2014/main" id="{F56AB2C6-9E29-434D-9F73-80F4008C64E0}"/>
              </a:ext>
            </a:extLst>
          </p:cNvPr>
          <p:cNvPicPr>
            <a:picLocks xmlns:a="http://schemas.openxmlformats.org/drawingml/2006/main" noChangeAspect="1"/>
          </p:cNvPicPr>
          <p:nvPr/>
        </p:nvPicPr>
        <p:blipFill>
          <a:blip xmlns:r="http://schemas.openxmlformats.org/officeDocument/2006/relationships" xmlns:a="http://schemas.openxmlformats.org/drawingml/2006/main" r:embed="R089dba76337e4bf6"/>
          <a:stretch xmlns:a="http://schemas.openxmlformats.org/drawingml/2006/main"/>
        </p:blipFill>
        <p:spPr>
          <a:xfrm xmlns:a="http://schemas.openxmlformats.org/drawingml/2006/main">
            <a:off x="1190625" y="2667000"/>
            <a:ext cx="3396853" cy="6038850"/>
          </a:xfrm>
          <a:prstGeom xmlns:a="http://schemas.openxmlformats.org/drawingml/2006/main" prst="rect">
            <a:avLst/>
          </a:prstGeom>
        </p:spPr>
      </p:pic>
      <p:sp>
        <p:nvSpPr>
          <p:cNvPr id="9" name="Game caption">
            <a:extLst xmlns:a="http://schemas.openxmlformats.org/drawingml/2006/main">
              <a:ext uri="{FF2B5EF4-FFF2-40B4-BE49-F238E27FC236}">
                <a16:creationId xmlns:a16="http://schemas.microsoft.com/office/drawing/2014/main" id="{C8EADCCE-2C94-48EB-AB63-93E2DF618A7C}"/>
              </a:ext>
            </a:extLst>
          </p:cNvPr>
          <p:cNvSpPr>
            <a:spLocks xmlns:a="http://schemas.openxmlformats.org/drawingml/2006/main" noGrp="1"/>
          </p:cNvSpPr>
          <p:nvPr/>
        </p:nvSpPr>
        <p:spPr>
          <a:xfrm xmlns:a="http://schemas.openxmlformats.org/drawingml/2006/main">
            <a:off x="762000" y="8886825"/>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FFFFFF"/>
                </a:solidFill>
                <a:latin typeface="Open Sans"/>
                <a:ea typeface="Open Sans"/>
                <a:cs typeface="Open Sans"/>
              </a:defRPr>
            </a:defPPr>
            <a:lvl1pPr algn="l">
              <a:defRPr sz="2025" b="0">
                <a:solidFill>
                  <a:srgbClr val="FFFFFF"/>
                </a:solidFill>
                <a:latin typeface="Open Sans"/>
                <a:ea typeface="Open Sans"/>
                <a:cs typeface="Open Sans"/>
              </a:defRPr>
            </a:lvl1pPr>
            <a:lvl2pPr algn="l">
              <a:defRPr sz="2025" b="0">
                <a:solidFill>
                  <a:srgbClr val="FFFFFF"/>
                </a:solidFill>
                <a:latin typeface="Open Sans"/>
                <a:ea typeface="Open Sans"/>
                <a:cs typeface="Open Sans"/>
              </a:defRPr>
            </a:lvl2pPr>
            <a:lvl3pPr algn="l">
              <a:defRPr sz="2025" b="0">
                <a:solidFill>
                  <a:srgbClr val="FFFFFF"/>
                </a:solidFill>
                <a:latin typeface="Open Sans"/>
                <a:ea typeface="Open Sans"/>
                <a:cs typeface="Open Sans"/>
              </a:defRPr>
            </a:lvl3pPr>
            <a:lvl4pPr algn="l">
              <a:defRPr sz="2025" b="0">
                <a:solidFill>
                  <a:srgbClr val="FFFFFF"/>
                </a:solidFill>
                <a:latin typeface="Open Sans"/>
                <a:ea typeface="Open Sans"/>
                <a:cs typeface="Open Sans"/>
              </a:defRPr>
            </a:lvl4pPr>
            <a:lvl5pPr algn="l">
              <a:defRPr sz="2025" b="0">
                <a:solidFill>
                  <a:srgbClr val="FFFFFF"/>
                </a:solidFill>
                <a:latin typeface="Open Sans"/>
                <a:ea typeface="Open Sans"/>
                <a:cs typeface="Open Sans"/>
              </a:defRPr>
            </a:lvl5pPr>
            <a:lvl6pPr algn="l">
              <a:defRPr sz="2025" b="0">
                <a:solidFill>
                  <a:srgbClr val="FFFFFF"/>
                </a:solidFill>
                <a:latin typeface="Open Sans"/>
                <a:ea typeface="Open Sans"/>
                <a:cs typeface="Open Sans"/>
              </a:defRPr>
            </a:lvl6pPr>
            <a:lvl7pPr algn="l">
              <a:defRPr sz="2025" b="0">
                <a:solidFill>
                  <a:srgbClr val="FFFFFF"/>
                </a:solidFill>
                <a:latin typeface="Open Sans"/>
                <a:ea typeface="Open Sans"/>
                <a:cs typeface="Open Sans"/>
              </a:defRPr>
            </a:lvl7pPr>
            <a:lvl8pPr algn="l">
              <a:defRPr sz="2025" b="0">
                <a:solidFill>
                  <a:srgbClr val="FFFFFF"/>
                </a:solidFill>
                <a:latin typeface="Open Sans"/>
                <a:ea typeface="Open Sans"/>
                <a:cs typeface="Open Sans"/>
              </a:defRPr>
            </a:lvl8pPr>
            <a:lvl9pPr algn="l">
              <a:defRPr sz="2025" b="0">
                <a:solidFill>
                  <a:srgbClr val="FFFFFF"/>
                </a:solidFill>
                <a:latin typeface="Open Sans"/>
                <a:ea typeface="Open Sans"/>
                <a:cs typeface="Open Sans"/>
              </a:defRPr>
            </a:lvl9pPr>
          </a:lstStyle>
          <a:p xmlns:a="http://schemas.openxmlformats.org/drawingml/2006/main">
            <a:pPr algn="l">
              <a:defRPr sz="2025" b="0">
                <a:solidFill>
                  <a:srgbClr val="FFFFFF"/>
                </a:solidFill>
                <a:latin typeface="Open Sans"/>
                <a:ea typeface="Open Sans"/>
                <a:cs typeface="Open Sans"/>
              </a:defRPr>
            </a:pPr>
            <a:r>
              <a:rPr sz="2025" b="0">
                <a:solidFill>
                  <a:srgbClr val="FFFFFF"/>
                </a:solidFill>
                <a:latin typeface="Open Sans"/>
                <a:ea typeface="Open Sans"/>
                <a:cs typeface="Open Sans"/>
              </a:rPr>
              <a:t>Vampire Survivors / Android</a:t>
            </a:r>
          </a:p>
        </p:txBody>
      </p:sp>
      <p:sp>
        <p:nvSpPr>
          <p:cNvPr id="10" name="Ad example label">
            <a:extLst xmlns:a="http://schemas.openxmlformats.org/drawingml/2006/main">
              <a:ext uri="{FF2B5EF4-FFF2-40B4-BE49-F238E27FC236}">
                <a16:creationId xmlns:a16="http://schemas.microsoft.com/office/drawing/2014/main" id="{7A854080-2EF0-4C23-B58D-13056E8A002C}"/>
              </a:ext>
            </a:extLst>
          </p:cNvPr>
          <p:cNvSpPr>
            <a:spLocks xmlns:a="http://schemas.openxmlformats.org/drawingml/2006/main" noGrp="1"/>
          </p:cNvSpPr>
          <p:nvPr/>
        </p:nvSpPr>
        <p:spPr>
          <a:xfrm xmlns:a="http://schemas.openxmlformats.org/drawingml/2006/main">
            <a:off x="5905500" y="2714625"/>
            <a:ext cx="1162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FFFFFF"/>
                </a:solidFill>
                <a:latin typeface="Open Sans"/>
                <a:ea typeface="Open Sans"/>
                <a:cs typeface="Open Sans"/>
              </a:defRPr>
            </a:defPPr>
            <a:lvl1pPr algn="l">
              <a:defRPr sz="2200" b="0">
                <a:solidFill>
                  <a:srgbClr val="FFFFFF"/>
                </a:solidFill>
                <a:latin typeface="Open Sans"/>
                <a:ea typeface="Open Sans"/>
                <a:cs typeface="Open Sans"/>
              </a:defRPr>
            </a:lvl1pPr>
            <a:lvl2pPr algn="l">
              <a:defRPr sz="2200" b="0">
                <a:solidFill>
                  <a:srgbClr val="FFFFFF"/>
                </a:solidFill>
                <a:latin typeface="Open Sans"/>
                <a:ea typeface="Open Sans"/>
                <a:cs typeface="Open Sans"/>
              </a:defRPr>
            </a:lvl2pPr>
            <a:lvl3pPr algn="l">
              <a:defRPr sz="2200" b="0">
                <a:solidFill>
                  <a:srgbClr val="FFFFFF"/>
                </a:solidFill>
                <a:latin typeface="Open Sans"/>
                <a:ea typeface="Open Sans"/>
                <a:cs typeface="Open Sans"/>
              </a:defRPr>
            </a:lvl3pPr>
            <a:lvl4pPr algn="l">
              <a:defRPr sz="2200" b="0">
                <a:solidFill>
                  <a:srgbClr val="FFFFFF"/>
                </a:solidFill>
                <a:latin typeface="Open Sans"/>
                <a:ea typeface="Open Sans"/>
                <a:cs typeface="Open Sans"/>
              </a:defRPr>
            </a:lvl4pPr>
            <a:lvl5pPr algn="l">
              <a:defRPr sz="2200" b="0">
                <a:solidFill>
                  <a:srgbClr val="FFFFFF"/>
                </a:solidFill>
                <a:latin typeface="Open Sans"/>
                <a:ea typeface="Open Sans"/>
                <a:cs typeface="Open Sans"/>
              </a:defRPr>
            </a:lvl5pPr>
            <a:lvl6pPr algn="l">
              <a:defRPr sz="2200" b="0">
                <a:solidFill>
                  <a:srgbClr val="FFFFFF"/>
                </a:solidFill>
                <a:latin typeface="Open Sans"/>
                <a:ea typeface="Open Sans"/>
                <a:cs typeface="Open Sans"/>
              </a:defRPr>
            </a:lvl6pPr>
            <a:lvl7pPr algn="l">
              <a:defRPr sz="2200" b="0">
                <a:solidFill>
                  <a:srgbClr val="FFFFFF"/>
                </a:solidFill>
                <a:latin typeface="Open Sans"/>
                <a:ea typeface="Open Sans"/>
                <a:cs typeface="Open Sans"/>
              </a:defRPr>
            </a:lvl7pPr>
            <a:lvl8pPr algn="l">
              <a:defRPr sz="2200" b="0">
                <a:solidFill>
                  <a:srgbClr val="FFFFFF"/>
                </a:solidFill>
                <a:latin typeface="Open Sans"/>
                <a:ea typeface="Open Sans"/>
                <a:cs typeface="Open Sans"/>
              </a:defRPr>
            </a:lvl8pPr>
            <a:lvl9pPr algn="l">
              <a:defRPr sz="2200" b="0">
                <a:solidFill>
                  <a:srgbClr val="FFFFFF"/>
                </a:solidFill>
                <a:latin typeface="Open Sans"/>
                <a:ea typeface="Open Sans"/>
                <a:cs typeface="Open Sans"/>
              </a:defRPr>
            </a:lvl9pPr>
          </a:lstStyle>
          <a:p xmlns:a="http://schemas.openxmlformats.org/drawingml/2006/main">
            <a:pPr algn="l">
              <a:defRPr sz="2200" b="0">
                <a:solidFill>
                  <a:srgbClr val="FFFFFF"/>
                </a:solidFill>
                <a:latin typeface="Open Sans"/>
                <a:ea typeface="Open Sans"/>
                <a:cs typeface="Open Sans"/>
              </a:defRPr>
            </a:pPr>
            <a:r>
              <a:rPr sz="2200" b="0">
                <a:solidFill>
                  <a:srgbClr val="FFFFFF"/>
                </a:solidFill>
                <a:latin typeface="Open Sans"/>
                <a:ea typeface="Open Sans"/>
                <a:cs typeface="Open Sans"/>
              </a:rPr>
              <a:t>ILLUSTRATIVE AD SCENARIO</a:t>
            </a:r>
          </a:p>
        </p:txBody>
      </p:sp>
      <p:sp>
        <p:nvSpPr>
          <p:cNvPr id="11" name="Monthly views">
            <a:extLst xmlns:a="http://schemas.openxmlformats.org/drawingml/2006/main">
              <a:ext uri="{FF2B5EF4-FFF2-40B4-BE49-F238E27FC236}">
                <a16:creationId xmlns:a16="http://schemas.microsoft.com/office/drawing/2014/main" id="{CFC2179A-CE15-4735-9B7B-29EA47B678F8}"/>
              </a:ext>
            </a:extLst>
          </p:cNvPr>
          <p:cNvSpPr>
            <a:spLocks xmlns:a="http://schemas.openxmlformats.org/drawingml/2006/main" noGrp="1"/>
          </p:cNvSpPr>
          <p:nvPr/>
        </p:nvSpPr>
        <p:spPr>
          <a:xfrm xmlns:a="http://schemas.openxmlformats.org/drawingml/2006/main">
            <a:off x="5905500" y="3390900"/>
            <a:ext cx="3429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200" b="0">
                <a:solidFill>
                  <a:srgbClr val="9AFFD2"/>
                </a:solidFill>
                <a:latin typeface="Press Start 2P"/>
                <a:ea typeface="Press Start 2P"/>
                <a:cs typeface="Press Start 2P"/>
              </a:defRPr>
            </a:defPPr>
            <a:lvl1pPr algn="l">
              <a:defRPr sz="7200" b="0">
                <a:solidFill>
                  <a:srgbClr val="9AFFD2"/>
                </a:solidFill>
                <a:latin typeface="Press Start 2P"/>
                <a:ea typeface="Press Start 2P"/>
                <a:cs typeface="Press Start 2P"/>
              </a:defRPr>
            </a:lvl1pPr>
            <a:lvl2pPr algn="l">
              <a:defRPr sz="7200" b="0">
                <a:solidFill>
                  <a:srgbClr val="9AFFD2"/>
                </a:solidFill>
                <a:latin typeface="Press Start 2P"/>
                <a:ea typeface="Press Start 2P"/>
                <a:cs typeface="Press Start 2P"/>
              </a:defRPr>
            </a:lvl2pPr>
            <a:lvl3pPr algn="l">
              <a:defRPr sz="7200" b="0">
                <a:solidFill>
                  <a:srgbClr val="9AFFD2"/>
                </a:solidFill>
                <a:latin typeface="Press Start 2P"/>
                <a:ea typeface="Press Start 2P"/>
                <a:cs typeface="Press Start 2P"/>
              </a:defRPr>
            </a:lvl3pPr>
            <a:lvl4pPr algn="l">
              <a:defRPr sz="7200" b="0">
                <a:solidFill>
                  <a:srgbClr val="9AFFD2"/>
                </a:solidFill>
                <a:latin typeface="Press Start 2P"/>
                <a:ea typeface="Press Start 2P"/>
                <a:cs typeface="Press Start 2P"/>
              </a:defRPr>
            </a:lvl4pPr>
            <a:lvl5pPr algn="l">
              <a:defRPr sz="7200" b="0">
                <a:solidFill>
                  <a:srgbClr val="9AFFD2"/>
                </a:solidFill>
                <a:latin typeface="Press Start 2P"/>
                <a:ea typeface="Press Start 2P"/>
                <a:cs typeface="Press Start 2P"/>
              </a:defRPr>
            </a:lvl5pPr>
            <a:lvl6pPr algn="l">
              <a:defRPr sz="7200" b="0">
                <a:solidFill>
                  <a:srgbClr val="9AFFD2"/>
                </a:solidFill>
                <a:latin typeface="Press Start 2P"/>
                <a:ea typeface="Press Start 2P"/>
                <a:cs typeface="Press Start 2P"/>
              </a:defRPr>
            </a:lvl6pPr>
            <a:lvl7pPr algn="l">
              <a:defRPr sz="7200" b="0">
                <a:solidFill>
                  <a:srgbClr val="9AFFD2"/>
                </a:solidFill>
                <a:latin typeface="Press Start 2P"/>
                <a:ea typeface="Press Start 2P"/>
                <a:cs typeface="Press Start 2P"/>
              </a:defRPr>
            </a:lvl7pPr>
            <a:lvl8pPr algn="l">
              <a:defRPr sz="7200" b="0">
                <a:solidFill>
                  <a:srgbClr val="9AFFD2"/>
                </a:solidFill>
                <a:latin typeface="Press Start 2P"/>
                <a:ea typeface="Press Start 2P"/>
                <a:cs typeface="Press Start 2P"/>
              </a:defRPr>
            </a:lvl8pPr>
            <a:lvl9pPr algn="l">
              <a:defRPr sz="7200" b="0">
                <a:solidFill>
                  <a:srgbClr val="9AFFD2"/>
                </a:solidFill>
                <a:latin typeface="Press Start 2P"/>
                <a:ea typeface="Press Start 2P"/>
                <a:cs typeface="Press Start 2P"/>
              </a:defRPr>
            </a:lvl9pPr>
          </a:lstStyle>
          <a:p xmlns:a="http://schemas.openxmlformats.org/drawingml/2006/main">
            <a:pPr algn="l">
              <a:defRPr sz="7200" b="0">
                <a:solidFill>
                  <a:srgbClr val="9AFFD2"/>
                </a:solidFill>
                <a:latin typeface="Press Start 2P"/>
                <a:ea typeface="Press Start 2P"/>
                <a:cs typeface="Press Start 2P"/>
              </a:defRPr>
            </a:pPr>
            <a:r>
              <a:rPr sz="7200" b="0">
                <a:solidFill>
                  <a:srgbClr val="9AFFD2"/>
                </a:solidFill>
                <a:latin typeface="Press Start 2P"/>
                <a:ea typeface="Press Start 2P"/>
                <a:cs typeface="Press Start 2P"/>
              </a:rPr>
              <a:t>60K</a:t>
            </a:r>
          </a:p>
        </p:txBody>
      </p:sp>
      <p:sp>
        <p:nvSpPr>
          <p:cNvPr id="12" name="Monthly views unit">
            <a:extLst xmlns:a="http://schemas.openxmlformats.org/drawingml/2006/main">
              <a:ext uri="{FF2B5EF4-FFF2-40B4-BE49-F238E27FC236}">
                <a16:creationId xmlns:a16="http://schemas.microsoft.com/office/drawing/2014/main" id="{10047F76-610B-4969-8D65-E481ADF6B6CD}"/>
              </a:ext>
            </a:extLst>
          </p:cNvPr>
          <p:cNvSpPr>
            <a:spLocks xmlns:a="http://schemas.openxmlformats.org/drawingml/2006/main" noGrp="1"/>
          </p:cNvSpPr>
          <p:nvPr/>
        </p:nvSpPr>
        <p:spPr>
          <a:xfrm xmlns:a="http://schemas.openxmlformats.org/drawingml/2006/main">
            <a:off x="9525000" y="36766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Open Sans"/>
                <a:ea typeface="Open Sans"/>
                <a:cs typeface="Open Sans"/>
              </a:defRPr>
            </a:defPPr>
            <a:lvl1pPr algn="l">
              <a:defRPr sz="3300" b="1">
                <a:solidFill>
                  <a:srgbClr val="FFFFFF"/>
                </a:solidFill>
                <a:latin typeface="Open Sans"/>
                <a:ea typeface="Open Sans"/>
                <a:cs typeface="Open Sans"/>
              </a:defRPr>
            </a:lvl1pPr>
            <a:lvl2pPr algn="l">
              <a:defRPr sz="3300" b="1">
                <a:solidFill>
                  <a:srgbClr val="FFFFFF"/>
                </a:solidFill>
                <a:latin typeface="Open Sans"/>
                <a:ea typeface="Open Sans"/>
                <a:cs typeface="Open Sans"/>
              </a:defRPr>
            </a:lvl2pPr>
            <a:lvl3pPr algn="l">
              <a:defRPr sz="3300" b="1">
                <a:solidFill>
                  <a:srgbClr val="FFFFFF"/>
                </a:solidFill>
                <a:latin typeface="Open Sans"/>
                <a:ea typeface="Open Sans"/>
                <a:cs typeface="Open Sans"/>
              </a:defRPr>
            </a:lvl3pPr>
            <a:lvl4pPr algn="l">
              <a:defRPr sz="3300" b="1">
                <a:solidFill>
                  <a:srgbClr val="FFFFFF"/>
                </a:solidFill>
                <a:latin typeface="Open Sans"/>
                <a:ea typeface="Open Sans"/>
                <a:cs typeface="Open Sans"/>
              </a:defRPr>
            </a:lvl4pPr>
            <a:lvl5pPr algn="l">
              <a:defRPr sz="3300" b="1">
                <a:solidFill>
                  <a:srgbClr val="FFFFFF"/>
                </a:solidFill>
                <a:latin typeface="Open Sans"/>
                <a:ea typeface="Open Sans"/>
                <a:cs typeface="Open Sans"/>
              </a:defRPr>
            </a:lvl5pPr>
            <a:lvl6pPr algn="l">
              <a:defRPr sz="3300" b="1">
                <a:solidFill>
                  <a:srgbClr val="FFFFFF"/>
                </a:solidFill>
                <a:latin typeface="Open Sans"/>
                <a:ea typeface="Open Sans"/>
                <a:cs typeface="Open Sans"/>
              </a:defRPr>
            </a:lvl6pPr>
            <a:lvl7pPr algn="l">
              <a:defRPr sz="3300" b="1">
                <a:solidFill>
                  <a:srgbClr val="FFFFFF"/>
                </a:solidFill>
                <a:latin typeface="Open Sans"/>
                <a:ea typeface="Open Sans"/>
                <a:cs typeface="Open Sans"/>
              </a:defRPr>
            </a:lvl7pPr>
            <a:lvl8pPr algn="l">
              <a:defRPr sz="3300" b="1">
                <a:solidFill>
                  <a:srgbClr val="FFFFFF"/>
                </a:solidFill>
                <a:latin typeface="Open Sans"/>
                <a:ea typeface="Open Sans"/>
                <a:cs typeface="Open Sans"/>
              </a:defRPr>
            </a:lvl8pPr>
            <a:lvl9pPr algn="l">
              <a:defRPr sz="3300" b="1">
                <a:solidFill>
                  <a:srgbClr val="FFFFFF"/>
                </a:solidFill>
                <a:latin typeface="Open Sans"/>
                <a:ea typeface="Open Sans"/>
                <a:cs typeface="Open Sans"/>
              </a:defRPr>
            </a:lvl9pPr>
          </a:lstStyle>
          <a:p xmlns:a="http://schemas.openxmlformats.org/drawingml/2006/main">
            <a:pPr algn="l">
              <a:defRPr sz="3300" b="1">
                <a:solidFill>
                  <a:srgbClr val="FFFFFF"/>
                </a:solidFill>
                <a:latin typeface="Open Sans"/>
                <a:ea typeface="Open Sans"/>
                <a:cs typeface="Open Sans"/>
              </a:defRPr>
            </a:pPr>
            <a:r>
              <a:rPr sz="3300" b="1">
                <a:solidFill>
                  <a:srgbClr val="FFFFFF"/>
                </a:solidFill>
                <a:latin typeface="Open Sans"/>
                <a:ea typeface="Open Sans"/>
                <a:cs typeface="Open Sans"/>
              </a:rPr>
              <a:t>ads shown / month</a:t>
            </a:r>
          </a:p>
        </p:txBody>
      </p:sp>
      <p:sp>
        <p:nvSpPr>
          <p:cNvPr id="13" name="Audience assumptions">
            <a:extLst xmlns:a="http://schemas.openxmlformats.org/drawingml/2006/main">
              <a:ext uri="{FF2B5EF4-FFF2-40B4-BE49-F238E27FC236}">
                <a16:creationId xmlns:a16="http://schemas.microsoft.com/office/drawing/2014/main" id="{C69144FD-D83A-492F-B3A7-FC674F9377F2}"/>
              </a:ext>
            </a:extLst>
          </p:cNvPr>
          <p:cNvSpPr>
            <a:spLocks xmlns:a="http://schemas.openxmlformats.org/drawingml/2006/main" noGrp="1"/>
          </p:cNvSpPr>
          <p:nvPr/>
        </p:nvSpPr>
        <p:spPr>
          <a:xfrm xmlns:a="http://schemas.openxmlformats.org/drawingml/2006/main">
            <a:off x="5905500" y="4743450"/>
            <a:ext cx="1162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00" b="0">
                <a:solidFill>
                  <a:srgbClr val="FFFFFF"/>
                </a:solidFill>
                <a:latin typeface="Open Sans"/>
                <a:ea typeface="Open Sans"/>
                <a:cs typeface="Open Sans"/>
              </a:defRPr>
            </a:defPPr>
            <a:lvl1pPr algn="l">
              <a:defRPr sz="2500" b="0">
                <a:solidFill>
                  <a:srgbClr val="FFFFFF"/>
                </a:solidFill>
                <a:latin typeface="Open Sans"/>
                <a:ea typeface="Open Sans"/>
                <a:cs typeface="Open Sans"/>
              </a:defRPr>
            </a:lvl1pPr>
            <a:lvl2pPr algn="l">
              <a:defRPr sz="2500" b="0">
                <a:solidFill>
                  <a:srgbClr val="FFFFFF"/>
                </a:solidFill>
                <a:latin typeface="Open Sans"/>
                <a:ea typeface="Open Sans"/>
                <a:cs typeface="Open Sans"/>
              </a:defRPr>
            </a:lvl2pPr>
            <a:lvl3pPr algn="l">
              <a:defRPr sz="2500" b="0">
                <a:solidFill>
                  <a:srgbClr val="FFFFFF"/>
                </a:solidFill>
                <a:latin typeface="Open Sans"/>
                <a:ea typeface="Open Sans"/>
                <a:cs typeface="Open Sans"/>
              </a:defRPr>
            </a:lvl3pPr>
            <a:lvl4pPr algn="l">
              <a:defRPr sz="2500" b="0">
                <a:solidFill>
                  <a:srgbClr val="FFFFFF"/>
                </a:solidFill>
                <a:latin typeface="Open Sans"/>
                <a:ea typeface="Open Sans"/>
                <a:cs typeface="Open Sans"/>
              </a:defRPr>
            </a:lvl4pPr>
            <a:lvl5pPr algn="l">
              <a:defRPr sz="2500" b="0">
                <a:solidFill>
                  <a:srgbClr val="FFFFFF"/>
                </a:solidFill>
                <a:latin typeface="Open Sans"/>
                <a:ea typeface="Open Sans"/>
                <a:cs typeface="Open Sans"/>
              </a:defRPr>
            </a:lvl5pPr>
            <a:lvl6pPr algn="l">
              <a:defRPr sz="2500" b="0">
                <a:solidFill>
                  <a:srgbClr val="FFFFFF"/>
                </a:solidFill>
                <a:latin typeface="Open Sans"/>
                <a:ea typeface="Open Sans"/>
                <a:cs typeface="Open Sans"/>
              </a:defRPr>
            </a:lvl6pPr>
            <a:lvl7pPr algn="l">
              <a:defRPr sz="2500" b="0">
                <a:solidFill>
                  <a:srgbClr val="FFFFFF"/>
                </a:solidFill>
                <a:latin typeface="Open Sans"/>
                <a:ea typeface="Open Sans"/>
                <a:cs typeface="Open Sans"/>
              </a:defRPr>
            </a:lvl7pPr>
            <a:lvl8pPr algn="l">
              <a:defRPr sz="2500" b="0">
                <a:solidFill>
                  <a:srgbClr val="FFFFFF"/>
                </a:solidFill>
                <a:latin typeface="Open Sans"/>
                <a:ea typeface="Open Sans"/>
                <a:cs typeface="Open Sans"/>
              </a:defRPr>
            </a:lvl8pPr>
            <a:lvl9pPr algn="l">
              <a:defRPr sz="2500" b="0">
                <a:solidFill>
                  <a:srgbClr val="FFFFFF"/>
                </a:solidFill>
                <a:latin typeface="Open Sans"/>
                <a:ea typeface="Open Sans"/>
                <a:cs typeface="Open Sans"/>
              </a:defRPr>
            </a:lvl9pPr>
          </a:lstStyle>
          <a:p xmlns:a="http://schemas.openxmlformats.org/drawingml/2006/main">
            <a:pPr algn="l">
              <a:defRPr sz="2500" b="0">
                <a:solidFill>
                  <a:srgbClr val="FFFFFF"/>
                </a:solidFill>
                <a:latin typeface="Open Sans"/>
                <a:ea typeface="Open Sans"/>
                <a:cs typeface="Open Sans"/>
              </a:defRPr>
            </a:pPr>
            <a:r>
              <a:rPr sz="2500" b="0">
                <a:solidFill>
                  <a:srgbClr val="FFFFFF"/>
                </a:solidFill>
                <a:latin typeface="Open Sans"/>
                <a:ea typeface="Open Sans"/>
                <a:cs typeface="Open Sans"/>
              </a:rPr>
              <a:t>1K players/day × 2 ads each × 30 days</a:t>
            </a:r>
          </a:p>
        </p:txBody>
      </p:sp>
      <p:sp>
        <p:nvSpPr>
          <p:cNvPr id="14" name="Rate unit">
            <a:extLst xmlns:a="http://schemas.openxmlformats.org/drawingml/2006/main">
              <a:ext uri="{FF2B5EF4-FFF2-40B4-BE49-F238E27FC236}">
                <a16:creationId xmlns:a16="http://schemas.microsoft.com/office/drawing/2014/main" id="{73636622-FC3A-4AA1-8608-361E663E6993}"/>
              </a:ext>
            </a:extLst>
          </p:cNvPr>
          <p:cNvSpPr>
            <a:spLocks xmlns:a="http://schemas.openxmlformats.org/drawingml/2006/main" noGrp="1"/>
          </p:cNvSpPr>
          <p:nvPr/>
        </p:nvSpPr>
        <p:spPr>
          <a:xfrm xmlns:a="http://schemas.openxmlformats.org/drawingml/2006/main">
            <a:off x="5905500" y="5572125"/>
            <a:ext cx="1162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FFFFFF"/>
                </a:solidFill>
                <a:latin typeface="Open Sans"/>
                <a:ea typeface="Open Sans"/>
                <a:cs typeface="Open Sans"/>
              </a:defRPr>
            </a:defPPr>
            <a:lvl1pPr algn="l">
              <a:defRPr sz="2100" b="0">
                <a:solidFill>
                  <a:srgbClr val="FFFFFF"/>
                </a:solidFill>
                <a:latin typeface="Open Sans"/>
                <a:ea typeface="Open Sans"/>
                <a:cs typeface="Open Sans"/>
              </a:defRPr>
            </a:lvl1pPr>
            <a:lvl2pPr algn="l">
              <a:defRPr sz="2100" b="0">
                <a:solidFill>
                  <a:srgbClr val="FFFFFF"/>
                </a:solidFill>
                <a:latin typeface="Open Sans"/>
                <a:ea typeface="Open Sans"/>
                <a:cs typeface="Open Sans"/>
              </a:defRPr>
            </a:lvl2pPr>
            <a:lvl3pPr algn="l">
              <a:defRPr sz="2100" b="0">
                <a:solidFill>
                  <a:srgbClr val="FFFFFF"/>
                </a:solidFill>
                <a:latin typeface="Open Sans"/>
                <a:ea typeface="Open Sans"/>
                <a:cs typeface="Open Sans"/>
              </a:defRPr>
            </a:lvl3pPr>
            <a:lvl4pPr algn="l">
              <a:defRPr sz="2100" b="0">
                <a:solidFill>
                  <a:srgbClr val="FFFFFF"/>
                </a:solidFill>
                <a:latin typeface="Open Sans"/>
                <a:ea typeface="Open Sans"/>
                <a:cs typeface="Open Sans"/>
              </a:defRPr>
            </a:lvl4pPr>
            <a:lvl5pPr algn="l">
              <a:defRPr sz="2100" b="0">
                <a:solidFill>
                  <a:srgbClr val="FFFFFF"/>
                </a:solidFill>
                <a:latin typeface="Open Sans"/>
                <a:ea typeface="Open Sans"/>
                <a:cs typeface="Open Sans"/>
              </a:defRPr>
            </a:lvl5pPr>
            <a:lvl6pPr algn="l">
              <a:defRPr sz="2100" b="0">
                <a:solidFill>
                  <a:srgbClr val="FFFFFF"/>
                </a:solidFill>
                <a:latin typeface="Open Sans"/>
                <a:ea typeface="Open Sans"/>
                <a:cs typeface="Open Sans"/>
              </a:defRPr>
            </a:lvl6pPr>
            <a:lvl7pPr algn="l">
              <a:defRPr sz="2100" b="0">
                <a:solidFill>
                  <a:srgbClr val="FFFFFF"/>
                </a:solidFill>
                <a:latin typeface="Open Sans"/>
                <a:ea typeface="Open Sans"/>
                <a:cs typeface="Open Sans"/>
              </a:defRPr>
            </a:lvl7pPr>
            <a:lvl8pPr algn="l">
              <a:defRPr sz="2100" b="0">
                <a:solidFill>
                  <a:srgbClr val="FFFFFF"/>
                </a:solidFill>
                <a:latin typeface="Open Sans"/>
                <a:ea typeface="Open Sans"/>
                <a:cs typeface="Open Sans"/>
              </a:defRPr>
            </a:lvl8pPr>
            <a:lvl9pPr algn="l">
              <a:defRPr sz="2100" b="0">
                <a:solidFill>
                  <a:srgbClr val="FFFFFF"/>
                </a:solidFill>
                <a:latin typeface="Open Sans"/>
                <a:ea typeface="Open Sans"/>
                <a:cs typeface="Open Sans"/>
              </a:defRPr>
            </a:lvl9pPr>
          </a:lstStyle>
          <a:p xmlns:a="http://schemas.openxmlformats.org/drawingml/2006/main">
            <a:pPr algn="l">
              <a:defRPr sz="2100" b="0">
                <a:solidFill>
                  <a:srgbClr val="FFFFFF"/>
                </a:solidFill>
                <a:latin typeface="Open Sans"/>
                <a:ea typeface="Open Sans"/>
                <a:cs typeface="Open Sans"/>
              </a:defRPr>
            </a:pPr>
            <a:r>
              <a:rPr sz="2100" b="0">
                <a:solidFill>
                  <a:srgbClr val="FFFFFF"/>
                </a:solidFill>
                <a:latin typeface="Open Sans"/>
                <a:ea typeface="Open Sans"/>
                <a:cs typeface="Open Sans"/>
              </a:rPr>
              <a:t>ASSUMED EARNINGS / 1K ADS</a:t>
            </a:r>
          </a:p>
        </p:txBody>
      </p:sp>
      <p:graphicFrame>
        <p:nvGraphicFramePr>
          <p:cNvPr id="15" name="">
            <a:extLst xmlns:a="http://schemas.openxmlformats.org/drawingml/2006/main">
              <a:ext uri="{FF2B5EF4-FFF2-40B4-BE49-F238E27FC236}">
                <a16:creationId xmlns:a16="http://schemas.microsoft.com/office/drawing/2014/main" id="{39BF7A06-4516-4F5F-9FB3-F81AC8016079}"/>
              </a:ext>
            </a:extLst>
          </p:cNvPr>
          <p:cNvGraphicFramePr/>
          <p:nvPr/>
        </p:nvGraphicFramePr>
        <p:xfrm>
          <a:off xmlns:a="http://schemas.openxmlformats.org/drawingml/2006/main" x="5905500" y="6115050"/>
          <a:ext xmlns:a="http://schemas.openxmlformats.org/drawingml/2006/main" cx="11620500" cy="1952625"/>
        </p:xfrm>
        <a:graphic xmlns:a="http://schemas.openxmlformats.org/drawingml/2006/main">
          <a:graphicData uri="http://schemas.openxmlformats.org/drawingml/2006/table">
            <a:tbl>
              <a:tblPr/>
              <a:tblGrid>
                <a:gridCol w="3867150"/>
                <a:gridCol w="3876675"/>
                <a:gridCol w="3876675"/>
              </a:tblGrid>
              <a:tr h="976313">
                <a:tc>
                  <a:txBody>
                    <a:bodyPr wrap="none" lIns="0" tIns="0" rIns="0" bIns="0"/>
                    <a:lstStyle/>
                    <a:p>
                      <a:pPr algn="l"/>
                      <a:r>
                        <a:rPr sz="3150">
                          <a:solidFill>
                            <a:srgbClr val="FFFFFF"/>
                          </a:solidFill>
                          <a:latin typeface="Open Sans"/>
                          <a:ea typeface="Open Sans"/>
                          <a:cs typeface="Open Sans"/>
                        </a:rPr>
                        <a:t>$1</a:t>
                      </a:r>
                    </a:p>
                  </a:txBody>
                  <a:tcPr marL="91440" marR="91440" marT="45720" marB="45720" anchor="ctr">
                    <a:lnL w="0">
                      <a:noFill/>
                    </a:lnL>
                    <a:lnR w="0">
                      <a:noFill/>
                    </a:lnR>
                    <a:lnT w="0">
                      <a:noFill/>
                    </a:lnT>
                    <a:lnB w="0">
                      <a:noFill/>
                    </a:lnB>
                    <a:solidFill>
                      <a:srgbClr val="1A022B"/>
                    </a:solidFill>
                  </a:tcPr>
                </a:tc>
                <a:tc>
                  <a:txBody>
                    <a:bodyPr wrap="none" lIns="0" tIns="0" rIns="0" bIns="0"/>
                    <a:lstStyle/>
                    <a:p>
                      <a:pPr algn="l"/>
                      <a:r>
                        <a:rPr sz="3150">
                          <a:solidFill>
                            <a:srgbClr val="FFFFFF"/>
                          </a:solidFill>
                          <a:latin typeface="Open Sans"/>
                          <a:ea typeface="Open Sans"/>
                          <a:cs typeface="Open Sans"/>
                        </a:rPr>
                        <a:t>$5</a:t>
                      </a:r>
                    </a:p>
                  </a:txBody>
                  <a:tcPr marL="91440" marR="91440" marT="45720" marB="45720" anchor="ctr">
                    <a:lnR w="0">
                      <a:noFill/>
                    </a:lnR>
                    <a:lnT w="0">
                      <a:noFill/>
                    </a:lnT>
                    <a:lnB w="0">
                      <a:noFill/>
                    </a:lnB>
                    <a:solidFill>
                      <a:srgbClr val="1A022B"/>
                    </a:solidFill>
                  </a:tcPr>
                </a:tc>
                <a:tc>
                  <a:txBody>
                    <a:bodyPr wrap="none" lIns="0" tIns="0" rIns="0" bIns="0"/>
                    <a:lstStyle/>
                    <a:p>
                      <a:pPr algn="l"/>
                      <a:r>
                        <a:rPr sz="3150">
                          <a:solidFill>
                            <a:srgbClr val="FFFFFF"/>
                          </a:solidFill>
                          <a:latin typeface="Open Sans"/>
                          <a:ea typeface="Open Sans"/>
                          <a:cs typeface="Open Sans"/>
                        </a:rPr>
                        <a:t>$10</a:t>
                      </a:r>
                    </a:p>
                  </a:txBody>
                  <a:tcPr marL="91440" marR="91440" marT="45720" marB="45720" anchor="ctr">
                    <a:lnR w="0">
                      <a:noFill/>
                    </a:lnR>
                    <a:lnT w="0">
                      <a:noFill/>
                    </a:lnT>
                    <a:lnB w="0">
                      <a:noFill/>
                    </a:lnB>
                    <a:solidFill>
                      <a:srgbClr val="1A022B"/>
                    </a:solidFill>
                  </a:tcPr>
                </a:tc>
              </a:tr>
              <a:tr h="976313">
                <a:tc>
                  <a:txBody>
                    <a:bodyPr wrap="none" lIns="0" tIns="0" rIns="0" bIns="0"/>
                    <a:lstStyle/>
                    <a:p>
                      <a:pPr algn="l"/>
                      <a:r>
                        <a:rPr sz="4500">
                          <a:solidFill>
                            <a:srgbClr val="9AFFD2"/>
                          </a:solidFill>
                          <a:latin typeface="Press Start 2P"/>
                          <a:ea typeface="Press Start 2P"/>
                          <a:cs typeface="Press Start 2P"/>
                        </a:rPr>
                        <a:t>$60</a:t>
                      </a:r>
                    </a:p>
                  </a:txBody>
                  <a:tcPr marL="91440" marR="91440" marT="45720" marB="45720" anchor="ctr">
                    <a:lnL w="0">
                      <a:noFill/>
                    </a:lnL>
                    <a:lnR w="0">
                      <a:noFill/>
                    </a:lnR>
                    <a:lnB w="0">
                      <a:noFill/>
                    </a:lnB>
                    <a:solidFill>
                      <a:srgbClr val="1A022B"/>
                    </a:solidFill>
                  </a:tcPr>
                </a:tc>
                <a:tc>
                  <a:txBody>
                    <a:bodyPr wrap="none" lIns="0" tIns="0" rIns="0" bIns="0"/>
                    <a:lstStyle/>
                    <a:p>
                      <a:pPr algn="l"/>
                      <a:r>
                        <a:rPr sz="4500">
                          <a:solidFill>
                            <a:srgbClr val="9AFFD2"/>
                          </a:solidFill>
                          <a:latin typeface="Press Start 2P"/>
                          <a:ea typeface="Press Start 2P"/>
                          <a:cs typeface="Press Start 2P"/>
                        </a:rPr>
                        <a:t>$300</a:t>
                      </a:r>
                    </a:p>
                  </a:txBody>
                  <a:tcPr marL="91440" marR="91440" marT="45720" marB="45720" anchor="ctr">
                    <a:lnR w="0">
                      <a:noFill/>
                    </a:lnR>
                    <a:lnB w="0">
                      <a:noFill/>
                    </a:lnB>
                    <a:solidFill>
                      <a:srgbClr val="1A022B"/>
                    </a:solidFill>
                  </a:tcPr>
                </a:tc>
                <a:tc>
                  <a:txBody>
                    <a:bodyPr wrap="none" lIns="0" tIns="0" rIns="0" bIns="0"/>
                    <a:lstStyle/>
                    <a:p>
                      <a:pPr algn="l"/>
                      <a:r>
                        <a:rPr sz="4500">
                          <a:solidFill>
                            <a:srgbClr val="9AFFD2"/>
                          </a:solidFill>
                          <a:latin typeface="Press Start 2P"/>
                          <a:ea typeface="Press Start 2P"/>
                          <a:cs typeface="Press Start 2P"/>
                        </a:rPr>
                        <a:t>$600</a:t>
                      </a:r>
                    </a:p>
                  </a:txBody>
                  <a:tcPr marL="91440" marR="91440" marT="45720" marB="45720" anchor="ctr">
                    <a:lnR w="0">
                      <a:noFill/>
                    </a:lnR>
                    <a:lnB w="0">
                      <a:noFill/>
                    </a:lnB>
                    <a:solidFill>
                      <a:srgbClr val="1A022B"/>
                    </a:solidFill>
                  </a:tcPr>
                </a:tc>
              </a:tr>
            </a:tbl>
          </a:graphicData>
        </a:graphic>
      </p:graphicFrame>
      <p:sp>
        <p:nvSpPr>
          <p:cNvPr id="16" name="Ad output unit">
            <a:extLst xmlns:a="http://schemas.openxmlformats.org/drawingml/2006/main">
              <a:ext uri="{FF2B5EF4-FFF2-40B4-BE49-F238E27FC236}">
                <a16:creationId xmlns:a16="http://schemas.microsoft.com/office/drawing/2014/main" id="{849D4087-5E49-48BE-BC9A-3F36AD1A3EDC}"/>
              </a:ext>
            </a:extLst>
          </p:cNvPr>
          <p:cNvSpPr>
            <a:spLocks xmlns:a="http://schemas.openxmlformats.org/drawingml/2006/main" noGrp="1"/>
          </p:cNvSpPr>
          <p:nvPr/>
        </p:nvSpPr>
        <p:spPr>
          <a:xfrm xmlns:a="http://schemas.openxmlformats.org/drawingml/2006/main">
            <a:off x="5905500" y="8143875"/>
            <a:ext cx="1162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FFFFFF"/>
                </a:solidFill>
                <a:latin typeface="Open Sans"/>
                <a:ea typeface="Open Sans"/>
                <a:cs typeface="Open Sans"/>
              </a:defRPr>
            </a:defPPr>
            <a:lvl1pPr algn="l">
              <a:defRPr sz="2325" b="1">
                <a:solidFill>
                  <a:srgbClr val="FFFFFF"/>
                </a:solidFill>
                <a:latin typeface="Open Sans"/>
                <a:ea typeface="Open Sans"/>
                <a:cs typeface="Open Sans"/>
              </a:defRPr>
            </a:lvl1pPr>
            <a:lvl2pPr algn="l">
              <a:defRPr sz="2325" b="1">
                <a:solidFill>
                  <a:srgbClr val="FFFFFF"/>
                </a:solidFill>
                <a:latin typeface="Open Sans"/>
                <a:ea typeface="Open Sans"/>
                <a:cs typeface="Open Sans"/>
              </a:defRPr>
            </a:lvl2pPr>
            <a:lvl3pPr algn="l">
              <a:defRPr sz="2325" b="1">
                <a:solidFill>
                  <a:srgbClr val="FFFFFF"/>
                </a:solidFill>
                <a:latin typeface="Open Sans"/>
                <a:ea typeface="Open Sans"/>
                <a:cs typeface="Open Sans"/>
              </a:defRPr>
            </a:lvl3pPr>
            <a:lvl4pPr algn="l">
              <a:defRPr sz="2325" b="1">
                <a:solidFill>
                  <a:srgbClr val="FFFFFF"/>
                </a:solidFill>
                <a:latin typeface="Open Sans"/>
                <a:ea typeface="Open Sans"/>
                <a:cs typeface="Open Sans"/>
              </a:defRPr>
            </a:lvl4pPr>
            <a:lvl5pPr algn="l">
              <a:defRPr sz="2325" b="1">
                <a:solidFill>
                  <a:srgbClr val="FFFFFF"/>
                </a:solidFill>
                <a:latin typeface="Open Sans"/>
                <a:ea typeface="Open Sans"/>
                <a:cs typeface="Open Sans"/>
              </a:defRPr>
            </a:lvl5pPr>
            <a:lvl6pPr algn="l">
              <a:defRPr sz="2325" b="1">
                <a:solidFill>
                  <a:srgbClr val="FFFFFF"/>
                </a:solidFill>
                <a:latin typeface="Open Sans"/>
                <a:ea typeface="Open Sans"/>
                <a:cs typeface="Open Sans"/>
              </a:defRPr>
            </a:lvl6pPr>
            <a:lvl7pPr algn="l">
              <a:defRPr sz="2325" b="1">
                <a:solidFill>
                  <a:srgbClr val="FFFFFF"/>
                </a:solidFill>
                <a:latin typeface="Open Sans"/>
                <a:ea typeface="Open Sans"/>
                <a:cs typeface="Open Sans"/>
              </a:defRPr>
            </a:lvl7pPr>
            <a:lvl8pPr algn="l">
              <a:defRPr sz="2325" b="1">
                <a:solidFill>
                  <a:srgbClr val="FFFFFF"/>
                </a:solidFill>
                <a:latin typeface="Open Sans"/>
                <a:ea typeface="Open Sans"/>
                <a:cs typeface="Open Sans"/>
              </a:defRPr>
            </a:lvl8pPr>
            <a:lvl9pPr algn="l">
              <a:defRPr sz="2325" b="1">
                <a:solidFill>
                  <a:srgbClr val="FFFFFF"/>
                </a:solidFill>
                <a:latin typeface="Open Sans"/>
                <a:ea typeface="Open Sans"/>
                <a:cs typeface="Open Sans"/>
              </a:defRPr>
            </a:lvl9pPr>
          </a:lstStyle>
          <a:p xmlns:a="http://schemas.openxmlformats.org/drawingml/2006/main">
            <a:pPr algn="l">
              <a:defRPr sz="2325" b="1">
                <a:solidFill>
                  <a:srgbClr val="FFFFFF"/>
                </a:solidFill>
                <a:latin typeface="Open Sans"/>
                <a:ea typeface="Open Sans"/>
                <a:cs typeface="Open Sans"/>
              </a:defRPr>
            </a:pPr>
            <a:r>
              <a:rPr sz="2325" b="1">
                <a:solidFill>
                  <a:srgbClr val="FFFFFF"/>
                </a:solidFill>
                <a:latin typeface="Open Sans"/>
                <a:ea typeface="Open Sans"/>
                <a:cs typeface="Open Sans"/>
              </a:rPr>
              <a:t>MONTHLY AD REVENUE</a:t>
            </a:r>
          </a:p>
        </p:txBody>
      </p:sp>
      <p:sp>
        <p:nvSpPr>
          <p:cNvPr id="17" name="Ad exclusions">
            <a:extLst xmlns:a="http://schemas.openxmlformats.org/drawingml/2006/main">
              <a:ext uri="{FF2B5EF4-FFF2-40B4-BE49-F238E27FC236}">
                <a16:creationId xmlns:a16="http://schemas.microsoft.com/office/drawing/2014/main" id="{5D6C70F9-C201-4772-B2EA-B09C7EFF2010}"/>
              </a:ext>
            </a:extLst>
          </p:cNvPr>
          <p:cNvSpPr>
            <a:spLocks xmlns:a="http://schemas.openxmlformats.org/drawingml/2006/main" noGrp="1"/>
          </p:cNvSpPr>
          <p:nvPr/>
        </p:nvSpPr>
        <p:spPr>
          <a:xfrm xmlns:a="http://schemas.openxmlformats.org/drawingml/2006/main">
            <a:off x="5905500" y="8896350"/>
            <a:ext cx="1162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00" b="0">
                <a:solidFill>
                  <a:srgbClr val="FFFFFF"/>
                </a:solidFill>
                <a:latin typeface="Open Sans"/>
                <a:ea typeface="Open Sans"/>
                <a:cs typeface="Open Sans"/>
              </a:defRPr>
            </a:defPPr>
            <a:lvl1pPr algn="l">
              <a:defRPr sz="1900" b="0">
                <a:solidFill>
                  <a:srgbClr val="FFFFFF"/>
                </a:solidFill>
                <a:latin typeface="Open Sans"/>
                <a:ea typeface="Open Sans"/>
                <a:cs typeface="Open Sans"/>
              </a:defRPr>
            </a:lvl1pPr>
            <a:lvl2pPr algn="l">
              <a:defRPr sz="1900" b="0">
                <a:solidFill>
                  <a:srgbClr val="FFFFFF"/>
                </a:solidFill>
                <a:latin typeface="Open Sans"/>
                <a:ea typeface="Open Sans"/>
                <a:cs typeface="Open Sans"/>
              </a:defRPr>
            </a:lvl2pPr>
            <a:lvl3pPr algn="l">
              <a:defRPr sz="1900" b="0">
                <a:solidFill>
                  <a:srgbClr val="FFFFFF"/>
                </a:solidFill>
                <a:latin typeface="Open Sans"/>
                <a:ea typeface="Open Sans"/>
                <a:cs typeface="Open Sans"/>
              </a:defRPr>
            </a:lvl3pPr>
            <a:lvl4pPr algn="l">
              <a:defRPr sz="1900" b="0">
                <a:solidFill>
                  <a:srgbClr val="FFFFFF"/>
                </a:solidFill>
                <a:latin typeface="Open Sans"/>
                <a:ea typeface="Open Sans"/>
                <a:cs typeface="Open Sans"/>
              </a:defRPr>
            </a:lvl4pPr>
            <a:lvl5pPr algn="l">
              <a:defRPr sz="1900" b="0">
                <a:solidFill>
                  <a:srgbClr val="FFFFFF"/>
                </a:solidFill>
                <a:latin typeface="Open Sans"/>
                <a:ea typeface="Open Sans"/>
                <a:cs typeface="Open Sans"/>
              </a:defRPr>
            </a:lvl5pPr>
            <a:lvl6pPr algn="l">
              <a:defRPr sz="1900" b="0">
                <a:solidFill>
                  <a:srgbClr val="FFFFFF"/>
                </a:solidFill>
                <a:latin typeface="Open Sans"/>
                <a:ea typeface="Open Sans"/>
                <a:cs typeface="Open Sans"/>
              </a:defRPr>
            </a:lvl6pPr>
            <a:lvl7pPr algn="l">
              <a:defRPr sz="1900" b="0">
                <a:solidFill>
                  <a:srgbClr val="FFFFFF"/>
                </a:solidFill>
                <a:latin typeface="Open Sans"/>
                <a:ea typeface="Open Sans"/>
                <a:cs typeface="Open Sans"/>
              </a:defRPr>
            </a:lvl7pPr>
            <a:lvl8pPr algn="l">
              <a:defRPr sz="1900" b="0">
                <a:solidFill>
                  <a:srgbClr val="FFFFFF"/>
                </a:solidFill>
                <a:latin typeface="Open Sans"/>
                <a:ea typeface="Open Sans"/>
                <a:cs typeface="Open Sans"/>
              </a:defRPr>
            </a:lvl8pPr>
            <a:lvl9pPr algn="l">
              <a:defRPr sz="1900" b="0">
                <a:solidFill>
                  <a:srgbClr val="FFFFFF"/>
                </a:solidFill>
                <a:latin typeface="Open Sans"/>
                <a:ea typeface="Open Sans"/>
                <a:cs typeface="Open Sans"/>
              </a:defRPr>
            </a:lvl9pPr>
          </a:lstStyle>
          <a:p xmlns:a="http://schemas.openxmlformats.org/drawingml/2006/main">
            <a:pPr algn="l">
              <a:defRPr sz="1900" b="0">
                <a:solidFill>
                  <a:srgbClr val="FFFFFF"/>
                </a:solidFill>
                <a:latin typeface="Open Sans"/>
                <a:ea typeface="Open Sans"/>
                <a:cs typeface="Open Sans"/>
              </a:defRPr>
            </a:pPr>
            <a:r>
              <a:rPr sz="1900" b="0">
                <a:solidFill>
                  <a:srgbClr val="FFFFFF"/>
                </a:solidFill>
                <a:latin typeface="Open Sans"/>
                <a:ea typeface="Open Sans"/>
                <a:cs typeface="Open Sans"/>
              </a:rPr>
              <a:t>Assumed rates, not game data. Before costs/tax.</a:t>
            </a:r>
          </a:p>
        </p:txBody>
      </p:sp>
    </p:spTree>
    <p:extLst>
      <p:ext uri="{BB962C8B-B14F-4D97-AF65-F5344CB8AC3E}">
        <p14:creationId xmlns:p14="http://schemas.microsoft.com/office/powerpoint/2010/main" val="1076104508"/>
      </p:ext>
    </p:extLst>
  </p:cSld>
</p:sld>
</file>

<file path=ppt/slides/slide14.xml><?xml version="1.0" encoding="utf-8"?>
<p:sld xmlns:p="http://schemas.openxmlformats.org/presentationml/2006/main">
  <p:cSld>
    <p:bg>
      <p:bgPr>
        <a:solidFill xmlns:a="http://schemas.openxmlformats.org/drawingml/2006/main">
          <a:srgbClr val="1A022B"/>
        </a:solidFill>
      </p:bgPr>
    </p:bg>
    <p:spTree>
      <p:nvGrpSpPr>
        <p:cNvPr id="1" name=""/>
        <p:cNvGrpSpPr/>
        <p:nvPr/>
      </p:nvGrpSpPr>
      <p:grpSpPr>
        <a:xfrm xmlns:a="http://schemas.openxmlformats.org/drawingml/2006/main"/>
      </p:grpSpPr>
      <p:sp xmlns:a="http://schemas.openxmlformats.org/drawingml/2006/main" xmlns:r="http://schemas.openxmlformats.org/officeDocument/2006/relationships">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3" name="Freeform 3"/>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4" name="Freeform 4"/>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r:embed="bg_grass"/>
            <a:stretch>
              <a:fillRect/>
            </a:stretch>
          </a:blipFill>
        </p:spPr>
        <p:txBody>
          <a:bodyPr/>
          <a:lstStyle/>
          <a:p>
            <a:endParaRPr lang="en-US"/>
          </a:p>
        </p:txBody>
      </p:sp>
      <p:sp xmlns:a="http://schemas.openxmlformats.org/drawingml/2006/main" xmlns:r="http://schemas.openxmlformats.org/officeDocument/2006/relationships">
        <p:nvSpPr>
          <p:cNvPr id="5" name="Freeform 5"/>
          <p:cNvSpPr/>
          <p:nvPr/>
        </p:nvSpPr>
        <p:spPr>
          <a:xfrm>
            <a:off x="-553324" y="536978"/>
            <a:ext cx="4381715" cy="780742"/>
          </a:xfrm>
          <a:custGeom>
            <a:avLst/>
            <a:gdLst/>
            <a:ahLst/>
            <a:cxnLst/>
            <a:rect l="l" t="t" r="r" b="b"/>
            <a:pathLst>
              <a:path w="4381715" h="780742">
                <a:moveTo>
                  <a:pt x="0" y="0"/>
                </a:moveTo>
                <a:lnTo>
                  <a:pt x="4381715" y="0"/>
                </a:lnTo>
                <a:lnTo>
                  <a:pt x="4381715" y="780742"/>
                </a:lnTo>
                <a:lnTo>
                  <a:pt x="0" y="780742"/>
                </a:lnTo>
                <a:lnTo>
                  <a:pt x="0" y="0"/>
                </a:lnTo>
                <a:close/>
              </a:path>
            </a:pathLst>
          </a:custGeom>
          <a:blipFill>
            <a:blip r:embed="bg_clouds"/>
            <a:stretch>
              <a:fillRect/>
            </a:stretch>
          </a:blipFill>
        </p:spPr>
        <p:txBody>
          <a:bodyPr/>
          <a:lstStyle/>
          <a:p>
            <a:endParaRPr lang="en-US"/>
          </a:p>
        </p:txBody>
      </p:sp>
      <p:sp xmlns:a="http://schemas.openxmlformats.org/drawingml/2006/main" xmlns:r="http://schemas.openxmlformats.org/officeDocument/2006/relationships">
        <p:nvSpPr>
          <p:cNvPr id="6" name="Freeform 6"/>
          <p:cNvSpPr/>
          <p:nvPr/>
        </p:nvSpPr>
        <p:spPr>
          <a:xfrm flipH="1">
            <a:off x="14459609" y="536978"/>
            <a:ext cx="4381715" cy="780742"/>
          </a:xfrm>
          <a:custGeom>
            <a:avLst/>
            <a:gdLst/>
            <a:ahLst/>
            <a:cxnLst/>
            <a:rect l="l" t="t" r="r" b="b"/>
            <a:pathLst>
              <a:path w="4381715" h="780742">
                <a:moveTo>
                  <a:pt x="4381715" y="0"/>
                </a:moveTo>
                <a:lnTo>
                  <a:pt x="0" y="0"/>
                </a:lnTo>
                <a:lnTo>
                  <a:pt x="0" y="780742"/>
                </a:lnTo>
                <a:lnTo>
                  <a:pt x="4381715" y="780742"/>
                </a:lnTo>
                <a:lnTo>
                  <a:pt x="4381715" y="0"/>
                </a:lnTo>
                <a:close/>
              </a:path>
            </a:pathLst>
          </a:custGeom>
          <a:blipFill>
            <a:blip r:embed="bg_clouds"/>
            <a:stretch>
              <a:fillRect/>
            </a:stretch>
          </a:blipFill>
        </p:spPr>
        <p:txBody>
          <a:bodyPr/>
          <a:lstStyle/>
          <a:p>
            <a:endParaRPr lang="en-US"/>
          </a:p>
        </p:txBody>
      </p:sp>
      <p:sp>
        <p:nvSpPr>
          <p:cNvPr id="7" name="Slide title">
            <a:extLst xmlns:a="http://schemas.openxmlformats.org/drawingml/2006/main">
              <a:ext uri="{FF2B5EF4-FFF2-40B4-BE49-F238E27FC236}">
                <a16:creationId xmlns:a16="http://schemas.microsoft.com/office/drawing/2014/main" id="{A53FB60A-6D1B-4421-AB23-07823BAB2C8B}"/>
              </a:ext>
            </a:extLst>
          </p:cNvPr>
          <p:cNvSpPr>
            <a:spLocks xmlns:a="http://schemas.openxmlformats.org/drawingml/2006/main" noGrp="1"/>
          </p:cNvSpPr>
          <p:nvPr/>
        </p:nvSpPr>
        <p:spPr>
          <a:xfrm xmlns:a="http://schemas.openxmlformats.org/drawingml/2006/main">
            <a:off x="714375" y="1381125"/>
            <a:ext cx="1685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200" b="0">
                <a:solidFill>
                  <a:srgbClr val="FFFFFF"/>
                </a:solidFill>
                <a:latin typeface="Press Start 2P"/>
                <a:ea typeface="Press Start 2P"/>
                <a:cs typeface="Press Start 2P"/>
              </a:defRPr>
            </a:defPPr>
            <a:lvl1pPr algn="l">
              <a:defRPr sz="5200" b="0">
                <a:solidFill>
                  <a:srgbClr val="FFFFFF"/>
                </a:solidFill>
                <a:latin typeface="Press Start 2P"/>
                <a:ea typeface="Press Start 2P"/>
                <a:cs typeface="Press Start 2P"/>
              </a:defRPr>
            </a:lvl1pPr>
            <a:lvl2pPr algn="l">
              <a:defRPr sz="5200" b="0">
                <a:solidFill>
                  <a:srgbClr val="FFFFFF"/>
                </a:solidFill>
                <a:latin typeface="Press Start 2P"/>
                <a:ea typeface="Press Start 2P"/>
                <a:cs typeface="Press Start 2P"/>
              </a:defRPr>
            </a:lvl2pPr>
            <a:lvl3pPr algn="l">
              <a:defRPr sz="5200" b="0">
                <a:solidFill>
                  <a:srgbClr val="FFFFFF"/>
                </a:solidFill>
                <a:latin typeface="Press Start 2P"/>
                <a:ea typeface="Press Start 2P"/>
                <a:cs typeface="Press Start 2P"/>
              </a:defRPr>
            </a:lvl3pPr>
            <a:lvl4pPr algn="l">
              <a:defRPr sz="5200" b="0">
                <a:solidFill>
                  <a:srgbClr val="FFFFFF"/>
                </a:solidFill>
                <a:latin typeface="Press Start 2P"/>
                <a:ea typeface="Press Start 2P"/>
                <a:cs typeface="Press Start 2P"/>
              </a:defRPr>
            </a:lvl4pPr>
            <a:lvl5pPr algn="l">
              <a:defRPr sz="5200" b="0">
                <a:solidFill>
                  <a:srgbClr val="FFFFFF"/>
                </a:solidFill>
                <a:latin typeface="Press Start 2P"/>
                <a:ea typeface="Press Start 2P"/>
                <a:cs typeface="Press Start 2P"/>
              </a:defRPr>
            </a:lvl5pPr>
            <a:lvl6pPr algn="l">
              <a:defRPr sz="5200" b="0">
                <a:solidFill>
                  <a:srgbClr val="FFFFFF"/>
                </a:solidFill>
                <a:latin typeface="Press Start 2P"/>
                <a:ea typeface="Press Start 2P"/>
                <a:cs typeface="Press Start 2P"/>
              </a:defRPr>
            </a:lvl6pPr>
            <a:lvl7pPr algn="l">
              <a:defRPr sz="5200" b="0">
                <a:solidFill>
                  <a:srgbClr val="FFFFFF"/>
                </a:solidFill>
                <a:latin typeface="Press Start 2P"/>
                <a:ea typeface="Press Start 2P"/>
                <a:cs typeface="Press Start 2P"/>
              </a:defRPr>
            </a:lvl7pPr>
            <a:lvl8pPr algn="l">
              <a:defRPr sz="5200" b="0">
                <a:solidFill>
                  <a:srgbClr val="FFFFFF"/>
                </a:solidFill>
                <a:latin typeface="Press Start 2P"/>
                <a:ea typeface="Press Start 2P"/>
                <a:cs typeface="Press Start 2P"/>
              </a:defRPr>
            </a:lvl8pPr>
            <a:lvl9pPr algn="l">
              <a:defRPr sz="5200" b="0">
                <a:solidFill>
                  <a:srgbClr val="FFFFFF"/>
                </a:solidFill>
                <a:latin typeface="Press Start 2P"/>
                <a:ea typeface="Press Start 2P"/>
                <a:cs typeface="Press Start 2P"/>
              </a:defRPr>
            </a:lvl9pPr>
          </a:lstStyle>
          <a:p xmlns:a="http://schemas.openxmlformats.org/drawingml/2006/main">
            <a:pPr algn="l">
              <a:defRPr sz="5200" b="0">
                <a:solidFill>
                  <a:srgbClr val="FFFFFF"/>
                </a:solidFill>
                <a:latin typeface="Press Start 2P"/>
                <a:ea typeface="Press Start 2P"/>
                <a:cs typeface="Press Start 2P"/>
              </a:defRPr>
            </a:pPr>
            <a:r>
              <a:rPr sz="5200" b="0">
                <a:solidFill>
                  <a:srgbClr val="FFFFFF"/>
                </a:solidFill>
                <a:latin typeface="Press Start 2P"/>
                <a:ea typeface="Press Start 2P"/>
                <a:cs typeface="Press Start 2P"/>
              </a:rPr>
              <a:t>CHOOSE YOUR ROUTE</a:t>
            </a:r>
          </a:p>
        </p:txBody>
      </p:sp>
      <p:pic>
        <p:nvPicPr>
          <p:cNvPr id="8" name="">
            <a:extLst xmlns:a="http://schemas.openxmlformats.org/drawingml/2006/main">
              <a:ext uri="{FF2B5EF4-FFF2-40B4-BE49-F238E27FC236}">
                <a16:creationId xmlns:a16="http://schemas.microsoft.com/office/drawing/2014/main" id="{16D29CF2-474F-4441-B7EE-C931F690798B}"/>
              </a:ext>
            </a:extLst>
          </p:cNvPr>
          <p:cNvPicPr>
            <a:picLocks xmlns:a="http://schemas.openxmlformats.org/drawingml/2006/main" noChangeAspect="1"/>
          </p:cNvPicPr>
          <p:nvPr/>
        </p:nvPicPr>
        <p:blipFill>
          <a:blip xmlns:r="http://schemas.openxmlformats.org/officeDocument/2006/relationships" xmlns:a="http://schemas.openxmlformats.org/drawingml/2006/main" r:embed="R1c78424b679746b1"/>
          <a:stretch xmlns:a="http://schemas.openxmlformats.org/drawingml/2006/main"/>
        </p:blipFill>
        <p:spPr>
          <a:xfrm xmlns:a="http://schemas.openxmlformats.org/drawingml/2006/main">
            <a:off x="762000" y="2952750"/>
            <a:ext cx="8001000" cy="4500563"/>
          </a:xfrm>
          <a:prstGeom xmlns:a="http://schemas.openxmlformats.org/drawingml/2006/main" prst="rect">
            <a:avLst/>
          </a:prstGeom>
        </p:spPr>
      </p:pic>
      <p:sp>
        <p:nvSpPr>
          <p:cNvPr id="9" name="Game example">
            <a:extLst xmlns:a="http://schemas.openxmlformats.org/drawingml/2006/main">
              <a:ext uri="{FF2B5EF4-FFF2-40B4-BE49-F238E27FC236}">
                <a16:creationId xmlns:a16="http://schemas.microsoft.com/office/drawing/2014/main" id="{E0B04F6E-C41C-4A9D-83C5-53CC4F9AC427}"/>
              </a:ext>
            </a:extLst>
          </p:cNvPr>
          <p:cNvSpPr>
            <a:spLocks xmlns:a="http://schemas.openxmlformats.org/drawingml/2006/main" noGrp="1"/>
          </p:cNvSpPr>
          <p:nvPr/>
        </p:nvSpPr>
        <p:spPr>
          <a:xfrm xmlns:a="http://schemas.openxmlformats.org/drawingml/2006/main">
            <a:off x="762000" y="7848600"/>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00" b="0">
                <a:solidFill>
                  <a:srgbClr val="FFFFFF"/>
                </a:solidFill>
                <a:latin typeface="Open Sans"/>
                <a:ea typeface="Open Sans"/>
                <a:cs typeface="Open Sans"/>
              </a:defRPr>
            </a:defPPr>
            <a:lvl1pPr algn="l">
              <a:defRPr sz="2500" b="0">
                <a:solidFill>
                  <a:srgbClr val="FFFFFF"/>
                </a:solidFill>
                <a:latin typeface="Open Sans"/>
                <a:ea typeface="Open Sans"/>
                <a:cs typeface="Open Sans"/>
              </a:defRPr>
            </a:lvl1pPr>
            <a:lvl2pPr algn="l">
              <a:defRPr sz="2500" b="0">
                <a:solidFill>
                  <a:srgbClr val="FFFFFF"/>
                </a:solidFill>
                <a:latin typeface="Open Sans"/>
                <a:ea typeface="Open Sans"/>
                <a:cs typeface="Open Sans"/>
              </a:defRPr>
            </a:lvl2pPr>
            <a:lvl3pPr algn="l">
              <a:defRPr sz="2500" b="0">
                <a:solidFill>
                  <a:srgbClr val="FFFFFF"/>
                </a:solidFill>
                <a:latin typeface="Open Sans"/>
                <a:ea typeface="Open Sans"/>
                <a:cs typeface="Open Sans"/>
              </a:defRPr>
            </a:lvl3pPr>
            <a:lvl4pPr algn="l">
              <a:defRPr sz="2500" b="0">
                <a:solidFill>
                  <a:srgbClr val="FFFFFF"/>
                </a:solidFill>
                <a:latin typeface="Open Sans"/>
                <a:ea typeface="Open Sans"/>
                <a:cs typeface="Open Sans"/>
              </a:defRPr>
            </a:lvl4pPr>
            <a:lvl5pPr algn="l">
              <a:defRPr sz="2500" b="0">
                <a:solidFill>
                  <a:srgbClr val="FFFFFF"/>
                </a:solidFill>
                <a:latin typeface="Open Sans"/>
                <a:ea typeface="Open Sans"/>
                <a:cs typeface="Open Sans"/>
              </a:defRPr>
            </a:lvl5pPr>
            <a:lvl6pPr algn="l">
              <a:defRPr sz="2500" b="0">
                <a:solidFill>
                  <a:srgbClr val="FFFFFF"/>
                </a:solidFill>
                <a:latin typeface="Open Sans"/>
                <a:ea typeface="Open Sans"/>
                <a:cs typeface="Open Sans"/>
              </a:defRPr>
            </a:lvl6pPr>
            <a:lvl7pPr algn="l">
              <a:defRPr sz="2500" b="0">
                <a:solidFill>
                  <a:srgbClr val="FFFFFF"/>
                </a:solidFill>
                <a:latin typeface="Open Sans"/>
                <a:ea typeface="Open Sans"/>
                <a:cs typeface="Open Sans"/>
              </a:defRPr>
            </a:lvl7pPr>
            <a:lvl8pPr algn="l">
              <a:defRPr sz="2500" b="0">
                <a:solidFill>
                  <a:srgbClr val="FFFFFF"/>
                </a:solidFill>
                <a:latin typeface="Open Sans"/>
                <a:ea typeface="Open Sans"/>
                <a:cs typeface="Open Sans"/>
              </a:defRPr>
            </a:lvl8pPr>
            <a:lvl9pPr algn="l">
              <a:defRPr sz="2500" b="0">
                <a:solidFill>
                  <a:srgbClr val="FFFFFF"/>
                </a:solidFill>
                <a:latin typeface="Open Sans"/>
                <a:ea typeface="Open Sans"/>
                <a:cs typeface="Open Sans"/>
              </a:defRPr>
            </a:lvl9pPr>
          </a:lstStyle>
          <a:p xmlns:a="http://schemas.openxmlformats.org/drawingml/2006/main">
            <a:pPr algn="l">
              <a:defRPr sz="2500" b="0">
                <a:solidFill>
                  <a:srgbClr val="FFFFFF"/>
                </a:solidFill>
                <a:latin typeface="Open Sans"/>
                <a:ea typeface="Open Sans"/>
                <a:cs typeface="Open Sans"/>
              </a:defRPr>
            </a:pPr>
            <a:r>
              <a:rPr sz="2500" b="0">
                <a:solidFill>
                  <a:srgbClr val="FFFFFF"/>
                </a:solidFill>
                <a:latin typeface="Open Sans"/>
                <a:ea typeface="Open Sans"/>
                <a:cs typeface="Open Sans"/>
              </a:rPr>
              <a:t>Balatro / Playstack support</a:t>
            </a:r>
          </a:p>
        </p:txBody>
      </p:sp>
      <p:sp>
        <p:nvSpPr>
          <p:cNvPr id="10" name="Publisher help">
            <a:extLst xmlns:a="http://schemas.openxmlformats.org/drawingml/2006/main">
              <a:ext uri="{FF2B5EF4-FFF2-40B4-BE49-F238E27FC236}">
                <a16:creationId xmlns:a16="http://schemas.microsoft.com/office/drawing/2014/main" id="{7BA25698-33A4-4237-BEED-92FFCF87CA7A}"/>
              </a:ext>
            </a:extLst>
          </p:cNvPr>
          <p:cNvSpPr>
            <a:spLocks xmlns:a="http://schemas.openxmlformats.org/drawingml/2006/main" noGrp="1"/>
          </p:cNvSpPr>
          <p:nvPr/>
        </p:nvSpPr>
        <p:spPr>
          <a:xfrm xmlns:a="http://schemas.openxmlformats.org/drawingml/2006/main">
            <a:off x="762000" y="8543925"/>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FFFFFF"/>
                </a:solidFill>
                <a:latin typeface="Open Sans"/>
                <a:ea typeface="Open Sans"/>
                <a:cs typeface="Open Sans"/>
              </a:defRPr>
            </a:defPPr>
            <a:lvl1pPr algn="l">
              <a:defRPr sz="2325" b="1">
                <a:solidFill>
                  <a:srgbClr val="FFFFFF"/>
                </a:solidFill>
                <a:latin typeface="Open Sans"/>
                <a:ea typeface="Open Sans"/>
                <a:cs typeface="Open Sans"/>
              </a:defRPr>
            </a:lvl1pPr>
            <a:lvl2pPr algn="l">
              <a:defRPr sz="2325" b="1">
                <a:solidFill>
                  <a:srgbClr val="FFFFFF"/>
                </a:solidFill>
                <a:latin typeface="Open Sans"/>
                <a:ea typeface="Open Sans"/>
                <a:cs typeface="Open Sans"/>
              </a:defRPr>
            </a:lvl2pPr>
            <a:lvl3pPr algn="l">
              <a:defRPr sz="2325" b="1">
                <a:solidFill>
                  <a:srgbClr val="FFFFFF"/>
                </a:solidFill>
                <a:latin typeface="Open Sans"/>
                <a:ea typeface="Open Sans"/>
                <a:cs typeface="Open Sans"/>
              </a:defRPr>
            </a:lvl3pPr>
            <a:lvl4pPr algn="l">
              <a:defRPr sz="2325" b="1">
                <a:solidFill>
                  <a:srgbClr val="FFFFFF"/>
                </a:solidFill>
                <a:latin typeface="Open Sans"/>
                <a:ea typeface="Open Sans"/>
                <a:cs typeface="Open Sans"/>
              </a:defRPr>
            </a:lvl4pPr>
            <a:lvl5pPr algn="l">
              <a:defRPr sz="2325" b="1">
                <a:solidFill>
                  <a:srgbClr val="FFFFFF"/>
                </a:solidFill>
                <a:latin typeface="Open Sans"/>
                <a:ea typeface="Open Sans"/>
                <a:cs typeface="Open Sans"/>
              </a:defRPr>
            </a:lvl5pPr>
            <a:lvl6pPr algn="l">
              <a:defRPr sz="2325" b="1">
                <a:solidFill>
                  <a:srgbClr val="FFFFFF"/>
                </a:solidFill>
                <a:latin typeface="Open Sans"/>
                <a:ea typeface="Open Sans"/>
                <a:cs typeface="Open Sans"/>
              </a:defRPr>
            </a:lvl6pPr>
            <a:lvl7pPr algn="l">
              <a:defRPr sz="2325" b="1">
                <a:solidFill>
                  <a:srgbClr val="FFFFFF"/>
                </a:solidFill>
                <a:latin typeface="Open Sans"/>
                <a:ea typeface="Open Sans"/>
                <a:cs typeface="Open Sans"/>
              </a:defRPr>
            </a:lvl7pPr>
            <a:lvl8pPr algn="l">
              <a:defRPr sz="2325" b="1">
                <a:solidFill>
                  <a:srgbClr val="FFFFFF"/>
                </a:solidFill>
                <a:latin typeface="Open Sans"/>
                <a:ea typeface="Open Sans"/>
                <a:cs typeface="Open Sans"/>
              </a:defRPr>
            </a:lvl8pPr>
            <a:lvl9pPr algn="l">
              <a:defRPr sz="2325" b="1">
                <a:solidFill>
                  <a:srgbClr val="FFFFFF"/>
                </a:solidFill>
                <a:latin typeface="Open Sans"/>
                <a:ea typeface="Open Sans"/>
                <a:cs typeface="Open Sans"/>
              </a:defRPr>
            </a:lvl9pPr>
          </a:lstStyle>
          <a:p xmlns:a="http://schemas.openxmlformats.org/drawingml/2006/main">
            <a:pPr algn="l">
              <a:defRPr sz="2325" b="1">
                <a:solidFill>
                  <a:srgbClr val="FFFFFF"/>
                </a:solidFill>
                <a:latin typeface="Open Sans"/>
                <a:ea typeface="Open Sans"/>
                <a:cs typeface="Open Sans"/>
              </a:defRPr>
            </a:pPr>
            <a:r>
              <a:rPr sz="2325" b="1">
                <a:solidFill>
                  <a:srgbClr val="FFFFFF"/>
                </a:solidFill>
                <a:latin typeface="Open Sans"/>
                <a:ea typeface="Open Sans"/>
                <a:cs typeface="Open Sans"/>
              </a:rPr>
              <a:t>Funding, localization, console ports</a:t>
            </a:r>
          </a:p>
        </p:txBody>
      </p:sp>
      <p:sp>
        <p:nvSpPr>
          <p:cNvPr id="11" name="Independent route">
            <a:extLst xmlns:a="http://schemas.openxmlformats.org/drawingml/2006/main">
              <a:ext uri="{FF2B5EF4-FFF2-40B4-BE49-F238E27FC236}">
                <a16:creationId xmlns:a16="http://schemas.microsoft.com/office/drawing/2014/main" id="{5A6537B7-2A4E-4BEE-AE52-ECD0193ABF9E}"/>
              </a:ext>
            </a:extLst>
          </p:cNvPr>
          <p:cNvSpPr>
            <a:spLocks xmlns:a="http://schemas.openxmlformats.org/drawingml/2006/main" noGrp="1"/>
          </p:cNvSpPr>
          <p:nvPr/>
        </p:nvSpPr>
        <p:spPr>
          <a:xfrm xmlns:a="http://schemas.openxmlformats.org/drawingml/2006/main">
            <a:off x="9525000" y="2809875"/>
            <a:ext cx="800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9AFFD2"/>
                </a:solidFill>
                <a:latin typeface="Open Sans"/>
                <a:ea typeface="Open Sans"/>
                <a:cs typeface="Open Sans"/>
              </a:defRPr>
            </a:defPPr>
            <a:lvl1pPr algn="l">
              <a:defRPr sz="3000" b="1">
                <a:solidFill>
                  <a:srgbClr val="9AFFD2"/>
                </a:solidFill>
                <a:latin typeface="Open Sans"/>
                <a:ea typeface="Open Sans"/>
                <a:cs typeface="Open Sans"/>
              </a:defRPr>
            </a:lvl1pPr>
            <a:lvl2pPr algn="l">
              <a:defRPr sz="3000" b="1">
                <a:solidFill>
                  <a:srgbClr val="9AFFD2"/>
                </a:solidFill>
                <a:latin typeface="Open Sans"/>
                <a:ea typeface="Open Sans"/>
                <a:cs typeface="Open Sans"/>
              </a:defRPr>
            </a:lvl2pPr>
            <a:lvl3pPr algn="l">
              <a:defRPr sz="3000" b="1">
                <a:solidFill>
                  <a:srgbClr val="9AFFD2"/>
                </a:solidFill>
                <a:latin typeface="Open Sans"/>
                <a:ea typeface="Open Sans"/>
                <a:cs typeface="Open Sans"/>
              </a:defRPr>
            </a:lvl3pPr>
            <a:lvl4pPr algn="l">
              <a:defRPr sz="3000" b="1">
                <a:solidFill>
                  <a:srgbClr val="9AFFD2"/>
                </a:solidFill>
                <a:latin typeface="Open Sans"/>
                <a:ea typeface="Open Sans"/>
                <a:cs typeface="Open Sans"/>
              </a:defRPr>
            </a:lvl4pPr>
            <a:lvl5pPr algn="l">
              <a:defRPr sz="3000" b="1">
                <a:solidFill>
                  <a:srgbClr val="9AFFD2"/>
                </a:solidFill>
                <a:latin typeface="Open Sans"/>
                <a:ea typeface="Open Sans"/>
                <a:cs typeface="Open Sans"/>
              </a:defRPr>
            </a:lvl5pPr>
            <a:lvl6pPr algn="l">
              <a:defRPr sz="3000" b="1">
                <a:solidFill>
                  <a:srgbClr val="9AFFD2"/>
                </a:solidFill>
                <a:latin typeface="Open Sans"/>
                <a:ea typeface="Open Sans"/>
                <a:cs typeface="Open Sans"/>
              </a:defRPr>
            </a:lvl6pPr>
            <a:lvl7pPr algn="l">
              <a:defRPr sz="3000" b="1">
                <a:solidFill>
                  <a:srgbClr val="9AFFD2"/>
                </a:solidFill>
                <a:latin typeface="Open Sans"/>
                <a:ea typeface="Open Sans"/>
                <a:cs typeface="Open Sans"/>
              </a:defRPr>
            </a:lvl7pPr>
            <a:lvl8pPr algn="l">
              <a:defRPr sz="3000" b="1">
                <a:solidFill>
                  <a:srgbClr val="9AFFD2"/>
                </a:solidFill>
                <a:latin typeface="Open Sans"/>
                <a:ea typeface="Open Sans"/>
                <a:cs typeface="Open Sans"/>
              </a:defRPr>
            </a:lvl8pPr>
            <a:lvl9pPr algn="l">
              <a:defRPr sz="3000" b="1">
                <a:solidFill>
                  <a:srgbClr val="9AFFD2"/>
                </a:solidFill>
                <a:latin typeface="Open Sans"/>
                <a:ea typeface="Open Sans"/>
                <a:cs typeface="Open Sans"/>
              </a:defRPr>
            </a:lvl9pPr>
          </a:lstStyle>
          <a:p xmlns:a="http://schemas.openxmlformats.org/drawingml/2006/main">
            <a:pPr algn="l">
              <a:defRPr sz="3000" b="1">
                <a:solidFill>
                  <a:srgbClr val="9AFFD2"/>
                </a:solidFill>
                <a:latin typeface="Open Sans"/>
                <a:ea typeface="Open Sans"/>
                <a:cs typeface="Open Sans"/>
              </a:defRPr>
            </a:pPr>
            <a:r>
              <a:rPr sz="3000" b="1">
                <a:solidFill>
                  <a:srgbClr val="9AFFD2"/>
                </a:solidFill>
                <a:latin typeface="Open Sans"/>
                <a:ea typeface="Open Sans"/>
                <a:cs typeface="Open Sans"/>
              </a:rPr>
              <a:t>SELF-PUBLISH</a:t>
            </a:r>
          </a:p>
        </p:txBody>
      </p:sp>
      <p:sp>
        <p:nvSpPr>
          <p:cNvPr id="12" name="Independent responsibility">
            <a:extLst xmlns:a="http://schemas.openxmlformats.org/drawingml/2006/main">
              <a:ext uri="{FF2B5EF4-FFF2-40B4-BE49-F238E27FC236}">
                <a16:creationId xmlns:a16="http://schemas.microsoft.com/office/drawing/2014/main" id="{7675CED9-09DE-4A36-B182-858604C03C4C}"/>
              </a:ext>
            </a:extLst>
          </p:cNvPr>
          <p:cNvSpPr>
            <a:spLocks xmlns:a="http://schemas.openxmlformats.org/drawingml/2006/main" noGrp="1"/>
          </p:cNvSpPr>
          <p:nvPr/>
        </p:nvSpPr>
        <p:spPr>
          <a:xfrm xmlns:a="http://schemas.openxmlformats.org/drawingml/2006/main">
            <a:off x="9525000" y="350520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Open Sans"/>
                <a:ea typeface="Open Sans"/>
                <a:cs typeface="Open Sans"/>
              </a:defRPr>
            </a:defPPr>
            <a:lvl1pPr algn="l">
              <a:defRPr sz="2700" b="0">
                <a:solidFill>
                  <a:srgbClr val="FFFFFF"/>
                </a:solidFill>
                <a:latin typeface="Open Sans"/>
                <a:ea typeface="Open Sans"/>
                <a:cs typeface="Open Sans"/>
              </a:defRPr>
            </a:lvl1pPr>
            <a:lvl2pPr algn="l">
              <a:defRPr sz="2700" b="0">
                <a:solidFill>
                  <a:srgbClr val="FFFFFF"/>
                </a:solidFill>
                <a:latin typeface="Open Sans"/>
                <a:ea typeface="Open Sans"/>
                <a:cs typeface="Open Sans"/>
              </a:defRPr>
            </a:lvl2pPr>
            <a:lvl3pPr algn="l">
              <a:defRPr sz="2700" b="0">
                <a:solidFill>
                  <a:srgbClr val="FFFFFF"/>
                </a:solidFill>
                <a:latin typeface="Open Sans"/>
                <a:ea typeface="Open Sans"/>
                <a:cs typeface="Open Sans"/>
              </a:defRPr>
            </a:lvl3pPr>
            <a:lvl4pPr algn="l">
              <a:defRPr sz="2700" b="0">
                <a:solidFill>
                  <a:srgbClr val="FFFFFF"/>
                </a:solidFill>
                <a:latin typeface="Open Sans"/>
                <a:ea typeface="Open Sans"/>
                <a:cs typeface="Open Sans"/>
              </a:defRPr>
            </a:lvl4pPr>
            <a:lvl5pPr algn="l">
              <a:defRPr sz="2700" b="0">
                <a:solidFill>
                  <a:srgbClr val="FFFFFF"/>
                </a:solidFill>
                <a:latin typeface="Open Sans"/>
                <a:ea typeface="Open Sans"/>
                <a:cs typeface="Open Sans"/>
              </a:defRPr>
            </a:lvl5pPr>
            <a:lvl6pPr algn="l">
              <a:defRPr sz="2700" b="0">
                <a:solidFill>
                  <a:srgbClr val="FFFFFF"/>
                </a:solidFill>
                <a:latin typeface="Open Sans"/>
                <a:ea typeface="Open Sans"/>
                <a:cs typeface="Open Sans"/>
              </a:defRPr>
            </a:lvl6pPr>
            <a:lvl7pPr algn="l">
              <a:defRPr sz="2700" b="0">
                <a:solidFill>
                  <a:srgbClr val="FFFFFF"/>
                </a:solidFill>
                <a:latin typeface="Open Sans"/>
                <a:ea typeface="Open Sans"/>
                <a:cs typeface="Open Sans"/>
              </a:defRPr>
            </a:lvl7pPr>
            <a:lvl8pPr algn="l">
              <a:defRPr sz="2700" b="0">
                <a:solidFill>
                  <a:srgbClr val="FFFFFF"/>
                </a:solidFill>
                <a:latin typeface="Open Sans"/>
                <a:ea typeface="Open Sans"/>
                <a:cs typeface="Open Sans"/>
              </a:defRPr>
            </a:lvl8pPr>
            <a:lvl9pPr algn="l">
              <a:defRPr sz="2700" b="0">
                <a:solidFill>
                  <a:srgbClr val="FFFFFF"/>
                </a:solidFill>
                <a:latin typeface="Open Sans"/>
                <a:ea typeface="Open Sans"/>
                <a:cs typeface="Open Sans"/>
              </a:defRPr>
            </a:lvl9pPr>
          </a:lstStyle>
          <a:p xmlns:a="http://schemas.openxmlformats.org/drawingml/2006/main">
            <a:pPr algn="l">
              <a:defRPr sz="2700" b="0">
                <a:solidFill>
                  <a:srgbClr val="FFFFFF"/>
                </a:solidFill>
                <a:latin typeface="Open Sans"/>
                <a:ea typeface="Open Sans"/>
                <a:cs typeface="Open Sans"/>
              </a:defRPr>
            </a:pPr>
            <a:r>
              <a:rPr sz="2700" b="0">
                <a:solidFill>
                  <a:srgbClr val="FFFFFF"/>
                </a:solidFill>
                <a:latin typeface="Open Sans"/>
                <a:ea typeface="Open Sans"/>
                <a:cs typeface="Open Sans"/>
              </a:rPr>
              <a:t>Fund + launch</a:t>
            </a:r>
          </a:p>
        </p:txBody>
      </p:sp>
      <p:sp>
        <p:nvSpPr>
          <p:cNvPr id="13" name="Independent revenue">
            <a:extLst xmlns:a="http://schemas.openxmlformats.org/drawingml/2006/main">
              <a:ext uri="{FF2B5EF4-FFF2-40B4-BE49-F238E27FC236}">
                <a16:creationId xmlns:a16="http://schemas.microsoft.com/office/drawing/2014/main" id="{7FB3CAF9-5C04-4330-82DF-D7104BFB4ED3}"/>
              </a:ext>
            </a:extLst>
          </p:cNvPr>
          <p:cNvSpPr>
            <a:spLocks xmlns:a="http://schemas.openxmlformats.org/drawingml/2006/main" noGrp="1"/>
          </p:cNvSpPr>
          <p:nvPr/>
        </p:nvSpPr>
        <p:spPr>
          <a:xfrm xmlns:a="http://schemas.openxmlformats.org/drawingml/2006/main">
            <a:off x="9525000" y="409575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Open Sans"/>
                <a:ea typeface="Open Sans"/>
                <a:cs typeface="Open Sans"/>
              </a:defRPr>
            </a:defPPr>
            <a:lvl1pPr algn="l">
              <a:defRPr sz="2700" b="0">
                <a:solidFill>
                  <a:srgbClr val="FFFFFF"/>
                </a:solidFill>
                <a:latin typeface="Open Sans"/>
                <a:ea typeface="Open Sans"/>
                <a:cs typeface="Open Sans"/>
              </a:defRPr>
            </a:lvl1pPr>
            <a:lvl2pPr algn="l">
              <a:defRPr sz="2700" b="0">
                <a:solidFill>
                  <a:srgbClr val="FFFFFF"/>
                </a:solidFill>
                <a:latin typeface="Open Sans"/>
                <a:ea typeface="Open Sans"/>
                <a:cs typeface="Open Sans"/>
              </a:defRPr>
            </a:lvl2pPr>
            <a:lvl3pPr algn="l">
              <a:defRPr sz="2700" b="0">
                <a:solidFill>
                  <a:srgbClr val="FFFFFF"/>
                </a:solidFill>
                <a:latin typeface="Open Sans"/>
                <a:ea typeface="Open Sans"/>
                <a:cs typeface="Open Sans"/>
              </a:defRPr>
            </a:lvl3pPr>
            <a:lvl4pPr algn="l">
              <a:defRPr sz="2700" b="0">
                <a:solidFill>
                  <a:srgbClr val="FFFFFF"/>
                </a:solidFill>
                <a:latin typeface="Open Sans"/>
                <a:ea typeface="Open Sans"/>
                <a:cs typeface="Open Sans"/>
              </a:defRPr>
            </a:lvl4pPr>
            <a:lvl5pPr algn="l">
              <a:defRPr sz="2700" b="0">
                <a:solidFill>
                  <a:srgbClr val="FFFFFF"/>
                </a:solidFill>
                <a:latin typeface="Open Sans"/>
                <a:ea typeface="Open Sans"/>
                <a:cs typeface="Open Sans"/>
              </a:defRPr>
            </a:lvl5pPr>
            <a:lvl6pPr algn="l">
              <a:defRPr sz="2700" b="0">
                <a:solidFill>
                  <a:srgbClr val="FFFFFF"/>
                </a:solidFill>
                <a:latin typeface="Open Sans"/>
                <a:ea typeface="Open Sans"/>
                <a:cs typeface="Open Sans"/>
              </a:defRPr>
            </a:lvl6pPr>
            <a:lvl7pPr algn="l">
              <a:defRPr sz="2700" b="0">
                <a:solidFill>
                  <a:srgbClr val="FFFFFF"/>
                </a:solidFill>
                <a:latin typeface="Open Sans"/>
                <a:ea typeface="Open Sans"/>
                <a:cs typeface="Open Sans"/>
              </a:defRPr>
            </a:lvl7pPr>
            <a:lvl8pPr algn="l">
              <a:defRPr sz="2700" b="0">
                <a:solidFill>
                  <a:srgbClr val="FFFFFF"/>
                </a:solidFill>
                <a:latin typeface="Open Sans"/>
                <a:ea typeface="Open Sans"/>
                <a:cs typeface="Open Sans"/>
              </a:defRPr>
            </a:lvl8pPr>
            <a:lvl9pPr algn="l">
              <a:defRPr sz="2700" b="0">
                <a:solidFill>
                  <a:srgbClr val="FFFFFF"/>
                </a:solidFill>
                <a:latin typeface="Open Sans"/>
                <a:ea typeface="Open Sans"/>
                <a:cs typeface="Open Sans"/>
              </a:defRPr>
            </a:lvl9pPr>
          </a:lstStyle>
          <a:p xmlns:a="http://schemas.openxmlformats.org/drawingml/2006/main">
            <a:pPr algn="l">
              <a:defRPr sz="2700" b="0">
                <a:solidFill>
                  <a:srgbClr val="FFFFFF"/>
                </a:solidFill>
                <a:latin typeface="Open Sans"/>
                <a:ea typeface="Open Sans"/>
                <a:cs typeface="Open Sans"/>
              </a:defRPr>
            </a:pPr>
            <a:r>
              <a:rPr sz="2700" b="0">
                <a:solidFill>
                  <a:srgbClr val="FFFFFF"/>
                </a:solidFill>
                <a:latin typeface="Open Sans"/>
                <a:ea typeface="Open Sans"/>
                <a:cs typeface="Open Sans"/>
              </a:rPr>
              <a:t>No publisher cut</a:t>
            </a:r>
          </a:p>
        </p:txBody>
      </p:sp>
      <p:sp>
        <p:nvSpPr>
          <p:cNvPr id="14" name="Partner route">
            <a:extLst xmlns:a="http://schemas.openxmlformats.org/drawingml/2006/main">
              <a:ext uri="{FF2B5EF4-FFF2-40B4-BE49-F238E27FC236}">
                <a16:creationId xmlns:a16="http://schemas.microsoft.com/office/drawing/2014/main" id="{6A5947F5-9CD1-4895-AF02-73DA3284F03F}"/>
              </a:ext>
            </a:extLst>
          </p:cNvPr>
          <p:cNvSpPr>
            <a:spLocks xmlns:a="http://schemas.openxmlformats.org/drawingml/2006/main" noGrp="1"/>
          </p:cNvSpPr>
          <p:nvPr/>
        </p:nvSpPr>
        <p:spPr>
          <a:xfrm xmlns:a="http://schemas.openxmlformats.org/drawingml/2006/main">
            <a:off x="9525000" y="5238750"/>
            <a:ext cx="800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9AFFD2"/>
                </a:solidFill>
                <a:latin typeface="Open Sans"/>
                <a:ea typeface="Open Sans"/>
                <a:cs typeface="Open Sans"/>
              </a:defRPr>
            </a:defPPr>
            <a:lvl1pPr algn="l">
              <a:defRPr sz="3000" b="1">
                <a:solidFill>
                  <a:srgbClr val="9AFFD2"/>
                </a:solidFill>
                <a:latin typeface="Open Sans"/>
                <a:ea typeface="Open Sans"/>
                <a:cs typeface="Open Sans"/>
              </a:defRPr>
            </a:lvl1pPr>
            <a:lvl2pPr algn="l">
              <a:defRPr sz="3000" b="1">
                <a:solidFill>
                  <a:srgbClr val="9AFFD2"/>
                </a:solidFill>
                <a:latin typeface="Open Sans"/>
                <a:ea typeface="Open Sans"/>
                <a:cs typeface="Open Sans"/>
              </a:defRPr>
            </a:lvl2pPr>
            <a:lvl3pPr algn="l">
              <a:defRPr sz="3000" b="1">
                <a:solidFill>
                  <a:srgbClr val="9AFFD2"/>
                </a:solidFill>
                <a:latin typeface="Open Sans"/>
                <a:ea typeface="Open Sans"/>
                <a:cs typeface="Open Sans"/>
              </a:defRPr>
            </a:lvl3pPr>
            <a:lvl4pPr algn="l">
              <a:defRPr sz="3000" b="1">
                <a:solidFill>
                  <a:srgbClr val="9AFFD2"/>
                </a:solidFill>
                <a:latin typeface="Open Sans"/>
                <a:ea typeface="Open Sans"/>
                <a:cs typeface="Open Sans"/>
              </a:defRPr>
            </a:lvl4pPr>
            <a:lvl5pPr algn="l">
              <a:defRPr sz="3000" b="1">
                <a:solidFill>
                  <a:srgbClr val="9AFFD2"/>
                </a:solidFill>
                <a:latin typeface="Open Sans"/>
                <a:ea typeface="Open Sans"/>
                <a:cs typeface="Open Sans"/>
              </a:defRPr>
            </a:lvl5pPr>
            <a:lvl6pPr algn="l">
              <a:defRPr sz="3000" b="1">
                <a:solidFill>
                  <a:srgbClr val="9AFFD2"/>
                </a:solidFill>
                <a:latin typeface="Open Sans"/>
                <a:ea typeface="Open Sans"/>
                <a:cs typeface="Open Sans"/>
              </a:defRPr>
            </a:lvl6pPr>
            <a:lvl7pPr algn="l">
              <a:defRPr sz="3000" b="1">
                <a:solidFill>
                  <a:srgbClr val="9AFFD2"/>
                </a:solidFill>
                <a:latin typeface="Open Sans"/>
                <a:ea typeface="Open Sans"/>
                <a:cs typeface="Open Sans"/>
              </a:defRPr>
            </a:lvl7pPr>
            <a:lvl8pPr algn="l">
              <a:defRPr sz="3000" b="1">
                <a:solidFill>
                  <a:srgbClr val="9AFFD2"/>
                </a:solidFill>
                <a:latin typeface="Open Sans"/>
                <a:ea typeface="Open Sans"/>
                <a:cs typeface="Open Sans"/>
              </a:defRPr>
            </a:lvl8pPr>
            <a:lvl9pPr algn="l">
              <a:defRPr sz="3000" b="1">
                <a:solidFill>
                  <a:srgbClr val="9AFFD2"/>
                </a:solidFill>
                <a:latin typeface="Open Sans"/>
                <a:ea typeface="Open Sans"/>
                <a:cs typeface="Open Sans"/>
              </a:defRPr>
            </a:lvl9pPr>
          </a:lstStyle>
          <a:p xmlns:a="http://schemas.openxmlformats.org/drawingml/2006/main">
            <a:pPr algn="l">
              <a:defRPr sz="3000" b="1">
                <a:solidFill>
                  <a:srgbClr val="9AFFD2"/>
                </a:solidFill>
                <a:latin typeface="Open Sans"/>
                <a:ea typeface="Open Sans"/>
                <a:cs typeface="Open Sans"/>
              </a:defRPr>
            </a:pPr>
            <a:r>
              <a:rPr sz="3000" b="1">
                <a:solidFill>
                  <a:srgbClr val="9AFFD2"/>
                </a:solidFill>
                <a:latin typeface="Open Sans"/>
                <a:ea typeface="Open Sans"/>
                <a:cs typeface="Open Sans"/>
              </a:rPr>
              <a:t>PUBLISHER</a:t>
            </a:r>
          </a:p>
        </p:txBody>
      </p:sp>
      <p:sp>
        <p:nvSpPr>
          <p:cNvPr id="15" name="Partner tradeoff">
            <a:extLst xmlns:a="http://schemas.openxmlformats.org/drawingml/2006/main">
              <a:ext uri="{FF2B5EF4-FFF2-40B4-BE49-F238E27FC236}">
                <a16:creationId xmlns:a16="http://schemas.microsoft.com/office/drawing/2014/main" id="{F6D48616-EE12-4D30-9EB5-862990394393}"/>
              </a:ext>
            </a:extLst>
          </p:cNvPr>
          <p:cNvSpPr>
            <a:spLocks xmlns:a="http://schemas.openxmlformats.org/drawingml/2006/main" noGrp="1"/>
          </p:cNvSpPr>
          <p:nvPr/>
        </p:nvSpPr>
        <p:spPr>
          <a:xfrm xmlns:a="http://schemas.openxmlformats.org/drawingml/2006/main">
            <a:off x="9525000" y="590550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Open Sans"/>
                <a:ea typeface="Open Sans"/>
                <a:cs typeface="Open Sans"/>
              </a:defRPr>
            </a:defPPr>
            <a:lvl1pPr algn="l">
              <a:defRPr sz="2700" b="0">
                <a:solidFill>
                  <a:srgbClr val="FFFFFF"/>
                </a:solidFill>
                <a:latin typeface="Open Sans"/>
                <a:ea typeface="Open Sans"/>
                <a:cs typeface="Open Sans"/>
              </a:defRPr>
            </a:lvl1pPr>
            <a:lvl2pPr algn="l">
              <a:defRPr sz="2700" b="0">
                <a:solidFill>
                  <a:srgbClr val="FFFFFF"/>
                </a:solidFill>
                <a:latin typeface="Open Sans"/>
                <a:ea typeface="Open Sans"/>
                <a:cs typeface="Open Sans"/>
              </a:defRPr>
            </a:lvl2pPr>
            <a:lvl3pPr algn="l">
              <a:defRPr sz="2700" b="0">
                <a:solidFill>
                  <a:srgbClr val="FFFFFF"/>
                </a:solidFill>
                <a:latin typeface="Open Sans"/>
                <a:ea typeface="Open Sans"/>
                <a:cs typeface="Open Sans"/>
              </a:defRPr>
            </a:lvl3pPr>
            <a:lvl4pPr algn="l">
              <a:defRPr sz="2700" b="0">
                <a:solidFill>
                  <a:srgbClr val="FFFFFF"/>
                </a:solidFill>
                <a:latin typeface="Open Sans"/>
                <a:ea typeface="Open Sans"/>
                <a:cs typeface="Open Sans"/>
              </a:defRPr>
            </a:lvl4pPr>
            <a:lvl5pPr algn="l">
              <a:defRPr sz="2700" b="0">
                <a:solidFill>
                  <a:srgbClr val="FFFFFF"/>
                </a:solidFill>
                <a:latin typeface="Open Sans"/>
                <a:ea typeface="Open Sans"/>
                <a:cs typeface="Open Sans"/>
              </a:defRPr>
            </a:lvl5pPr>
            <a:lvl6pPr algn="l">
              <a:defRPr sz="2700" b="0">
                <a:solidFill>
                  <a:srgbClr val="FFFFFF"/>
                </a:solidFill>
                <a:latin typeface="Open Sans"/>
                <a:ea typeface="Open Sans"/>
                <a:cs typeface="Open Sans"/>
              </a:defRPr>
            </a:lvl6pPr>
            <a:lvl7pPr algn="l">
              <a:defRPr sz="2700" b="0">
                <a:solidFill>
                  <a:srgbClr val="FFFFFF"/>
                </a:solidFill>
                <a:latin typeface="Open Sans"/>
                <a:ea typeface="Open Sans"/>
                <a:cs typeface="Open Sans"/>
              </a:defRPr>
            </a:lvl7pPr>
            <a:lvl8pPr algn="l">
              <a:defRPr sz="2700" b="0">
                <a:solidFill>
                  <a:srgbClr val="FFFFFF"/>
                </a:solidFill>
                <a:latin typeface="Open Sans"/>
                <a:ea typeface="Open Sans"/>
                <a:cs typeface="Open Sans"/>
              </a:defRPr>
            </a:lvl8pPr>
            <a:lvl9pPr algn="l">
              <a:defRPr sz="2700" b="0">
                <a:solidFill>
                  <a:srgbClr val="FFFFFF"/>
                </a:solidFill>
                <a:latin typeface="Open Sans"/>
                <a:ea typeface="Open Sans"/>
                <a:cs typeface="Open Sans"/>
              </a:defRPr>
            </a:lvl9pPr>
          </a:lstStyle>
          <a:p xmlns:a="http://schemas.openxmlformats.org/drawingml/2006/main">
            <a:pPr algn="l">
              <a:defRPr sz="2700" b="0">
                <a:solidFill>
                  <a:srgbClr val="FFFFFF"/>
                </a:solidFill>
                <a:latin typeface="Open Sans"/>
                <a:ea typeface="Open Sans"/>
                <a:cs typeface="Open Sans"/>
              </a:defRPr>
            </a:pPr>
            <a:r>
              <a:rPr sz="2700" b="0">
                <a:solidFill>
                  <a:srgbClr val="FFFFFF"/>
                </a:solidFill>
                <a:latin typeface="Open Sans"/>
                <a:ea typeface="Open Sans"/>
                <a:cs typeface="Open Sans"/>
              </a:rPr>
              <a:t>Support for a share</a:t>
            </a:r>
          </a:p>
        </p:txBody>
      </p:sp>
      <p:sp>
        <p:nvSpPr>
          <p:cNvPr id="16" name="Recovery step">
            <a:extLst xmlns:a="http://schemas.openxmlformats.org/drawingml/2006/main">
              <a:ext uri="{FF2B5EF4-FFF2-40B4-BE49-F238E27FC236}">
                <a16:creationId xmlns:a16="http://schemas.microsoft.com/office/drawing/2014/main" id="{31E0F3CA-0D34-4497-B259-6D619B10EA5E}"/>
              </a:ext>
            </a:extLst>
          </p:cNvPr>
          <p:cNvSpPr>
            <a:spLocks xmlns:a="http://schemas.openxmlformats.org/drawingml/2006/main" noGrp="1"/>
          </p:cNvSpPr>
          <p:nvPr/>
        </p:nvSpPr>
        <p:spPr>
          <a:xfrm xmlns:a="http://schemas.openxmlformats.org/drawingml/2006/main">
            <a:off x="9525000" y="681990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Open Sans"/>
                <a:ea typeface="Open Sans"/>
                <a:cs typeface="Open Sans"/>
              </a:defRPr>
            </a:defPPr>
            <a:lvl1pPr algn="l">
              <a:defRPr sz="2700" b="0">
                <a:solidFill>
                  <a:srgbClr val="FFFFFF"/>
                </a:solidFill>
                <a:latin typeface="Open Sans"/>
                <a:ea typeface="Open Sans"/>
                <a:cs typeface="Open Sans"/>
              </a:defRPr>
            </a:lvl1pPr>
            <a:lvl2pPr algn="l">
              <a:defRPr sz="2700" b="0">
                <a:solidFill>
                  <a:srgbClr val="FFFFFF"/>
                </a:solidFill>
                <a:latin typeface="Open Sans"/>
                <a:ea typeface="Open Sans"/>
                <a:cs typeface="Open Sans"/>
              </a:defRPr>
            </a:lvl2pPr>
            <a:lvl3pPr algn="l">
              <a:defRPr sz="2700" b="0">
                <a:solidFill>
                  <a:srgbClr val="FFFFFF"/>
                </a:solidFill>
                <a:latin typeface="Open Sans"/>
                <a:ea typeface="Open Sans"/>
                <a:cs typeface="Open Sans"/>
              </a:defRPr>
            </a:lvl3pPr>
            <a:lvl4pPr algn="l">
              <a:defRPr sz="2700" b="0">
                <a:solidFill>
                  <a:srgbClr val="FFFFFF"/>
                </a:solidFill>
                <a:latin typeface="Open Sans"/>
                <a:ea typeface="Open Sans"/>
                <a:cs typeface="Open Sans"/>
              </a:defRPr>
            </a:lvl4pPr>
            <a:lvl5pPr algn="l">
              <a:defRPr sz="2700" b="0">
                <a:solidFill>
                  <a:srgbClr val="FFFFFF"/>
                </a:solidFill>
                <a:latin typeface="Open Sans"/>
                <a:ea typeface="Open Sans"/>
                <a:cs typeface="Open Sans"/>
              </a:defRPr>
            </a:lvl5pPr>
            <a:lvl6pPr algn="l">
              <a:defRPr sz="2700" b="0">
                <a:solidFill>
                  <a:srgbClr val="FFFFFF"/>
                </a:solidFill>
                <a:latin typeface="Open Sans"/>
                <a:ea typeface="Open Sans"/>
                <a:cs typeface="Open Sans"/>
              </a:defRPr>
            </a:lvl6pPr>
            <a:lvl7pPr algn="l">
              <a:defRPr sz="2700" b="0">
                <a:solidFill>
                  <a:srgbClr val="FFFFFF"/>
                </a:solidFill>
                <a:latin typeface="Open Sans"/>
                <a:ea typeface="Open Sans"/>
                <a:cs typeface="Open Sans"/>
              </a:defRPr>
            </a:lvl7pPr>
            <a:lvl8pPr algn="l">
              <a:defRPr sz="2700" b="0">
                <a:solidFill>
                  <a:srgbClr val="FFFFFF"/>
                </a:solidFill>
                <a:latin typeface="Open Sans"/>
                <a:ea typeface="Open Sans"/>
                <a:cs typeface="Open Sans"/>
              </a:defRPr>
            </a:lvl8pPr>
            <a:lvl9pPr algn="l">
              <a:defRPr sz="2700" b="0">
                <a:solidFill>
                  <a:srgbClr val="FFFFFF"/>
                </a:solidFill>
                <a:latin typeface="Open Sans"/>
                <a:ea typeface="Open Sans"/>
                <a:cs typeface="Open Sans"/>
              </a:defRPr>
            </a:lvl9pPr>
          </a:lstStyle>
          <a:p xmlns:a="http://schemas.openxmlformats.org/drawingml/2006/main">
            <a:pPr algn="l">
              <a:defRPr sz="2700" b="0">
                <a:solidFill>
                  <a:srgbClr val="FFFFFF"/>
                </a:solidFill>
                <a:latin typeface="Open Sans"/>
                <a:ea typeface="Open Sans"/>
                <a:cs typeface="Open Sans"/>
              </a:defRPr>
            </a:pPr>
            <a:r>
              <a:rPr sz="2700" b="0">
                <a:solidFill>
                  <a:srgbClr val="FFFFFF"/>
                </a:solidFill>
                <a:latin typeface="Open Sans"/>
                <a:ea typeface="Open Sans"/>
                <a:cs typeface="Open Sans"/>
              </a:rPr>
              <a:t>1   Recover costs</a:t>
            </a:r>
          </a:p>
        </p:txBody>
      </p:sp>
      <p:sp>
        <p:nvSpPr>
          <p:cNvPr id="17" name="Royalty step">
            <a:extLst xmlns:a="http://schemas.openxmlformats.org/drawingml/2006/main">
              <a:ext uri="{FF2B5EF4-FFF2-40B4-BE49-F238E27FC236}">
                <a16:creationId xmlns:a16="http://schemas.microsoft.com/office/drawing/2014/main" id="{6436D6BF-1D82-4B8D-A69A-9149EE01ABDC}"/>
              </a:ext>
            </a:extLst>
          </p:cNvPr>
          <p:cNvSpPr>
            <a:spLocks xmlns:a="http://schemas.openxmlformats.org/drawingml/2006/main" noGrp="1"/>
          </p:cNvSpPr>
          <p:nvPr/>
        </p:nvSpPr>
        <p:spPr>
          <a:xfrm xmlns:a="http://schemas.openxmlformats.org/drawingml/2006/main">
            <a:off x="9525000" y="750570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Open Sans"/>
                <a:ea typeface="Open Sans"/>
                <a:cs typeface="Open Sans"/>
              </a:defRPr>
            </a:defPPr>
            <a:lvl1pPr algn="l">
              <a:defRPr sz="2700" b="0">
                <a:solidFill>
                  <a:srgbClr val="FFFFFF"/>
                </a:solidFill>
                <a:latin typeface="Open Sans"/>
                <a:ea typeface="Open Sans"/>
                <a:cs typeface="Open Sans"/>
              </a:defRPr>
            </a:lvl1pPr>
            <a:lvl2pPr algn="l">
              <a:defRPr sz="2700" b="0">
                <a:solidFill>
                  <a:srgbClr val="FFFFFF"/>
                </a:solidFill>
                <a:latin typeface="Open Sans"/>
                <a:ea typeface="Open Sans"/>
                <a:cs typeface="Open Sans"/>
              </a:defRPr>
            </a:lvl2pPr>
            <a:lvl3pPr algn="l">
              <a:defRPr sz="2700" b="0">
                <a:solidFill>
                  <a:srgbClr val="FFFFFF"/>
                </a:solidFill>
                <a:latin typeface="Open Sans"/>
                <a:ea typeface="Open Sans"/>
                <a:cs typeface="Open Sans"/>
              </a:defRPr>
            </a:lvl3pPr>
            <a:lvl4pPr algn="l">
              <a:defRPr sz="2700" b="0">
                <a:solidFill>
                  <a:srgbClr val="FFFFFF"/>
                </a:solidFill>
                <a:latin typeface="Open Sans"/>
                <a:ea typeface="Open Sans"/>
                <a:cs typeface="Open Sans"/>
              </a:defRPr>
            </a:lvl4pPr>
            <a:lvl5pPr algn="l">
              <a:defRPr sz="2700" b="0">
                <a:solidFill>
                  <a:srgbClr val="FFFFFF"/>
                </a:solidFill>
                <a:latin typeface="Open Sans"/>
                <a:ea typeface="Open Sans"/>
                <a:cs typeface="Open Sans"/>
              </a:defRPr>
            </a:lvl5pPr>
            <a:lvl6pPr algn="l">
              <a:defRPr sz="2700" b="0">
                <a:solidFill>
                  <a:srgbClr val="FFFFFF"/>
                </a:solidFill>
                <a:latin typeface="Open Sans"/>
                <a:ea typeface="Open Sans"/>
                <a:cs typeface="Open Sans"/>
              </a:defRPr>
            </a:lvl6pPr>
            <a:lvl7pPr algn="l">
              <a:defRPr sz="2700" b="0">
                <a:solidFill>
                  <a:srgbClr val="FFFFFF"/>
                </a:solidFill>
                <a:latin typeface="Open Sans"/>
                <a:ea typeface="Open Sans"/>
                <a:cs typeface="Open Sans"/>
              </a:defRPr>
            </a:lvl7pPr>
            <a:lvl8pPr algn="l">
              <a:defRPr sz="2700" b="0">
                <a:solidFill>
                  <a:srgbClr val="FFFFFF"/>
                </a:solidFill>
                <a:latin typeface="Open Sans"/>
                <a:ea typeface="Open Sans"/>
                <a:cs typeface="Open Sans"/>
              </a:defRPr>
            </a:lvl8pPr>
            <a:lvl9pPr algn="l">
              <a:defRPr sz="2700" b="0">
                <a:solidFill>
                  <a:srgbClr val="FFFFFF"/>
                </a:solidFill>
                <a:latin typeface="Open Sans"/>
                <a:ea typeface="Open Sans"/>
                <a:cs typeface="Open Sans"/>
              </a:defRPr>
            </a:lvl9pPr>
          </a:lstStyle>
          <a:p xmlns:a="http://schemas.openxmlformats.org/drawingml/2006/main">
            <a:pPr algn="l">
              <a:defRPr sz="2700" b="0">
                <a:solidFill>
                  <a:srgbClr val="FFFFFF"/>
                </a:solidFill>
                <a:latin typeface="Open Sans"/>
                <a:ea typeface="Open Sans"/>
                <a:cs typeface="Open Sans"/>
              </a:defRPr>
            </a:pPr>
            <a:r>
              <a:rPr sz="2700" b="0">
                <a:solidFill>
                  <a:srgbClr val="FFFFFF"/>
                </a:solidFill>
                <a:latin typeface="Open Sans"/>
                <a:ea typeface="Open Sans"/>
                <a:cs typeface="Open Sans"/>
              </a:rPr>
              <a:t>2   Revenue split</a:t>
            </a:r>
          </a:p>
        </p:txBody>
      </p:sp>
      <p:sp>
        <p:nvSpPr>
          <p:cNvPr id="18" name="Contract caveat">
            <a:extLst xmlns:a="http://schemas.openxmlformats.org/drawingml/2006/main">
              <a:ext uri="{FF2B5EF4-FFF2-40B4-BE49-F238E27FC236}">
                <a16:creationId xmlns:a16="http://schemas.microsoft.com/office/drawing/2014/main" id="{25CD15C2-E852-415F-8654-4CE8C9E655EF}"/>
              </a:ext>
            </a:extLst>
          </p:cNvPr>
          <p:cNvSpPr>
            <a:spLocks xmlns:a="http://schemas.openxmlformats.org/drawingml/2006/main" noGrp="1"/>
          </p:cNvSpPr>
          <p:nvPr/>
        </p:nvSpPr>
        <p:spPr>
          <a:xfrm xmlns:a="http://schemas.openxmlformats.org/drawingml/2006/main">
            <a:off x="9525000" y="88582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FFFFFF"/>
                </a:solidFill>
                <a:latin typeface="Open Sans"/>
                <a:ea typeface="Open Sans"/>
                <a:cs typeface="Open Sans"/>
              </a:defRPr>
            </a:defPPr>
            <a:lvl1pPr algn="l">
              <a:defRPr sz="2025" b="0">
                <a:solidFill>
                  <a:srgbClr val="FFFFFF"/>
                </a:solidFill>
                <a:latin typeface="Open Sans"/>
                <a:ea typeface="Open Sans"/>
                <a:cs typeface="Open Sans"/>
              </a:defRPr>
            </a:lvl1pPr>
            <a:lvl2pPr algn="l">
              <a:defRPr sz="2025" b="0">
                <a:solidFill>
                  <a:srgbClr val="FFFFFF"/>
                </a:solidFill>
                <a:latin typeface="Open Sans"/>
                <a:ea typeface="Open Sans"/>
                <a:cs typeface="Open Sans"/>
              </a:defRPr>
            </a:lvl2pPr>
            <a:lvl3pPr algn="l">
              <a:defRPr sz="2025" b="0">
                <a:solidFill>
                  <a:srgbClr val="FFFFFF"/>
                </a:solidFill>
                <a:latin typeface="Open Sans"/>
                <a:ea typeface="Open Sans"/>
                <a:cs typeface="Open Sans"/>
              </a:defRPr>
            </a:lvl3pPr>
            <a:lvl4pPr algn="l">
              <a:defRPr sz="2025" b="0">
                <a:solidFill>
                  <a:srgbClr val="FFFFFF"/>
                </a:solidFill>
                <a:latin typeface="Open Sans"/>
                <a:ea typeface="Open Sans"/>
                <a:cs typeface="Open Sans"/>
              </a:defRPr>
            </a:lvl4pPr>
            <a:lvl5pPr algn="l">
              <a:defRPr sz="2025" b="0">
                <a:solidFill>
                  <a:srgbClr val="FFFFFF"/>
                </a:solidFill>
                <a:latin typeface="Open Sans"/>
                <a:ea typeface="Open Sans"/>
                <a:cs typeface="Open Sans"/>
              </a:defRPr>
            </a:lvl5pPr>
            <a:lvl6pPr algn="l">
              <a:defRPr sz="2025" b="0">
                <a:solidFill>
                  <a:srgbClr val="FFFFFF"/>
                </a:solidFill>
                <a:latin typeface="Open Sans"/>
                <a:ea typeface="Open Sans"/>
                <a:cs typeface="Open Sans"/>
              </a:defRPr>
            </a:lvl6pPr>
            <a:lvl7pPr algn="l">
              <a:defRPr sz="2025" b="0">
                <a:solidFill>
                  <a:srgbClr val="FFFFFF"/>
                </a:solidFill>
                <a:latin typeface="Open Sans"/>
                <a:ea typeface="Open Sans"/>
                <a:cs typeface="Open Sans"/>
              </a:defRPr>
            </a:lvl7pPr>
            <a:lvl8pPr algn="l">
              <a:defRPr sz="2025" b="0">
                <a:solidFill>
                  <a:srgbClr val="FFFFFF"/>
                </a:solidFill>
                <a:latin typeface="Open Sans"/>
                <a:ea typeface="Open Sans"/>
                <a:cs typeface="Open Sans"/>
              </a:defRPr>
            </a:lvl8pPr>
            <a:lvl9pPr algn="l">
              <a:defRPr sz="2025" b="0">
                <a:solidFill>
                  <a:srgbClr val="FFFFFF"/>
                </a:solidFill>
                <a:latin typeface="Open Sans"/>
                <a:ea typeface="Open Sans"/>
                <a:cs typeface="Open Sans"/>
              </a:defRPr>
            </a:lvl9pPr>
          </a:lstStyle>
          <a:p xmlns:a="http://schemas.openxmlformats.org/drawingml/2006/main">
            <a:pPr algn="l">
              <a:defRPr sz="2025" b="0">
                <a:solidFill>
                  <a:srgbClr val="FFFFFF"/>
                </a:solidFill>
                <a:latin typeface="Open Sans"/>
                <a:ea typeface="Open Sans"/>
                <a:cs typeface="Open Sans"/>
              </a:defRPr>
            </a:pPr>
            <a:r>
              <a:rPr sz="2025" b="0">
                <a:solidFill>
                  <a:srgbClr val="FFFFFF"/>
                </a:solidFill>
                <a:latin typeface="Open Sans"/>
                <a:ea typeface="Open Sans"/>
                <a:cs typeface="Open Sans"/>
              </a:rPr>
              <a:t>Example only. Terms vary.</a:t>
            </a:r>
          </a:p>
        </p:txBody>
      </p:sp>
    </p:spTree>
    <p:extLst>
      <p:ext uri="{BB962C8B-B14F-4D97-AF65-F5344CB8AC3E}">
        <p14:creationId xmlns:p14="http://schemas.microsoft.com/office/powerpoint/2010/main" val="380196157"/>
      </p:ext>
    </p:extLst>
  </p:cSl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a:off x="10036478" y="1594306"/>
            <a:ext cx="7226442" cy="7870382"/>
          </a:xfrm>
          <a:custGeom>
            <a:avLst/>
            <a:gdLst/>
            <a:ahLst/>
            <a:cxnLst/>
            <a:rect l="l" t="t" r="r" b="b"/>
            <a:pathLst>
              <a:path w="7226442" h="7870382">
                <a:moveTo>
                  <a:pt x="7226442" y="0"/>
                </a:moveTo>
                <a:lnTo>
                  <a:pt x="0" y="0"/>
                </a:lnTo>
                <a:lnTo>
                  <a:pt x="0" y="7870382"/>
                </a:lnTo>
                <a:lnTo>
                  <a:pt x="7226442" y="7870382"/>
                </a:lnTo>
                <a:lnTo>
                  <a:pt x="722644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9824445" y="7297589"/>
            <a:ext cx="1166293" cy="2167099"/>
          </a:xfrm>
          <a:custGeom>
            <a:avLst/>
            <a:gdLst/>
            <a:ahLst/>
            <a:cxnLst/>
            <a:rect l="l" t="t" r="r" b="b"/>
            <a:pathLst>
              <a:path w="1166293" h="2167099">
                <a:moveTo>
                  <a:pt x="1166293" y="0"/>
                </a:moveTo>
                <a:lnTo>
                  <a:pt x="0" y="0"/>
                </a:lnTo>
                <a:lnTo>
                  <a:pt x="0" y="2167099"/>
                </a:lnTo>
                <a:lnTo>
                  <a:pt x="1166293" y="2167099"/>
                </a:lnTo>
                <a:lnTo>
                  <a:pt x="116629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1364033" y="7629245"/>
            <a:ext cx="977791" cy="1835443"/>
          </a:xfrm>
          <a:custGeom>
            <a:avLst/>
            <a:gdLst/>
            <a:ahLst/>
            <a:cxnLst/>
            <a:rect l="l" t="t" r="r" b="b"/>
            <a:pathLst>
              <a:path w="977791" h="1835443">
                <a:moveTo>
                  <a:pt x="0" y="0"/>
                </a:moveTo>
                <a:lnTo>
                  <a:pt x="977791" y="0"/>
                </a:lnTo>
                <a:lnTo>
                  <a:pt x="977791" y="1835443"/>
                </a:lnTo>
                <a:lnTo>
                  <a:pt x="0" y="18354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5439757" y="7070552"/>
            <a:ext cx="1819543" cy="2394136"/>
          </a:xfrm>
          <a:custGeom>
            <a:avLst/>
            <a:gdLst/>
            <a:ahLst/>
            <a:cxnLst/>
            <a:rect l="l" t="t" r="r" b="b"/>
            <a:pathLst>
              <a:path w="1819543" h="2394136">
                <a:moveTo>
                  <a:pt x="0" y="0"/>
                </a:moveTo>
                <a:lnTo>
                  <a:pt x="1819543" y="0"/>
                </a:lnTo>
                <a:lnTo>
                  <a:pt x="1819543" y="2394136"/>
                </a:lnTo>
                <a:lnTo>
                  <a:pt x="0" y="239413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8" name="Freeform 8"/>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TextBox 9"/>
          <p:cNvSpPr txBox="1"/>
          <p:nvPr/>
        </p:nvSpPr>
        <p:spPr>
          <a:xfrm>
            <a:off x="2031666" y="4470472"/>
            <a:ext cx="2510617" cy="467555"/>
          </a:xfrm>
          <a:prstGeom prst="rect">
            <a:avLst/>
          </a:prstGeom>
        </p:spPr>
        <p:txBody>
          <a:bodyPr lIns="0" tIns="0" rIns="0" bIns="0" rtlCol="0" anchor="t">
            <a:spAutoFit/>
          </a:bodyPr>
          <a:lstStyle/>
          <a:p>
            <a:pPr algn="l">
              <a:lnSpc>
                <a:spcPts val="3809"/>
              </a:lnSpc>
              <a:spcBef>
                <a:spcPct val="0"/>
              </a:spcBef>
            </a:pPr>
            <a:r>
              <a:rPr lang="en-US" sz="2721">
                <a:solidFill>
                  <a:srgbClr val="FFFFFF"/>
                </a:solidFill>
                <a:latin typeface="Open Sans"/>
                <a:ea typeface="Open Sans"/>
                <a:cs typeface="Open Sans"/>
                <a:sym typeface="Open Sans"/>
              </a:rPr>
              <a:t>Course Github</a:t>
            </a:r>
          </a:p>
        </p:txBody>
      </p:sp>
      <p:sp>
        <p:nvSpPr>
          <p:cNvPr id="10" name="Freeform 10"/>
          <p:cNvSpPr/>
          <p:nvPr/>
        </p:nvSpPr>
        <p:spPr>
          <a:xfrm>
            <a:off x="-417805" y="818270"/>
            <a:ext cx="2772796" cy="494062"/>
          </a:xfrm>
          <a:custGeom>
            <a:avLst/>
            <a:gdLst/>
            <a:ahLst/>
            <a:cxnLst/>
            <a:rect l="l" t="t" r="r" b="b"/>
            <a:pathLst>
              <a:path w="2772796" h="494062">
                <a:moveTo>
                  <a:pt x="0" y="0"/>
                </a:moveTo>
                <a:lnTo>
                  <a:pt x="2772796" y="0"/>
                </a:lnTo>
                <a:lnTo>
                  <a:pt x="2772796" y="494062"/>
                </a:lnTo>
                <a:lnTo>
                  <a:pt x="0" y="49406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16922379" y="692742"/>
            <a:ext cx="1924760" cy="671916"/>
          </a:xfrm>
          <a:custGeom>
            <a:avLst/>
            <a:gdLst/>
            <a:ahLst/>
            <a:cxnLst/>
            <a:rect l="l" t="t" r="r" b="b"/>
            <a:pathLst>
              <a:path w="1924760" h="671916">
                <a:moveTo>
                  <a:pt x="0" y="0"/>
                </a:moveTo>
                <a:lnTo>
                  <a:pt x="1924761" y="0"/>
                </a:lnTo>
                <a:lnTo>
                  <a:pt x="1924761" y="671916"/>
                </a:lnTo>
                <a:lnTo>
                  <a:pt x="0" y="67191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2" name="Freeform 12"/>
          <p:cNvSpPr/>
          <p:nvPr/>
        </p:nvSpPr>
        <p:spPr>
          <a:xfrm flipH="1">
            <a:off x="7832716" y="644363"/>
            <a:ext cx="1952021" cy="347815"/>
          </a:xfrm>
          <a:custGeom>
            <a:avLst/>
            <a:gdLst/>
            <a:ahLst/>
            <a:cxnLst/>
            <a:rect l="l" t="t" r="r" b="b"/>
            <a:pathLst>
              <a:path w="1952021" h="347815">
                <a:moveTo>
                  <a:pt x="1952021" y="0"/>
                </a:moveTo>
                <a:lnTo>
                  <a:pt x="0" y="0"/>
                </a:lnTo>
                <a:lnTo>
                  <a:pt x="0" y="347815"/>
                </a:lnTo>
                <a:lnTo>
                  <a:pt x="1952021" y="347815"/>
                </a:lnTo>
                <a:lnTo>
                  <a:pt x="1952021"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3" name="Freeform 13"/>
          <p:cNvSpPr/>
          <p:nvPr/>
        </p:nvSpPr>
        <p:spPr>
          <a:xfrm>
            <a:off x="7946060" y="4306614"/>
            <a:ext cx="862667" cy="301149"/>
          </a:xfrm>
          <a:custGeom>
            <a:avLst/>
            <a:gdLst/>
            <a:ahLst/>
            <a:cxnLst/>
            <a:rect l="l" t="t" r="r" b="b"/>
            <a:pathLst>
              <a:path w="862667" h="301149">
                <a:moveTo>
                  <a:pt x="0" y="0"/>
                </a:moveTo>
                <a:lnTo>
                  <a:pt x="862667" y="0"/>
                </a:lnTo>
                <a:lnTo>
                  <a:pt x="862667" y="301149"/>
                </a:lnTo>
                <a:lnTo>
                  <a:pt x="0" y="30114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4" name="Freeform 14"/>
          <p:cNvSpPr/>
          <p:nvPr/>
        </p:nvSpPr>
        <p:spPr>
          <a:xfrm>
            <a:off x="17152524" y="6279573"/>
            <a:ext cx="862667" cy="301149"/>
          </a:xfrm>
          <a:custGeom>
            <a:avLst/>
            <a:gdLst/>
            <a:ahLst/>
            <a:cxnLst/>
            <a:rect l="l" t="t" r="r" b="b"/>
            <a:pathLst>
              <a:path w="862667" h="301149">
                <a:moveTo>
                  <a:pt x="0" y="0"/>
                </a:moveTo>
                <a:lnTo>
                  <a:pt x="862667" y="0"/>
                </a:lnTo>
                <a:lnTo>
                  <a:pt x="862667" y="301149"/>
                </a:lnTo>
                <a:lnTo>
                  <a:pt x="0" y="30114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5" name="Freeform 15"/>
          <p:cNvSpPr/>
          <p:nvPr/>
        </p:nvSpPr>
        <p:spPr>
          <a:xfrm>
            <a:off x="1181986" y="4439076"/>
            <a:ext cx="587496" cy="587496"/>
          </a:xfrm>
          <a:custGeom>
            <a:avLst/>
            <a:gdLst/>
            <a:ahLst/>
            <a:cxnLst/>
            <a:rect l="l" t="t" r="r" b="b"/>
            <a:pathLst>
              <a:path w="587496" h="587496">
                <a:moveTo>
                  <a:pt x="0" y="0"/>
                </a:moveTo>
                <a:lnTo>
                  <a:pt x="587496" y="0"/>
                </a:lnTo>
                <a:lnTo>
                  <a:pt x="587496" y="587496"/>
                </a:lnTo>
                <a:lnTo>
                  <a:pt x="0" y="587496"/>
                </a:lnTo>
                <a:lnTo>
                  <a:pt x="0" y="0"/>
                </a:lnTo>
                <a:close/>
              </a:path>
            </a:pathLst>
          </a:custGeom>
          <a:blipFill>
            <a:blip r:embed="rId9"/>
            <a:stretch>
              <a:fillRect/>
            </a:stretch>
          </a:blipFill>
        </p:spPr>
        <p:txBody>
          <a:bodyPr/>
          <a:lstStyle/>
          <a:p>
            <a:endParaRPr lang="en-US"/>
          </a:p>
        </p:txBody>
      </p:sp>
      <p:pic>
        <p:nvPicPr>
          <p:cNvPr id="16" name="Picture 16"/>
          <p:cNvPicPr>
            <a:picLocks noChangeAspect="1"/>
          </p:cNvPicPr>
          <p:nvPr/>
        </p:nvPicPr>
        <p:blipFill>
          <a:blip r:embed="rId10"/>
          <a:stretch>
            <a:fillRect/>
          </a:stretch>
        </p:blipFill>
        <p:spPr>
          <a:xfrm>
            <a:off x="4803769" y="3729982"/>
            <a:ext cx="2005684" cy="2005684"/>
          </a:xfrm>
          <a:prstGeom prst="rect">
            <a:avLst/>
          </a:prstGeom>
        </p:spPr>
      </p:pic>
      <p:sp>
        <p:nvSpPr>
          <p:cNvPr id="17" name="Freeform 17"/>
          <p:cNvSpPr/>
          <p:nvPr/>
        </p:nvSpPr>
        <p:spPr>
          <a:xfrm>
            <a:off x="968593" y="6843628"/>
            <a:ext cx="849681" cy="849681"/>
          </a:xfrm>
          <a:custGeom>
            <a:avLst/>
            <a:gdLst/>
            <a:ahLst/>
            <a:cxnLst/>
            <a:rect l="l" t="t" r="r" b="b"/>
            <a:pathLst>
              <a:path w="849681" h="849681">
                <a:moveTo>
                  <a:pt x="0" y="0"/>
                </a:moveTo>
                <a:lnTo>
                  <a:pt x="849681" y="0"/>
                </a:lnTo>
                <a:lnTo>
                  <a:pt x="849681" y="849681"/>
                </a:lnTo>
                <a:lnTo>
                  <a:pt x="0" y="849681"/>
                </a:lnTo>
                <a:lnTo>
                  <a:pt x="0" y="0"/>
                </a:lnTo>
                <a:close/>
              </a:path>
            </a:pathLst>
          </a:custGeom>
          <a:blipFill>
            <a:blip r:embed="rId11"/>
            <a:stretch>
              <a:fillRect/>
            </a:stretch>
          </a:blipFill>
        </p:spPr>
        <p:txBody>
          <a:bodyPr/>
          <a:lstStyle/>
          <a:p>
            <a:endParaRPr lang="en-US"/>
          </a:p>
        </p:txBody>
      </p:sp>
      <p:sp>
        <p:nvSpPr>
          <p:cNvPr id="18" name="TextBox 18"/>
          <p:cNvSpPr txBox="1"/>
          <p:nvPr/>
        </p:nvSpPr>
        <p:spPr>
          <a:xfrm>
            <a:off x="644934" y="1855898"/>
            <a:ext cx="9629300" cy="887095"/>
          </a:xfrm>
          <a:prstGeom prst="rect">
            <a:avLst/>
          </a:prstGeom>
        </p:spPr>
        <p:txBody>
          <a:bodyPr lIns="0" tIns="0" rIns="0" bIns="0" rtlCol="0" anchor="t">
            <a:spAutoFit/>
          </a:bodyPr>
          <a:lstStyle/>
          <a:p>
            <a:pPr algn="l">
              <a:lnSpc>
                <a:spcPts val="7280"/>
              </a:lnSpc>
              <a:spcBef>
                <a:spcPct val="0"/>
              </a:spcBef>
            </a:pPr>
            <a:r>
              <a:rPr lang="en-US" sz="5200">
                <a:solidFill>
                  <a:srgbClr val="FFFFFF"/>
                </a:solidFill>
                <a:latin typeface="Press Start 2P"/>
                <a:ea typeface="Press Start 2P"/>
                <a:cs typeface="Press Start 2P"/>
                <a:sym typeface="Press Start 2P"/>
              </a:rPr>
              <a:t>KEEP IN TOUCH</a:t>
            </a:r>
          </a:p>
        </p:txBody>
      </p:sp>
      <p:sp>
        <p:nvSpPr>
          <p:cNvPr id="19" name="TextBox 19"/>
          <p:cNvSpPr txBox="1"/>
          <p:nvPr/>
        </p:nvSpPr>
        <p:spPr>
          <a:xfrm>
            <a:off x="2031666" y="7006116"/>
            <a:ext cx="2819799" cy="464280"/>
          </a:xfrm>
          <a:prstGeom prst="rect">
            <a:avLst/>
          </a:prstGeom>
        </p:spPr>
        <p:txBody>
          <a:bodyPr lIns="0" tIns="0" rIns="0" bIns="0" rtlCol="0" anchor="t">
            <a:spAutoFit/>
          </a:bodyPr>
          <a:lstStyle/>
          <a:p>
            <a:pPr algn="l">
              <a:lnSpc>
                <a:spcPts val="3809"/>
              </a:lnSpc>
              <a:spcBef>
                <a:spcPct val="0"/>
              </a:spcBef>
            </a:pPr>
            <a:r>
              <a:rPr lang="en-US" sz="2721" u="sng">
                <a:solidFill>
                  <a:srgbClr val="FFFFFF"/>
                </a:solidFill>
                <a:latin typeface="Open Sans"/>
                <a:ea typeface="Open Sans"/>
                <a:cs typeface="Open Sans"/>
                <a:sym typeface="Open Sans"/>
                <a:hlinkClick r:id="rId12" tooltip="https://gamedevcoursearieluniversity.netlify.app"/>
              </a:rPr>
              <a:t>Course Website</a:t>
            </a:r>
          </a:p>
        </p:txBody>
      </p:sp>
      <p:pic>
        <p:nvPicPr>
          <p:cNvPr id="20" name="Picture 20"/>
          <p:cNvPicPr>
            <a:picLocks noChangeAspect="1"/>
          </p:cNvPicPr>
          <p:nvPr/>
        </p:nvPicPr>
        <p:blipFill>
          <a:blip r:embed="rId13"/>
          <a:stretch>
            <a:fillRect/>
          </a:stretch>
        </p:blipFill>
        <p:spPr>
          <a:xfrm>
            <a:off x="4641860" y="6210300"/>
            <a:ext cx="2361427" cy="236142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15159818" y="3752757"/>
            <a:ext cx="2234633" cy="5586581"/>
          </a:xfrm>
          <a:custGeom>
            <a:avLst/>
            <a:gdLst/>
            <a:ahLst/>
            <a:cxnLst/>
            <a:rect l="l" t="t" r="r" b="b"/>
            <a:pathLst>
              <a:path w="2234633" h="5586581">
                <a:moveTo>
                  <a:pt x="2234633" y="0"/>
                </a:moveTo>
                <a:lnTo>
                  <a:pt x="0" y="0"/>
                </a:lnTo>
                <a:lnTo>
                  <a:pt x="0" y="5586582"/>
                </a:lnTo>
                <a:lnTo>
                  <a:pt x="2234633" y="5586582"/>
                </a:lnTo>
                <a:lnTo>
                  <a:pt x="223463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TextBox 6"/>
          <p:cNvSpPr txBox="1"/>
          <p:nvPr/>
        </p:nvSpPr>
        <p:spPr>
          <a:xfrm>
            <a:off x="454980" y="4580722"/>
            <a:ext cx="18577971" cy="1965326"/>
          </a:xfrm>
          <a:prstGeom prst="rect">
            <a:avLst/>
          </a:prstGeom>
        </p:spPr>
        <p:txBody>
          <a:bodyPr lIns="0" tIns="0" rIns="0" bIns="0" rtlCol="0" anchor="t">
            <a:spAutoFit/>
          </a:bodyPr>
          <a:lstStyle/>
          <a:p>
            <a:pPr algn="l">
              <a:lnSpc>
                <a:spcPts val="16099"/>
              </a:lnSpc>
              <a:spcBef>
                <a:spcPct val="0"/>
              </a:spcBef>
            </a:pPr>
            <a:r>
              <a:rPr lang="en-US" sz="11499">
                <a:solidFill>
                  <a:srgbClr val="FFFFFF"/>
                </a:solidFill>
                <a:latin typeface="Press Start 2P"/>
                <a:ea typeface="Press Start 2P"/>
                <a:cs typeface="Press Start 2P"/>
                <a:sym typeface="Press Start 2P"/>
              </a:rPr>
              <a:t>QUESTIONS?</a:t>
            </a:r>
          </a:p>
        </p:txBody>
      </p:sp>
      <p:sp>
        <p:nvSpPr>
          <p:cNvPr id="7" name="Freeform 7"/>
          <p:cNvSpPr/>
          <p:nvPr/>
        </p:nvSpPr>
        <p:spPr>
          <a:xfrm>
            <a:off x="8743950" y="1641557"/>
            <a:ext cx="1233025" cy="1233025"/>
          </a:xfrm>
          <a:custGeom>
            <a:avLst/>
            <a:gdLst/>
            <a:ahLst/>
            <a:cxnLst/>
            <a:rect l="l" t="t" r="r" b="b"/>
            <a:pathLst>
              <a:path w="1233025" h="1233025">
                <a:moveTo>
                  <a:pt x="0" y="0"/>
                </a:moveTo>
                <a:lnTo>
                  <a:pt x="1233025" y="0"/>
                </a:lnTo>
                <a:lnTo>
                  <a:pt x="1233025" y="1233025"/>
                </a:lnTo>
                <a:lnTo>
                  <a:pt x="0" y="12330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10464519" y="1641557"/>
            <a:ext cx="1233025" cy="1233025"/>
          </a:xfrm>
          <a:custGeom>
            <a:avLst/>
            <a:gdLst/>
            <a:ahLst/>
            <a:cxnLst/>
            <a:rect l="l" t="t" r="r" b="b"/>
            <a:pathLst>
              <a:path w="1233025" h="1233025">
                <a:moveTo>
                  <a:pt x="0" y="0"/>
                </a:moveTo>
                <a:lnTo>
                  <a:pt x="1233025" y="0"/>
                </a:lnTo>
                <a:lnTo>
                  <a:pt x="1233025" y="1233025"/>
                </a:lnTo>
                <a:lnTo>
                  <a:pt x="0" y="12330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12185087" y="1641557"/>
            <a:ext cx="1233025" cy="1233025"/>
          </a:xfrm>
          <a:custGeom>
            <a:avLst/>
            <a:gdLst/>
            <a:ahLst/>
            <a:cxnLst/>
            <a:rect l="l" t="t" r="r" b="b"/>
            <a:pathLst>
              <a:path w="1233025" h="1233025">
                <a:moveTo>
                  <a:pt x="0" y="0"/>
                </a:moveTo>
                <a:lnTo>
                  <a:pt x="1233026" y="0"/>
                </a:lnTo>
                <a:lnTo>
                  <a:pt x="1233026" y="1233025"/>
                </a:lnTo>
                <a:lnTo>
                  <a:pt x="0" y="12330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13905656" y="1641557"/>
            <a:ext cx="1233025" cy="1233025"/>
          </a:xfrm>
          <a:custGeom>
            <a:avLst/>
            <a:gdLst/>
            <a:ahLst/>
            <a:cxnLst/>
            <a:rect l="l" t="t" r="r" b="b"/>
            <a:pathLst>
              <a:path w="1233025" h="1233025">
                <a:moveTo>
                  <a:pt x="0" y="0"/>
                </a:moveTo>
                <a:lnTo>
                  <a:pt x="1233025" y="0"/>
                </a:lnTo>
                <a:lnTo>
                  <a:pt x="1233025" y="1233025"/>
                </a:lnTo>
                <a:lnTo>
                  <a:pt x="0" y="12330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15626225" y="1641557"/>
            <a:ext cx="1233025" cy="1233025"/>
          </a:xfrm>
          <a:custGeom>
            <a:avLst/>
            <a:gdLst/>
            <a:ahLst/>
            <a:cxnLst/>
            <a:rect l="l" t="t" r="r" b="b"/>
            <a:pathLst>
              <a:path w="1233025" h="1233025">
                <a:moveTo>
                  <a:pt x="0" y="0"/>
                </a:moveTo>
                <a:lnTo>
                  <a:pt x="1233025" y="0"/>
                </a:lnTo>
                <a:lnTo>
                  <a:pt x="1233025" y="1233025"/>
                </a:lnTo>
                <a:lnTo>
                  <a:pt x="0" y="12330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8037183" y="563698"/>
            <a:ext cx="1742515" cy="310484"/>
          </a:xfrm>
          <a:custGeom>
            <a:avLst/>
            <a:gdLst/>
            <a:ahLst/>
            <a:cxnLst/>
            <a:rect l="l" t="t" r="r" b="b"/>
            <a:pathLst>
              <a:path w="1742515" h="310484">
                <a:moveTo>
                  <a:pt x="0" y="0"/>
                </a:moveTo>
                <a:lnTo>
                  <a:pt x="1742514" y="0"/>
                </a:lnTo>
                <a:lnTo>
                  <a:pt x="1742514" y="310484"/>
                </a:lnTo>
                <a:lnTo>
                  <a:pt x="0" y="3104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13"/>
          <p:cNvSpPr/>
          <p:nvPr/>
        </p:nvSpPr>
        <p:spPr>
          <a:xfrm>
            <a:off x="17108190" y="488388"/>
            <a:ext cx="1924760" cy="671916"/>
          </a:xfrm>
          <a:custGeom>
            <a:avLst/>
            <a:gdLst/>
            <a:ahLst/>
            <a:cxnLst/>
            <a:rect l="l" t="t" r="r" b="b"/>
            <a:pathLst>
              <a:path w="1924760" h="671916">
                <a:moveTo>
                  <a:pt x="0" y="0"/>
                </a:moveTo>
                <a:lnTo>
                  <a:pt x="1924761" y="0"/>
                </a:lnTo>
                <a:lnTo>
                  <a:pt x="1924761" y="671917"/>
                </a:lnTo>
                <a:lnTo>
                  <a:pt x="0" y="67191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Freeform 14"/>
          <p:cNvSpPr/>
          <p:nvPr/>
        </p:nvSpPr>
        <p:spPr>
          <a:xfrm>
            <a:off x="-779970" y="874182"/>
            <a:ext cx="1924760" cy="671916"/>
          </a:xfrm>
          <a:custGeom>
            <a:avLst/>
            <a:gdLst/>
            <a:ahLst/>
            <a:cxnLst/>
            <a:rect l="l" t="t" r="r" b="b"/>
            <a:pathLst>
              <a:path w="1924760" h="671916">
                <a:moveTo>
                  <a:pt x="0" y="0"/>
                </a:moveTo>
                <a:lnTo>
                  <a:pt x="1924761" y="0"/>
                </a:lnTo>
                <a:lnTo>
                  <a:pt x="1924761" y="671916"/>
                </a:lnTo>
                <a:lnTo>
                  <a:pt x="0" y="67191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022B"/>
        </a:solidFill>
        <a:effectLst/>
      </p:bgPr>
    </p:bg>
    <p:spTree>
      <p:nvGrpSpPr>
        <p:cNvPr id="1" name=""/>
        <p:cNvGrpSpPr/>
        <p:nvPr/>
      </p:nvGrpSpPr>
      <p:grpSpPr>
        <a:xfrm>
          <a:off x="0" y="0"/>
          <a:ext cx="0" cy="0"/>
          <a:chOff x="0" y="0"/>
          <a:chExt cx="0" cy="0"/>
        </a:xfrm>
      </p:grpSpPr>
      <p:sp>
        <p:nvSpPr>
          <p:cNvPr id="2" name="Freeform 2"/>
          <p:cNvSpPr/>
          <p:nvPr/>
        </p:nvSpPr>
        <p:spPr>
          <a:xfrm>
            <a:off x="15433945" y="6887762"/>
            <a:ext cx="2012410" cy="2610438"/>
          </a:xfrm>
          <a:custGeom>
            <a:avLst/>
            <a:gdLst/>
            <a:ahLst/>
            <a:cxnLst/>
            <a:rect l="l" t="t" r="r" b="b"/>
            <a:pathLst>
              <a:path w="2012410" h="2610438">
                <a:moveTo>
                  <a:pt x="0" y="0"/>
                </a:moveTo>
                <a:lnTo>
                  <a:pt x="2012410" y="0"/>
                </a:lnTo>
                <a:lnTo>
                  <a:pt x="2012410" y="2610438"/>
                </a:lnTo>
                <a:lnTo>
                  <a:pt x="0" y="261043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flipH="1">
            <a:off x="841645" y="6887762"/>
            <a:ext cx="2012410" cy="2610438"/>
          </a:xfrm>
          <a:custGeom>
            <a:avLst/>
            <a:gdLst/>
            <a:ahLst/>
            <a:cxnLst/>
            <a:rect l="l" t="t" r="r" b="b"/>
            <a:pathLst>
              <a:path w="2012410" h="2610438">
                <a:moveTo>
                  <a:pt x="2012410" y="0"/>
                </a:moveTo>
                <a:lnTo>
                  <a:pt x="0" y="0"/>
                </a:lnTo>
                <a:lnTo>
                  <a:pt x="0" y="2610438"/>
                </a:lnTo>
                <a:lnTo>
                  <a:pt x="2012410" y="2610438"/>
                </a:lnTo>
                <a:lnTo>
                  <a:pt x="201241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3667125" y="2028167"/>
            <a:ext cx="10953750" cy="4581525"/>
          </a:xfrm>
          <a:prstGeom prst="rect">
            <a:avLst/>
          </a:prstGeom>
        </p:spPr>
        <p:txBody>
          <a:bodyPr lIns="0" tIns="0" rIns="0" bIns="0" rtlCol="0" anchor="t">
            <a:spAutoFit/>
          </a:bodyPr>
          <a:lstStyle/>
          <a:p>
            <a:pPr algn="ctr">
              <a:lnSpc>
                <a:spcPts val="18000"/>
              </a:lnSpc>
            </a:pPr>
            <a:r>
              <a:rPr lang="en-US" sz="15000">
                <a:solidFill>
                  <a:srgbClr val="FFFFFF"/>
                </a:solidFill>
                <a:latin typeface="Press Start 2P"/>
                <a:ea typeface="Press Start 2P"/>
                <a:cs typeface="Press Start 2P"/>
                <a:sym typeface="Press Start 2P"/>
              </a:rPr>
              <a:t>THANKYOU</a:t>
            </a:r>
          </a:p>
        </p:txBody>
      </p:sp>
      <p:sp>
        <p:nvSpPr>
          <p:cNvPr id="5" name="Freeform 5"/>
          <p:cNvSpPr/>
          <p:nvPr/>
        </p:nvSpPr>
        <p:spPr>
          <a:xfrm>
            <a:off x="13570600" y="8634285"/>
            <a:ext cx="1863345" cy="863914"/>
          </a:xfrm>
          <a:custGeom>
            <a:avLst/>
            <a:gdLst/>
            <a:ahLst/>
            <a:cxnLst/>
            <a:rect l="l" t="t" r="r" b="b"/>
            <a:pathLst>
              <a:path w="1863345" h="863914">
                <a:moveTo>
                  <a:pt x="0" y="0"/>
                </a:moveTo>
                <a:lnTo>
                  <a:pt x="1863345" y="0"/>
                </a:lnTo>
                <a:lnTo>
                  <a:pt x="1863345" y="863915"/>
                </a:lnTo>
                <a:lnTo>
                  <a:pt x="0" y="8639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flipH="1">
            <a:off x="2854055" y="8634285"/>
            <a:ext cx="1863345" cy="863914"/>
          </a:xfrm>
          <a:custGeom>
            <a:avLst/>
            <a:gdLst/>
            <a:ahLst/>
            <a:cxnLst/>
            <a:rect l="l" t="t" r="r" b="b"/>
            <a:pathLst>
              <a:path w="1863345" h="863914">
                <a:moveTo>
                  <a:pt x="1863345" y="0"/>
                </a:moveTo>
                <a:lnTo>
                  <a:pt x="0" y="0"/>
                </a:lnTo>
                <a:lnTo>
                  <a:pt x="0" y="863915"/>
                </a:lnTo>
                <a:lnTo>
                  <a:pt x="1863345" y="863915"/>
                </a:lnTo>
                <a:lnTo>
                  <a:pt x="186334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5283697" y="7077534"/>
            <a:ext cx="7315200" cy="2420666"/>
          </a:xfrm>
          <a:custGeom>
            <a:avLst/>
            <a:gdLst/>
            <a:ahLst/>
            <a:cxnLst/>
            <a:rect l="l" t="t" r="r" b="b"/>
            <a:pathLst>
              <a:path w="7315200" h="2420666">
                <a:moveTo>
                  <a:pt x="0" y="0"/>
                </a:moveTo>
                <a:lnTo>
                  <a:pt x="7315200" y="0"/>
                </a:lnTo>
                <a:lnTo>
                  <a:pt x="7315200" y="2420666"/>
                </a:lnTo>
                <a:lnTo>
                  <a:pt x="0" y="24206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18097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548640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12782550" y="9258300"/>
            <a:ext cx="7315200" cy="1103930"/>
          </a:xfrm>
          <a:custGeom>
            <a:avLst/>
            <a:gdLst/>
            <a:ahLst/>
            <a:cxnLst/>
            <a:rect l="l" t="t" r="r" b="b"/>
            <a:pathLst>
              <a:path w="7315200" h="1103930">
                <a:moveTo>
                  <a:pt x="0" y="0"/>
                </a:moveTo>
                <a:lnTo>
                  <a:pt x="7315200" y="0"/>
                </a:lnTo>
                <a:lnTo>
                  <a:pt x="7315200" y="1103930"/>
                </a:lnTo>
                <a:lnTo>
                  <a:pt x="0" y="110393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1030907" y="4760149"/>
            <a:ext cx="2359993" cy="823852"/>
          </a:xfrm>
          <a:custGeom>
            <a:avLst/>
            <a:gdLst/>
            <a:ahLst/>
            <a:cxnLst/>
            <a:rect l="l" t="t" r="r" b="b"/>
            <a:pathLst>
              <a:path w="2359993" h="823852">
                <a:moveTo>
                  <a:pt x="0" y="0"/>
                </a:moveTo>
                <a:lnTo>
                  <a:pt x="2359993" y="0"/>
                </a:lnTo>
                <a:lnTo>
                  <a:pt x="2359993" y="823852"/>
                </a:lnTo>
                <a:lnTo>
                  <a:pt x="0" y="8238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Freeform 12"/>
          <p:cNvSpPr/>
          <p:nvPr/>
        </p:nvSpPr>
        <p:spPr>
          <a:xfrm flipH="1">
            <a:off x="14899307" y="4760149"/>
            <a:ext cx="2359993" cy="823852"/>
          </a:xfrm>
          <a:custGeom>
            <a:avLst/>
            <a:gdLst/>
            <a:ahLst/>
            <a:cxnLst/>
            <a:rect l="l" t="t" r="r" b="b"/>
            <a:pathLst>
              <a:path w="2359993" h="823852">
                <a:moveTo>
                  <a:pt x="2359993" y="0"/>
                </a:moveTo>
                <a:lnTo>
                  <a:pt x="0" y="0"/>
                </a:lnTo>
                <a:lnTo>
                  <a:pt x="0" y="823852"/>
                </a:lnTo>
                <a:lnTo>
                  <a:pt x="2359993" y="823852"/>
                </a:lnTo>
                <a:lnTo>
                  <a:pt x="2359993"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Freeform 13"/>
          <p:cNvSpPr/>
          <p:nvPr/>
        </p:nvSpPr>
        <p:spPr>
          <a:xfrm>
            <a:off x="-1190212" y="764718"/>
            <a:ext cx="4669492" cy="832019"/>
          </a:xfrm>
          <a:custGeom>
            <a:avLst/>
            <a:gdLst/>
            <a:ahLst/>
            <a:cxnLst/>
            <a:rect l="l" t="t" r="r" b="b"/>
            <a:pathLst>
              <a:path w="4669492" h="832019">
                <a:moveTo>
                  <a:pt x="0" y="0"/>
                </a:moveTo>
                <a:lnTo>
                  <a:pt x="4669491" y="0"/>
                </a:lnTo>
                <a:lnTo>
                  <a:pt x="4669491" y="832018"/>
                </a:lnTo>
                <a:lnTo>
                  <a:pt x="0" y="83201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Freeform 14"/>
          <p:cNvSpPr/>
          <p:nvPr/>
        </p:nvSpPr>
        <p:spPr>
          <a:xfrm flipH="1">
            <a:off x="14808721" y="764718"/>
            <a:ext cx="4669492" cy="832019"/>
          </a:xfrm>
          <a:custGeom>
            <a:avLst/>
            <a:gdLst/>
            <a:ahLst/>
            <a:cxnLst/>
            <a:rect l="l" t="t" r="r" b="b"/>
            <a:pathLst>
              <a:path w="4669492" h="832019">
                <a:moveTo>
                  <a:pt x="4669491" y="0"/>
                </a:moveTo>
                <a:lnTo>
                  <a:pt x="0" y="0"/>
                </a:lnTo>
                <a:lnTo>
                  <a:pt x="0" y="832018"/>
                </a:lnTo>
                <a:lnTo>
                  <a:pt x="4669491" y="832018"/>
                </a:lnTo>
                <a:lnTo>
                  <a:pt x="4669491"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5" name="Freeform 15"/>
          <p:cNvSpPr/>
          <p:nvPr/>
        </p:nvSpPr>
        <p:spPr>
          <a:xfrm>
            <a:off x="4653333" y="4798249"/>
            <a:ext cx="1126068" cy="1126068"/>
          </a:xfrm>
          <a:custGeom>
            <a:avLst/>
            <a:gdLst/>
            <a:ahLst/>
            <a:cxnLst/>
            <a:rect l="l" t="t" r="r" b="b"/>
            <a:pathLst>
              <a:path w="1126068" h="1126068">
                <a:moveTo>
                  <a:pt x="0" y="0"/>
                </a:moveTo>
                <a:lnTo>
                  <a:pt x="1126068" y="0"/>
                </a:lnTo>
                <a:lnTo>
                  <a:pt x="1126068" y="1126068"/>
                </a:lnTo>
                <a:lnTo>
                  <a:pt x="0" y="112606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6" name="Freeform 16"/>
          <p:cNvSpPr/>
          <p:nvPr/>
        </p:nvSpPr>
        <p:spPr>
          <a:xfrm flipH="1">
            <a:off x="12508599" y="4798249"/>
            <a:ext cx="1126068" cy="1126068"/>
          </a:xfrm>
          <a:custGeom>
            <a:avLst/>
            <a:gdLst/>
            <a:ahLst/>
            <a:cxnLst/>
            <a:rect l="l" t="t" r="r" b="b"/>
            <a:pathLst>
              <a:path w="1126068" h="1126068">
                <a:moveTo>
                  <a:pt x="1126068" y="0"/>
                </a:moveTo>
                <a:lnTo>
                  <a:pt x="0" y="0"/>
                </a:lnTo>
                <a:lnTo>
                  <a:pt x="0" y="1126068"/>
                </a:lnTo>
                <a:lnTo>
                  <a:pt x="1126068" y="1126068"/>
                </a:lnTo>
                <a:lnTo>
                  <a:pt x="1126068"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7" name="Freeform 17"/>
          <p:cNvSpPr/>
          <p:nvPr/>
        </p:nvSpPr>
        <p:spPr>
          <a:xfrm>
            <a:off x="7537754" y="1012647"/>
            <a:ext cx="3212493" cy="584090"/>
          </a:xfrm>
          <a:custGeom>
            <a:avLst/>
            <a:gdLst/>
            <a:ahLst/>
            <a:cxnLst/>
            <a:rect l="l" t="t" r="r" b="b"/>
            <a:pathLst>
              <a:path w="3212493" h="584090">
                <a:moveTo>
                  <a:pt x="0" y="0"/>
                </a:moveTo>
                <a:lnTo>
                  <a:pt x="3212492" y="0"/>
                </a:lnTo>
                <a:lnTo>
                  <a:pt x="3212492" y="584089"/>
                </a:lnTo>
                <a:lnTo>
                  <a:pt x="0" y="58408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1671</Words>
  <Application>Microsoft Office PowerPoint</Application>
  <PresentationFormat>Custom</PresentationFormat>
  <Paragraphs>146</Paragraphs>
  <Slides>36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Aptos</vt:lpstr>
      <vt:lpstr>Press Start 2P</vt:lpstr>
      <vt:lpstr>Open Sans</vt:lpstr>
      <vt:lpstr>Open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GameDev</dc:title>
  <cp:lastModifiedBy>Victor</cp:lastModifiedBy>
  <cp:revision>7</cp:revision>
  <dcterms:created xsi:type="dcterms:W3CDTF">2006-08-16T00:00:00Z</dcterms:created>
  <dcterms:modified xsi:type="dcterms:W3CDTF">2026-10-20T22:24:35Z</dcterms:modified>
  <dc:identifier>DAG269wBTI0</dc:identifier>
</cp:coreProperties>
</file>